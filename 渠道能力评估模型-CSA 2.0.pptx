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6.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7.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5" r:id="rId3"/>
    <p:sldMasterId id="2147483723" r:id="rId4"/>
    <p:sldMasterId id="2147483747" r:id="rId5"/>
    <p:sldMasterId id="2147483764" r:id="rId6"/>
    <p:sldMasterId id="2147483768" r:id="rId7"/>
    <p:sldMasterId id="2147483775" r:id="rId8"/>
  </p:sldMasterIdLst>
  <p:notesMasterIdLst>
    <p:notesMasterId r:id="rId19"/>
  </p:notesMasterIdLst>
  <p:sldIdLst>
    <p:sldId id="2147480591" r:id="rId9"/>
    <p:sldId id="2147482112" r:id="rId10"/>
    <p:sldId id="2147482114" r:id="rId11"/>
    <p:sldId id="2147482115" r:id="rId12"/>
    <p:sldId id="2147482116" r:id="rId13"/>
    <p:sldId id="2147482119" r:id="rId14"/>
    <p:sldId id="2147482117" r:id="rId15"/>
    <p:sldId id="2147482122" r:id="rId16"/>
    <p:sldId id="2147482118" r:id="rId17"/>
    <p:sldId id="2147480224"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炼鑫 Lian Xin" initials="炼鑫" lastIdx="1" clrIdx="0">
    <p:extLst>
      <p:ext uri="{19B8F6BF-5375-455C-9EA6-DF929625EA0E}">
        <p15:presenceInfo xmlns:p15="http://schemas.microsoft.com/office/powerpoint/2012/main" userId="S-1-5-21-3441279816-4085637590-3653318370-3895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E3C0E"/>
    <a:srgbClr val="37536D"/>
    <a:srgbClr val="CBCBCB"/>
    <a:srgbClr val="E7E7E7"/>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84516" autoAdjust="0"/>
  </p:normalViewPr>
  <p:slideViewPr>
    <p:cSldViewPr snapToGrid="0" showGuides="1">
      <p:cViewPr varScale="1">
        <p:scale>
          <a:sx n="57" d="100"/>
          <a:sy n="57" d="100"/>
        </p:scale>
        <p:origin x="908" y="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ltLang="en-US" sz="1200" b="1" dirty="0"/>
              <a:t>各产线能力等级分布</a:t>
            </a:r>
            <a:endParaRPr lang="zh-CN" sz="1200" b="1" dirty="0"/>
          </a:p>
        </c:rich>
      </c:tx>
      <c:layout>
        <c:manualLayout>
          <c:xMode val="edge"/>
          <c:yMode val="edge"/>
          <c:x val="0.3835641222088248"/>
          <c:y val="3.5945193172244871E-2"/>
        </c:manualLayout>
      </c:layout>
      <c:overlay val="0"/>
      <c:spPr>
        <a:noFill/>
        <a:ln>
          <a:noFill/>
        </a:ln>
        <a:effectLst/>
      </c:spPr>
      <c:txPr>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manualLayout>
          <c:layoutTarget val="inner"/>
          <c:xMode val="edge"/>
          <c:yMode val="edge"/>
          <c:x val="8.283938514582101E-2"/>
          <c:y val="0.12782957021462482"/>
          <c:w val="0.89568678493367537"/>
          <c:h val="0.38283067297006718"/>
        </c:manualLayout>
      </c:layout>
      <c:barChart>
        <c:barDir val="col"/>
        <c:grouping val="clustered"/>
        <c:varyColors val="0"/>
        <c:ser>
          <c:idx val="0"/>
          <c:order val="0"/>
          <c:tx>
            <c:strRef>
              <c:f>Sheet1!$B$1</c:f>
              <c:strCache>
                <c:ptCount val="1"/>
                <c:pt idx="0">
                  <c:v>A级标杆</c:v>
                </c:pt>
              </c:strCache>
            </c:strRef>
          </c:tx>
          <c:spPr>
            <a:solidFill>
              <a:srgbClr val="0070C0"/>
            </a:solidFill>
            <a:ln>
              <a:noFill/>
            </a:ln>
            <a:effectLst/>
          </c:spPr>
          <c:invertIfNegative val="0"/>
          <c:cat>
            <c:strRef>
              <c:f>Sheet1!$A$2:$A$7</c:f>
              <c:strCache>
                <c:ptCount val="6"/>
                <c:pt idx="0">
                  <c:v>生化</c:v>
                </c:pt>
                <c:pt idx="1">
                  <c:v>发光</c:v>
                </c:pt>
                <c:pt idx="2">
                  <c:v>凝血</c:v>
                </c:pt>
                <c:pt idx="3">
                  <c:v>血球</c:v>
                </c:pt>
                <c:pt idx="4">
                  <c:v>尿液</c:v>
                </c:pt>
                <c:pt idx="5">
                  <c:v>糖化</c:v>
                </c:pt>
              </c:strCache>
            </c:strRef>
          </c:cat>
          <c:val>
            <c:numRef>
              <c:f>Sheet1!$B$2:$B$7</c:f>
              <c:numCache>
                <c:formatCode>General</c:formatCode>
                <c:ptCount val="6"/>
                <c:pt idx="0">
                  <c:v>9</c:v>
                </c:pt>
                <c:pt idx="1">
                  <c:v>4</c:v>
                </c:pt>
                <c:pt idx="2">
                  <c:v>2</c:v>
                </c:pt>
                <c:pt idx="3">
                  <c:v>6</c:v>
                </c:pt>
                <c:pt idx="4">
                  <c:v>0</c:v>
                </c:pt>
                <c:pt idx="5">
                  <c:v>0</c:v>
                </c:pt>
              </c:numCache>
            </c:numRef>
          </c:val>
          <c:extLst>
            <c:ext xmlns:c16="http://schemas.microsoft.com/office/drawing/2014/chart" uri="{C3380CC4-5D6E-409C-BE32-E72D297353CC}">
              <c16:uniqueId val="{00000000-4BC9-42AF-ADA3-E56F2A51422C}"/>
            </c:ext>
          </c:extLst>
        </c:ser>
        <c:ser>
          <c:idx val="1"/>
          <c:order val="1"/>
          <c:tx>
            <c:strRef>
              <c:f>Sheet1!$C$1</c:f>
              <c:strCache>
                <c:ptCount val="1"/>
                <c:pt idx="0">
                  <c:v>B级胜任</c:v>
                </c:pt>
              </c:strCache>
            </c:strRef>
          </c:tx>
          <c:spPr>
            <a:solidFill>
              <a:srgbClr val="92D050"/>
            </a:solidFill>
            <a:ln>
              <a:noFill/>
            </a:ln>
            <a:effectLst/>
          </c:spPr>
          <c:invertIfNegative val="0"/>
          <c:cat>
            <c:strRef>
              <c:f>Sheet1!$A$2:$A$7</c:f>
              <c:strCache>
                <c:ptCount val="6"/>
                <c:pt idx="0">
                  <c:v>生化</c:v>
                </c:pt>
                <c:pt idx="1">
                  <c:v>发光</c:v>
                </c:pt>
                <c:pt idx="2">
                  <c:v>凝血</c:v>
                </c:pt>
                <c:pt idx="3">
                  <c:v>血球</c:v>
                </c:pt>
                <c:pt idx="4">
                  <c:v>尿液</c:v>
                </c:pt>
                <c:pt idx="5">
                  <c:v>糖化</c:v>
                </c:pt>
              </c:strCache>
            </c:strRef>
          </c:cat>
          <c:val>
            <c:numRef>
              <c:f>Sheet1!$C$2:$C$7</c:f>
              <c:numCache>
                <c:formatCode>General</c:formatCode>
                <c:ptCount val="6"/>
                <c:pt idx="0">
                  <c:v>8</c:v>
                </c:pt>
                <c:pt idx="1">
                  <c:v>15</c:v>
                </c:pt>
                <c:pt idx="2">
                  <c:v>1</c:v>
                </c:pt>
                <c:pt idx="3">
                  <c:v>7</c:v>
                </c:pt>
                <c:pt idx="4">
                  <c:v>4</c:v>
                </c:pt>
                <c:pt idx="5">
                  <c:v>9</c:v>
                </c:pt>
              </c:numCache>
            </c:numRef>
          </c:val>
          <c:extLst>
            <c:ext xmlns:c16="http://schemas.microsoft.com/office/drawing/2014/chart" uri="{C3380CC4-5D6E-409C-BE32-E72D297353CC}">
              <c16:uniqueId val="{00000001-4BC9-42AF-ADA3-E56F2A51422C}"/>
            </c:ext>
          </c:extLst>
        </c:ser>
        <c:ser>
          <c:idx val="2"/>
          <c:order val="2"/>
          <c:tx>
            <c:strRef>
              <c:f>Sheet1!$D$1</c:f>
              <c:strCache>
                <c:ptCount val="1"/>
                <c:pt idx="0">
                  <c:v>C级待提升</c:v>
                </c:pt>
              </c:strCache>
            </c:strRef>
          </c:tx>
          <c:spPr>
            <a:solidFill>
              <a:srgbClr val="FFFF00"/>
            </a:solidFill>
            <a:ln>
              <a:noFill/>
            </a:ln>
            <a:effectLst/>
          </c:spPr>
          <c:invertIfNegative val="0"/>
          <c:cat>
            <c:strRef>
              <c:f>Sheet1!$A$2:$A$7</c:f>
              <c:strCache>
                <c:ptCount val="6"/>
                <c:pt idx="0">
                  <c:v>生化</c:v>
                </c:pt>
                <c:pt idx="1">
                  <c:v>发光</c:v>
                </c:pt>
                <c:pt idx="2">
                  <c:v>凝血</c:v>
                </c:pt>
                <c:pt idx="3">
                  <c:v>血球</c:v>
                </c:pt>
                <c:pt idx="4">
                  <c:v>尿液</c:v>
                </c:pt>
                <c:pt idx="5">
                  <c:v>糖化</c:v>
                </c:pt>
              </c:strCache>
            </c:strRef>
          </c:cat>
          <c:val>
            <c:numRef>
              <c:f>Sheet1!$D$2:$D$7</c:f>
              <c:numCache>
                <c:formatCode>General</c:formatCode>
                <c:ptCount val="6"/>
                <c:pt idx="0">
                  <c:v>5</c:v>
                </c:pt>
                <c:pt idx="1">
                  <c:v>4</c:v>
                </c:pt>
                <c:pt idx="2">
                  <c:v>7</c:v>
                </c:pt>
                <c:pt idx="3">
                  <c:v>9</c:v>
                </c:pt>
                <c:pt idx="4">
                  <c:v>1</c:v>
                </c:pt>
                <c:pt idx="5">
                  <c:v>12</c:v>
                </c:pt>
              </c:numCache>
            </c:numRef>
          </c:val>
          <c:extLst>
            <c:ext xmlns:c16="http://schemas.microsoft.com/office/drawing/2014/chart" uri="{C3380CC4-5D6E-409C-BE32-E72D297353CC}">
              <c16:uniqueId val="{00000002-4BC9-42AF-ADA3-E56F2A51422C}"/>
            </c:ext>
          </c:extLst>
        </c:ser>
        <c:ser>
          <c:idx val="3"/>
          <c:order val="3"/>
          <c:tx>
            <c:strRef>
              <c:f>Sheet1!$E$1</c:f>
              <c:strCache>
                <c:ptCount val="1"/>
                <c:pt idx="0">
                  <c:v>D级风险</c:v>
                </c:pt>
              </c:strCache>
            </c:strRef>
          </c:tx>
          <c:spPr>
            <a:solidFill>
              <a:srgbClr val="C00000"/>
            </a:solidFill>
            <a:ln>
              <a:noFill/>
            </a:ln>
            <a:effectLst/>
          </c:spPr>
          <c:invertIfNegative val="0"/>
          <c:cat>
            <c:strRef>
              <c:f>Sheet1!$A$2:$A$7</c:f>
              <c:strCache>
                <c:ptCount val="6"/>
                <c:pt idx="0">
                  <c:v>生化</c:v>
                </c:pt>
                <c:pt idx="1">
                  <c:v>发光</c:v>
                </c:pt>
                <c:pt idx="2">
                  <c:v>凝血</c:v>
                </c:pt>
                <c:pt idx="3">
                  <c:v>血球</c:v>
                </c:pt>
                <c:pt idx="4">
                  <c:v>尿液</c:v>
                </c:pt>
                <c:pt idx="5">
                  <c:v>糖化</c:v>
                </c:pt>
              </c:strCache>
            </c:strRef>
          </c:cat>
          <c:val>
            <c:numRef>
              <c:f>Sheet1!$E$2:$E$7</c:f>
              <c:numCache>
                <c:formatCode>General</c:formatCode>
                <c:ptCount val="6"/>
                <c:pt idx="0">
                  <c:v>8</c:v>
                </c:pt>
                <c:pt idx="1">
                  <c:v>1</c:v>
                </c:pt>
                <c:pt idx="2">
                  <c:v>3</c:v>
                </c:pt>
                <c:pt idx="3">
                  <c:v>1</c:v>
                </c:pt>
                <c:pt idx="4">
                  <c:v>8</c:v>
                </c:pt>
                <c:pt idx="5">
                  <c:v>3</c:v>
                </c:pt>
              </c:numCache>
            </c:numRef>
          </c:val>
          <c:extLst>
            <c:ext xmlns:c16="http://schemas.microsoft.com/office/drawing/2014/chart" uri="{C3380CC4-5D6E-409C-BE32-E72D297353CC}">
              <c16:uniqueId val="{00000003-4BC9-42AF-ADA3-E56F2A51422C}"/>
            </c:ext>
          </c:extLst>
        </c:ser>
        <c:dLbls>
          <c:showLegendKey val="0"/>
          <c:showVal val="0"/>
          <c:showCatName val="0"/>
          <c:showSerName val="0"/>
          <c:showPercent val="0"/>
          <c:showBubbleSize val="0"/>
        </c:dLbls>
        <c:gapWidth val="219"/>
        <c:overlap val="-27"/>
        <c:axId val="1686752415"/>
        <c:axId val="1686754127"/>
      </c:barChart>
      <c:catAx>
        <c:axId val="1686752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686754127"/>
        <c:crosses val="autoZero"/>
        <c:auto val="1"/>
        <c:lblAlgn val="ctr"/>
        <c:lblOffset val="100"/>
        <c:noMultiLvlLbl val="0"/>
      </c:catAx>
      <c:valAx>
        <c:axId val="16867541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686752415"/>
        <c:crosses val="autoZero"/>
        <c:crossBetween val="between"/>
      </c:valAx>
      <c:spPr>
        <a:noFill/>
        <a:ln>
          <a:noFill/>
        </a:ln>
        <a:effectLst/>
      </c:spPr>
    </c:plotArea>
    <c:legend>
      <c:legendPos val="b"/>
      <c:layout>
        <c:manualLayout>
          <c:xMode val="edge"/>
          <c:yMode val="edge"/>
          <c:x val="9.035654072569145E-2"/>
          <c:y val="0.69662129537444217"/>
          <c:w val="0.85476589392191038"/>
          <c:h val="8.5051533684659272E-2"/>
        </c:manualLayout>
      </c:layout>
      <c:overlay val="0"/>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gap"/>
    <c:showDLblsOverMax val="0"/>
    <c:extLst>
      <c:ext uri="{0b15fc19-7d7d-44ad-8c2d-2c3a37ce22c3}">
        <chartProps xmlns="https://web.wps.cn/et/2018/main" chartId="{199e13a0-9dbb-4864-ac78-7c9be0b7da11}"/>
      </c:ext>
    </c:extLst>
  </c:chart>
  <c:spPr>
    <a:noFill/>
    <a:ln>
      <a:noFill/>
    </a:ln>
    <a:effectLst/>
  </c:spPr>
  <c:txPr>
    <a:bodyPr/>
    <a:lstStyle/>
    <a:p>
      <a:pPr>
        <a:defRPr lang="zh-CN" sz="12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304D67-17A8-4C8E-8463-2A84C0CDD54F}"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BE60A7-1F55-465E-AB68-2F648DAD768A}" type="slidenum">
              <a:rPr lang="zh-CN" altLang="en-US" smtClean="0"/>
              <a:t>‹#›</a:t>
            </a:fld>
            <a:endParaRPr lang="zh-CN" altLang="en-US"/>
          </a:p>
        </p:txBody>
      </p:sp>
    </p:spTree>
    <p:extLst>
      <p:ext uri="{BB962C8B-B14F-4D97-AF65-F5344CB8AC3E}">
        <p14:creationId xmlns:p14="http://schemas.microsoft.com/office/powerpoint/2010/main" val="3216099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784EC7-8999-428F-BF34-BDE688C39F7F}" type="slidenum">
              <a:rPr lang="zh-CN" altLang="en-US" smtClean="0"/>
              <a:t>1</a:t>
            </a:fld>
            <a:endParaRPr lang="zh-CN" altLang="en-US"/>
          </a:p>
        </p:txBody>
      </p:sp>
    </p:spTree>
    <p:extLst>
      <p:ext uri="{BB962C8B-B14F-4D97-AF65-F5344CB8AC3E}">
        <p14:creationId xmlns:p14="http://schemas.microsoft.com/office/powerpoint/2010/main" val="3166117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A3D4E4-BC03-42C1-80A4-B39172A5D5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748533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A3D4E4-BC03-42C1-80A4-B39172A5D5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747009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A3D4E4-BC03-42C1-80A4-B39172A5D5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442035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A3D4E4-BC03-42C1-80A4-B39172A5D5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928184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A3D4E4-BC03-42C1-80A4-B39172A5D5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22747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A3D4E4-BC03-42C1-80A4-B39172A5D5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621848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A3D4E4-BC03-42C1-80A4-B39172A5D5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464354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A3D4E4-BC03-42C1-80A4-B39172A5D5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010400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4.xml"/><Relationship Id="rId5" Type="http://schemas.openxmlformats.org/officeDocument/2006/relationships/tags" Target="../tags/tag11.xml"/><Relationship Id="rId4" Type="http://schemas.openxmlformats.org/officeDocument/2006/relationships/tags" Target="../tags/tag10.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4.xml"/><Relationship Id="rId5" Type="http://schemas.openxmlformats.org/officeDocument/2006/relationships/tags" Target="../tags/tag16.xml"/><Relationship Id="rId4" Type="http://schemas.openxmlformats.org/officeDocument/2006/relationships/tags" Target="../tags/tag1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4.xml"/><Relationship Id="rId5" Type="http://schemas.openxmlformats.org/officeDocument/2006/relationships/tags" Target="../tags/tag21.xml"/><Relationship Id="rId4" Type="http://schemas.openxmlformats.org/officeDocument/2006/relationships/tags" Target="../tags/tag20.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4.xml"/><Relationship Id="rId4" Type="http://schemas.openxmlformats.org/officeDocument/2006/relationships/tags" Target="../tags/tag39.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4.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4.xml"/><Relationship Id="rId5" Type="http://schemas.openxmlformats.org/officeDocument/2006/relationships/tags" Target="../tags/tag53.xml"/><Relationship Id="rId4" Type="http://schemas.openxmlformats.org/officeDocument/2006/relationships/tags" Target="../tags/tag52.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4.xml"/><Relationship Id="rId4" Type="http://schemas.openxmlformats.org/officeDocument/2006/relationships/tags" Target="../tags/tag57.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4.xml"/><Relationship Id="rId5" Type="http://schemas.openxmlformats.org/officeDocument/2006/relationships/tags" Target="../tags/tag62.xml"/><Relationship Id="rId4" Type="http://schemas.openxmlformats.org/officeDocument/2006/relationships/tags" Target="../tags/tag6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slideMaster" Target="../slideMasters/slideMaster5.xml"/><Relationship Id="rId5" Type="http://schemas.openxmlformats.org/officeDocument/2006/relationships/tags" Target="../tags/tag73.xml"/><Relationship Id="rId4" Type="http://schemas.openxmlformats.org/officeDocument/2006/relationships/tags" Target="../tags/tag72.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slideMaster" Target="../slideMasters/slideMaster5.xml"/><Relationship Id="rId5" Type="http://schemas.openxmlformats.org/officeDocument/2006/relationships/tags" Target="../tags/tag78.xml"/><Relationship Id="rId4" Type="http://schemas.openxmlformats.org/officeDocument/2006/relationships/tags" Target="../tags/tag77.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slideMaster" Target="../slideMasters/slideMaster5.xml"/><Relationship Id="rId5" Type="http://schemas.openxmlformats.org/officeDocument/2006/relationships/tags" Target="../tags/tag83.xml"/><Relationship Id="rId4" Type="http://schemas.openxmlformats.org/officeDocument/2006/relationships/tags" Target="../tags/tag82.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slideMaster" Target="../slideMasters/slideMaster5.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9"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5" Type="http://schemas.openxmlformats.org/officeDocument/2006/relationships/slideMaster" Target="../slideMasters/slideMaster5.xml"/><Relationship Id="rId4" Type="http://schemas.openxmlformats.org/officeDocument/2006/relationships/tags" Target="../tags/tag101.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107.xml"/><Relationship Id="rId7" Type="http://schemas.openxmlformats.org/officeDocument/2006/relationships/slideMaster" Target="../slideMasters/slideMaster5.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Master" Target="../slideMasters/slideMaster5.xml"/><Relationship Id="rId5" Type="http://schemas.openxmlformats.org/officeDocument/2006/relationships/tags" Target="../tags/tag115.xml"/><Relationship Id="rId4" Type="http://schemas.openxmlformats.org/officeDocument/2006/relationships/tags" Target="../tags/tag114.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5" Type="http://schemas.openxmlformats.org/officeDocument/2006/relationships/slideMaster" Target="../slideMasters/slideMaster5.xml"/><Relationship Id="rId4" Type="http://schemas.openxmlformats.org/officeDocument/2006/relationships/tags" Target="../tags/tag119.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slideMaster" Target="../slideMasters/slideMaster5.xml"/><Relationship Id="rId5" Type="http://schemas.openxmlformats.org/officeDocument/2006/relationships/tags" Target="../tags/tag124.xml"/><Relationship Id="rId4" Type="http://schemas.openxmlformats.org/officeDocument/2006/relationships/tags" Target="../tags/tag12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8.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B970B4-3B55-49ED-95EE-1E04A4BD906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1E5FEB4-A8DB-474D-9978-5E2678D118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4AEE802-EEDA-4DA0-90EC-12E924B27DF5}"/>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8CBD5354-AEE1-4352-A15F-A22EB95354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EA4067-B39E-4C57-994C-4CBEE80333BC}"/>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3520470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C1BA39-AFF3-4569-9BFD-778C0162731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6F617F4-F6CE-43C3-A22E-CEFB0AEC418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5632CA1-59BA-44CB-88D8-55C0DF0F8AB1}"/>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4B6506AF-475E-4EEE-8EB2-D56A1F7BE3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BEB5F9-EB51-4437-B8E5-4C5074D335F3}"/>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450410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B2B474-E4CC-4D14-9299-FE6DA8FD050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8DA2AB0-4EF5-435C-B38B-17DD7A045B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5C9A0AB-B90B-40AC-A4FA-2BD9EBA36EDF}"/>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9CBA67B9-D668-40CB-AAA4-A589F0C2E8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603819-2072-4FED-A1AE-9BB51F88F521}"/>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1491395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77B6EE-A282-4D4F-A9C5-A5942190B4F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1462E36-2460-43DB-B516-3B80118517E1}"/>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4223595-7152-439D-82F4-3E2EDEA43BD8}"/>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055A8A7D-0085-4DBE-B02A-BB722B8D86C4}"/>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4B52BAC7-257B-4D5F-97DF-AEA8ECB8BAD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136C9BF-907D-490D-B163-A844F4E3CFE9}"/>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2291399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30D2F-B999-4547-B29E-D25C64F45E9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7477EED-FFAF-4DD5-95DE-B8AFC825F5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25EDF01-66DA-4BEC-97E4-2FB0A1BA2BB6}"/>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2A558E04-587F-4AC5-9A00-E57C0FE6AD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3403AB21-6CEB-45FE-84E7-E65EBED4606A}"/>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F999FCE-2709-47FB-8A8F-0B3A94F0FBFE}"/>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8" name="页脚占位符 7">
            <a:extLst>
              <a:ext uri="{FF2B5EF4-FFF2-40B4-BE49-F238E27FC236}">
                <a16:creationId xmlns:a16="http://schemas.microsoft.com/office/drawing/2014/main" id="{2FD25800-22FE-4F5D-B8E4-B867899B13D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297AC48-6AF0-4CA9-8D7B-6A8426429967}"/>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3346454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F2ABE8-525E-44AF-A668-CF2558DFC4F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04097B3-3FE8-4E3A-8378-FC0BBCABDD8D}"/>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279FE554-5190-4777-B755-95A1159974C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3870A06-512D-4E7E-9192-B666CE362B23}"/>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319837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2038F4E-D70D-4A87-A2BD-8E9056E237C1}"/>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3" name="页脚占位符 2">
            <a:extLst>
              <a:ext uri="{FF2B5EF4-FFF2-40B4-BE49-F238E27FC236}">
                <a16:creationId xmlns:a16="http://schemas.microsoft.com/office/drawing/2014/main" id="{EE67E8C1-B599-4601-88B0-6D663676977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BC28A53-1591-4E74-82EB-DF261768E093}"/>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365836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B573C7-7E7A-4BEC-AF5D-F480A086E3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60926E-5AE2-413F-951F-065152E629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13CA7893-9873-46FF-A66C-457AC2DB65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49C31D2-FE69-4A99-845B-70C7621F7889}"/>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66093BDB-3B88-4DF4-9B9E-3FE1523A915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5A8843A-3CE8-4988-AB42-115B31237BD8}"/>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815639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7A4BA3-802B-4BCD-A716-2436A2DFDA1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7E03EC2-C24A-4572-8DE3-22921C8A7B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B19D714-78CA-4099-92C1-27D7ED3349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3699416-7052-4CA0-84CF-78867A0A61DE}"/>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753FF1AD-CC5D-4794-8F66-98C53844C73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DA89C0D-2372-4100-BCEF-5971D4C3F8FD}"/>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1358542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2010F3-8133-4741-934D-59938EA6F7A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CB03CB6-6A40-452E-928D-8068BF02E05F}"/>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2EEA883-7221-443F-84BE-EB31D0DD429D}"/>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4D9B83DF-AC74-4BED-9FA7-834D01F367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787494E-283A-4B7D-9FC3-AE3E034F9250}"/>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155855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BF26010-CB96-43FA-8CDB-BC858DCBEC4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4AF1EA8-A3AE-4576-8973-E0C7B25059E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DBF8D85-8ADD-43A3-8640-02EAC5E58750}"/>
              </a:ext>
            </a:extLst>
          </p:cNvPr>
          <p:cNvSpPr>
            <a:spLocks noGrp="1"/>
          </p:cNvSpPr>
          <p:nvPr>
            <p:ph type="dt" sz="half" idx="10"/>
          </p:nvPr>
        </p:nvSpPr>
        <p:spPr/>
        <p:txBody>
          <a:bodyPr/>
          <a:lstStyle/>
          <a:p>
            <a:fld id="{2937BEB1-E580-4BC8-9AE5-04F484C6717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8E0C14AA-452B-4756-81CA-962D37C853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0F8FAC-BB5A-44BE-AC27-64EA292ACC21}"/>
              </a:ext>
            </a:extLst>
          </p:cNvPr>
          <p:cNvSpPr>
            <a:spLocks noGrp="1"/>
          </p:cNvSpPr>
          <p:nvPr>
            <p:ph type="sldNum" sz="quarter" idx="12"/>
          </p:nvPr>
        </p:nvSpPr>
        <p:spPr/>
        <p:txBody>
          <a:body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3939307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36"/>
            <a:ext cx="12192000" cy="6857328"/>
          </a:xfrm>
          <a:prstGeom prst="rect">
            <a:avLst/>
          </a:prstGeom>
        </p:spPr>
      </p:pic>
      <p:sp>
        <p:nvSpPr>
          <p:cNvPr id="10" name="标题 9"/>
          <p:cNvSpPr>
            <a:spLocks noGrp="1"/>
          </p:cNvSpPr>
          <p:nvPr>
            <p:ph type="title"/>
          </p:nvPr>
        </p:nvSpPr>
        <p:spPr>
          <a:xfrm>
            <a:off x="838201" y="1873252"/>
            <a:ext cx="5647267" cy="2004483"/>
          </a:xfrm>
          <a:prstGeom prst="rect">
            <a:avLst/>
          </a:prstGeom>
        </p:spPr>
        <p:txBody>
          <a:bodyPr/>
          <a:lstStyle>
            <a:lvl1pPr>
              <a:lnSpc>
                <a:spcPct val="100000"/>
              </a:lnSpc>
              <a:defRPr sz="4800" b="1">
                <a:solidFill>
                  <a:schemeClr val="bg1"/>
                </a:solidFill>
              </a:defRPr>
            </a:lvl1pPr>
          </a:lstStyle>
          <a:p>
            <a:r>
              <a:rPr lang="zh-CN" altLang="en-US" dirty="0"/>
              <a:t>单击此处编辑母版标题样式</a:t>
            </a:r>
          </a:p>
        </p:txBody>
      </p:sp>
      <p:pic>
        <p:nvPicPr>
          <p:cNvPr id="3" name="图片 2">
            <a:extLst>
              <a:ext uri="{FF2B5EF4-FFF2-40B4-BE49-F238E27FC236}">
                <a16:creationId xmlns:a16="http://schemas.microsoft.com/office/drawing/2014/main" id="{88FF3A8C-2A62-6B49-8145-948FEC41FB0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45113" y="308218"/>
            <a:ext cx="2007809" cy="456023"/>
          </a:xfrm>
          <a:prstGeom prst="rect">
            <a:avLst/>
          </a:prstGeom>
        </p:spPr>
      </p:pic>
    </p:spTree>
    <p:extLst>
      <p:ext uri="{BB962C8B-B14F-4D97-AF65-F5344CB8AC3E}">
        <p14:creationId xmlns:p14="http://schemas.microsoft.com/office/powerpoint/2010/main" val="3478187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22122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3031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2546888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3288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431372" y="272057"/>
            <a:ext cx="10972800" cy="535531"/>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7873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2026/4/14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47355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3518336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0297525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2026/4/14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9259718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2026/4/14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3399816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2026/4/14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1655422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2026/4/14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4015462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2026/4/14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39176853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9784620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9291942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extLst>
      <p:ext uri="{BB962C8B-B14F-4D97-AF65-F5344CB8AC3E}">
        <p14:creationId xmlns:p14="http://schemas.microsoft.com/office/powerpoint/2010/main" val="30326155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1048597" name="标题 9"/>
          <p:cNvSpPr>
            <a:spLocks noGrp="1"/>
          </p:cNvSpPr>
          <p:nvPr>
            <p:ph type="title"/>
          </p:nvPr>
        </p:nvSpPr>
        <p:spPr>
          <a:xfrm>
            <a:off x="431372" y="280850"/>
            <a:ext cx="10972800" cy="480131"/>
          </a:xfrm>
          <a:prstGeom prst="rect">
            <a:avLst/>
          </a:prstGeom>
        </p:spPr>
        <p:txBody>
          <a:bodyPr/>
          <a:lstStyle>
            <a:lvl1pPr>
              <a:defRPr>
                <a:solidFill>
                  <a:srgbClr val="C00000"/>
                </a:solidFill>
              </a:defRPr>
            </a:lvl1pPr>
          </a:lstStyle>
          <a:p>
            <a:r>
              <a:rPr lang="zh-CN" altLang="en-US"/>
              <a:t>单击此处编辑母版标题样式</a:t>
            </a:r>
          </a:p>
        </p:txBody>
      </p:sp>
    </p:spTree>
    <p:extLst>
      <p:ext uri="{BB962C8B-B14F-4D97-AF65-F5344CB8AC3E}">
        <p14:creationId xmlns:p14="http://schemas.microsoft.com/office/powerpoint/2010/main" val="7089428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2026/4/14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7253977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350397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6604788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2026/4/14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2038534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2026/4/14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9133233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2026/4/14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6750389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2026/4/14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7247486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2026/4/14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36201701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8604510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5089919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extLst>
      <p:ext uri="{BB962C8B-B14F-4D97-AF65-F5344CB8AC3E}">
        <p14:creationId xmlns:p14="http://schemas.microsoft.com/office/powerpoint/2010/main" val="3923750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59028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1"/>
            <a:ext cx="12192000" cy="6857999"/>
          </a:xfrm>
          <a:prstGeom prst="rect">
            <a:avLst/>
          </a:prstGeom>
        </p:spPr>
      </p:pic>
      <p:pic>
        <p:nvPicPr>
          <p:cNvPr id="5" name="图形 4"/>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flipH="1">
            <a:off x="627884" y="588877"/>
            <a:ext cx="828000" cy="823880"/>
          </a:xfrm>
          <a:prstGeom prst="rect">
            <a:avLst/>
          </a:prstGeom>
        </p:spPr>
      </p:pic>
    </p:spTree>
    <p:extLst>
      <p:ext uri="{BB962C8B-B14F-4D97-AF65-F5344CB8AC3E}">
        <p14:creationId xmlns:p14="http://schemas.microsoft.com/office/powerpoint/2010/main" val="26357773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3DB197-84B0-484E-9C0F-88358ECCB797}" type="datetimeFigureOut">
              <a:rPr lang="zh-CN" altLang="en-US" smtClean="0"/>
              <a:t>2026/4/14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extLst>
      <p:ext uri="{BB962C8B-B14F-4D97-AF65-F5344CB8AC3E}">
        <p14:creationId xmlns:p14="http://schemas.microsoft.com/office/powerpoint/2010/main" val="10486378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36"/>
            <a:ext cx="12192000" cy="6857328"/>
          </a:xfrm>
          <a:prstGeom prst="rect">
            <a:avLst/>
          </a:prstGeom>
        </p:spPr>
      </p:pic>
      <p:pic>
        <p:nvPicPr>
          <p:cNvPr id="6" name="Picture 4" descr="Text, logo&#10;&#10;Description automatically generated">
            <a:extLst>
              <a:ext uri="{FF2B5EF4-FFF2-40B4-BE49-F238E27FC236}">
                <a16:creationId xmlns:a16="http://schemas.microsoft.com/office/drawing/2014/main" id="{CF474633-A47E-497D-B036-C1306E5EF580}"/>
              </a:ext>
            </a:extLst>
          </p:cNvPr>
          <p:cNvPicPr>
            <a:picLocks noChangeAspect="1"/>
          </p:cNvPicPr>
          <p:nvPr userDrawn="1"/>
        </p:nvPicPr>
        <p:blipFill rotWithShape="1">
          <a:blip r:embed="rId3"/>
          <a:srcRect r="39270"/>
          <a:stretch/>
        </p:blipFill>
        <p:spPr>
          <a:xfrm>
            <a:off x="9597031" y="322680"/>
            <a:ext cx="2106169" cy="484748"/>
          </a:xfrm>
          <a:prstGeom prst="rect">
            <a:avLst/>
          </a:prstGeom>
        </p:spPr>
      </p:pic>
    </p:spTree>
    <p:extLst>
      <p:ext uri="{BB962C8B-B14F-4D97-AF65-F5344CB8AC3E}">
        <p14:creationId xmlns:p14="http://schemas.microsoft.com/office/powerpoint/2010/main" val="42710133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
        <p:nvSpPr>
          <p:cNvPr id="4" name="灯片编号占位符 4">
            <a:extLst>
              <a:ext uri="{FF2B5EF4-FFF2-40B4-BE49-F238E27FC236}">
                <a16:creationId xmlns:a16="http://schemas.microsoft.com/office/drawing/2014/main" id="{9C4F93C6-793A-4186-92C6-9ED186BCA273}"/>
              </a:ext>
            </a:extLst>
          </p:cNvPr>
          <p:cNvSpPr txBox="1">
            <a:spLocks/>
          </p:cNvSpPr>
          <p:nvPr userDrawn="1"/>
        </p:nvSpPr>
        <p:spPr>
          <a:xfrm flipH="1">
            <a:off x="333085" y="6445104"/>
            <a:ext cx="520153" cy="261610"/>
          </a:xfrm>
          <a:prstGeom prst="rect">
            <a:avLst/>
          </a:prstGeom>
        </p:spPr>
        <p:txBody>
          <a:bodyPr vert="horz" wrap="square" lIns="91440" tIns="45720" rIns="91440" bIns="45720" rtlCol="0" anchor="ctr">
            <a:spAutoFit/>
          </a:bodyPr>
          <a:lstStyle>
            <a:defPPr>
              <a:defRPr lang="zh-CN"/>
            </a:defPPr>
            <a:lvl1pPr marL="0" algn="r" defTabSz="914400" rtl="0" eaLnBrk="1" latinLnBrk="0" hangingPunct="1">
              <a:defRPr sz="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602C23F4-783D-4AA8-A1DE-3C52D543444A}" type="slidenum">
              <a:rPr lang="zh-CN" altLang="en-US" sz="1100" smtClean="0">
                <a:solidFill>
                  <a:prstClr val="black">
                    <a:tint val="75000"/>
                  </a:prstClr>
                </a:solidFill>
                <a:latin typeface="Myriad Pro"/>
                <a:ea typeface="微软雅黑"/>
              </a:rPr>
              <a:pPr algn="ctr">
                <a:defRPr/>
              </a:pPr>
              <a:t>‹#›</a:t>
            </a:fld>
            <a:endParaRPr lang="zh-CN" altLang="en-US" sz="1100" dirty="0">
              <a:solidFill>
                <a:prstClr val="black">
                  <a:tint val="75000"/>
                </a:prstClr>
              </a:solidFill>
              <a:latin typeface="Myriad Pro"/>
              <a:ea typeface="微软雅黑"/>
            </a:endParaRPr>
          </a:p>
        </p:txBody>
      </p:sp>
      <p:pic>
        <p:nvPicPr>
          <p:cNvPr id="6" name="Picture 5">
            <a:extLst>
              <a:ext uri="{FF2B5EF4-FFF2-40B4-BE49-F238E27FC236}">
                <a16:creationId xmlns:a16="http://schemas.microsoft.com/office/drawing/2014/main" id="{D9A0E6D3-77EB-4B12-9EB3-E7B05652B405}"/>
              </a:ext>
            </a:extLst>
          </p:cNvPr>
          <p:cNvPicPr>
            <a:picLocks noChangeAspect="1"/>
          </p:cNvPicPr>
          <p:nvPr userDrawn="1"/>
        </p:nvPicPr>
        <p:blipFill rotWithShape="1">
          <a:blip r:embed="rId2"/>
          <a:srcRect r="40382"/>
          <a:stretch/>
        </p:blipFill>
        <p:spPr>
          <a:xfrm>
            <a:off x="10394519" y="6390355"/>
            <a:ext cx="1393824" cy="326780"/>
          </a:xfrm>
          <a:prstGeom prst="rect">
            <a:avLst/>
          </a:prstGeom>
        </p:spPr>
      </p:pic>
    </p:spTree>
    <p:extLst>
      <p:ext uri="{BB962C8B-B14F-4D97-AF65-F5344CB8AC3E}">
        <p14:creationId xmlns:p14="http://schemas.microsoft.com/office/powerpoint/2010/main" val="39730111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5DD23A3-5AE8-4DA2-AA34-9FA27D4CEDBF}"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86FDFEA-DE97-48A3-98EA-B2118B81FD41}" type="slidenum">
              <a:rPr lang="zh-CN" altLang="en-US" smtClean="0"/>
              <a:t>‹#›</a:t>
            </a:fld>
            <a:endParaRPr lang="zh-CN" altLang="en-US"/>
          </a:p>
        </p:txBody>
      </p:sp>
    </p:spTree>
    <p:extLst>
      <p:ext uri="{BB962C8B-B14F-4D97-AF65-F5344CB8AC3E}">
        <p14:creationId xmlns:p14="http://schemas.microsoft.com/office/powerpoint/2010/main" val="10920087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43299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457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431372" y="272057"/>
            <a:ext cx="10972800" cy="535531"/>
          </a:xfrm>
          <a:prstGeom prst="rect">
            <a:avLst/>
          </a:prstGeom>
        </p:spPr>
        <p:txBody>
          <a:bodyPr/>
          <a:lstStyle/>
          <a:p>
            <a:r>
              <a:rPr lang="zh-CN" altLang="en-US"/>
              <a:t>单击此处编辑母版标题样式</a:t>
            </a:r>
          </a:p>
        </p:txBody>
      </p:sp>
      <p:pic>
        <p:nvPicPr>
          <p:cNvPr id="3" name="Picture 5"/>
          <p:cNvPicPr>
            <a:picLocks noChangeAspect="1"/>
          </p:cNvPicPr>
          <p:nvPr userDrawn="1"/>
        </p:nvPicPr>
        <p:blipFill>
          <a:blip r:embed="rId2"/>
          <a:srcRect r="38060" b="3406"/>
          <a:stretch>
            <a:fillRect/>
          </a:stretch>
        </p:blipFill>
        <p:spPr>
          <a:xfrm>
            <a:off x="10247152" y="6388113"/>
            <a:ext cx="1563848" cy="341084"/>
          </a:xfrm>
          <a:prstGeom prst="rect">
            <a:avLst/>
          </a:prstGeom>
        </p:spPr>
      </p:pic>
    </p:spTree>
    <p:extLst>
      <p:ext uri="{BB962C8B-B14F-4D97-AF65-F5344CB8AC3E}">
        <p14:creationId xmlns:p14="http://schemas.microsoft.com/office/powerpoint/2010/main" val="293806148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封底">
    <p:spTree>
      <p:nvGrpSpPr>
        <p:cNvPr id="1" name=""/>
        <p:cNvGrpSpPr/>
        <p:nvPr/>
      </p:nvGrpSpPr>
      <p:grpSpPr>
        <a:xfrm>
          <a:off x="0" y="0"/>
          <a:ext cx="0" cy="0"/>
          <a:chOff x="0" y="0"/>
          <a:chExt cx="0" cy="0"/>
        </a:xfrm>
      </p:grpSpPr>
      <p:sp>
        <p:nvSpPr>
          <p:cNvPr id="10" name="标题 9"/>
          <p:cNvSpPr>
            <a:spLocks noGrp="1"/>
          </p:cNvSpPr>
          <p:nvPr>
            <p:ph type="title" hasCustomPrompt="1"/>
          </p:nvPr>
        </p:nvSpPr>
        <p:spPr>
          <a:xfrm>
            <a:off x="838200" y="3263477"/>
            <a:ext cx="5647267" cy="2004483"/>
          </a:xfrm>
          <a:prstGeom prst="rect">
            <a:avLst/>
          </a:prstGeom>
        </p:spPr>
        <p:txBody>
          <a:bodyPr/>
          <a:lstStyle>
            <a:lvl1pPr>
              <a:lnSpc>
                <a:spcPct val="100000"/>
              </a:lnSpc>
              <a:defRPr sz="5335" b="1">
                <a:solidFill>
                  <a:schemeClr val="bg1"/>
                </a:solidFill>
              </a:defRPr>
            </a:lvl1pPr>
          </a:lstStyle>
          <a:p>
            <a:r>
              <a:rPr lang="zh-CN" altLang="en-US" dirty="0"/>
              <a:t>谢谢！</a:t>
            </a:r>
          </a:p>
        </p:txBody>
      </p:sp>
    </p:spTree>
    <p:extLst>
      <p:ext uri="{BB962C8B-B14F-4D97-AF65-F5344CB8AC3E}">
        <p14:creationId xmlns:p14="http://schemas.microsoft.com/office/powerpoint/2010/main" val="35885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7178518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title"/>
          </p:nvPr>
        </p:nvSpPr>
        <p:spPr>
          <a:xfrm>
            <a:off x="508000" y="329682"/>
            <a:ext cx="11049000" cy="379656"/>
          </a:xfrm>
        </p:spPr>
        <p:txBody>
          <a:bodyPr/>
          <a:lstStyle>
            <a:lvl1pPr>
              <a:defRPr sz="1867"/>
            </a:lvl1pPr>
          </a:lstStyle>
          <a:p>
            <a:r>
              <a:rPr lang="zh-CN" altLang="en-US" dirty="0"/>
              <a:t>单击此处编辑母版标题样式</a:t>
            </a:r>
          </a:p>
        </p:txBody>
      </p:sp>
      <p:sp>
        <p:nvSpPr>
          <p:cNvPr id="4" name="页脚占位符 3"/>
          <p:cNvSpPr>
            <a:spLocks noGrp="1"/>
          </p:cNvSpPr>
          <p:nvPr>
            <p:ph type="ftr" sz="quarter" idx="10"/>
          </p:nvPr>
        </p:nvSpPr>
        <p:spPr/>
        <p:txBody>
          <a:bodyPr/>
          <a:lstStyle/>
          <a:p>
            <a:r>
              <a:rPr lang="en-US" altLang="zh-CN" dirty="0"/>
              <a:t>©2021 </a:t>
            </a:r>
            <a:r>
              <a:rPr lang="zh-CN" altLang="en-US" dirty="0"/>
              <a:t>深圳迈瑞生物医疗电子股份有限公司版权所有</a:t>
            </a:r>
            <a:endParaRPr kumimoji="1" lang="zh-CN" altLang="en-US" dirty="0"/>
          </a:p>
        </p:txBody>
      </p:sp>
      <p:sp>
        <p:nvSpPr>
          <p:cNvPr id="6" name="灯片编号占位符 5"/>
          <p:cNvSpPr>
            <a:spLocks noGrp="1"/>
          </p:cNvSpPr>
          <p:nvPr>
            <p:ph type="sldNum" sz="quarter" idx="11"/>
          </p:nvPr>
        </p:nvSpPr>
        <p:spPr/>
        <p:txBody>
          <a:bodyPr/>
          <a:lstStyle/>
          <a:p>
            <a:fld id="{602C23F4-783D-4AA8-A1DE-3C52D543444A}" type="slidenum">
              <a:rPr lang="zh-CN" altLang="en-US" smtClean="0"/>
              <a:t>‹#›</a:t>
            </a:fld>
            <a:endParaRPr lang="zh-CN" altLang="en-US" dirty="0"/>
          </a:p>
        </p:txBody>
      </p:sp>
    </p:spTree>
    <p:extLst>
      <p:ext uri="{BB962C8B-B14F-4D97-AF65-F5344CB8AC3E}">
        <p14:creationId xmlns:p14="http://schemas.microsoft.com/office/powerpoint/2010/main" val="29512044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r>
              <a:rPr lang="en-US" altLang="zh-CN"/>
              <a:t>©2021 </a:t>
            </a:r>
            <a:r>
              <a:rPr lang="zh-CN" altLang="en-US"/>
              <a:t>深圳迈瑞生物医疗电子股份有限公司版权所有</a:t>
            </a:r>
            <a:endParaRPr kumimoji="1" lang="zh-CN" altLang="en-US" dirty="0"/>
          </a:p>
        </p:txBody>
      </p:sp>
      <p:sp>
        <p:nvSpPr>
          <p:cNvPr id="4" name="灯片编号占位符 3"/>
          <p:cNvSpPr>
            <a:spLocks noGrp="1"/>
          </p:cNvSpPr>
          <p:nvPr>
            <p:ph type="sldNum" sz="quarter" idx="11"/>
          </p:nvPr>
        </p:nvSpPr>
        <p:spPr/>
        <p:txBody>
          <a:bodyPr/>
          <a:lstStyle/>
          <a:p>
            <a:fld id="{602C23F4-783D-4AA8-A1DE-3C52D543444A}" type="slidenum">
              <a:rPr lang="zh-CN" altLang="en-US" smtClean="0"/>
              <a:t>‹#›</a:t>
            </a:fld>
            <a:endParaRPr lang="zh-CN" altLang="en-US"/>
          </a:p>
        </p:txBody>
      </p:sp>
      <p:sp>
        <p:nvSpPr>
          <p:cNvPr id="5" name="标题 1"/>
          <p:cNvSpPr>
            <a:spLocks noGrp="1"/>
          </p:cNvSpPr>
          <p:nvPr>
            <p:ph type="title"/>
          </p:nvPr>
        </p:nvSpPr>
        <p:spPr>
          <a:xfrm>
            <a:off x="508000" y="329682"/>
            <a:ext cx="11049000" cy="379656"/>
          </a:xfrm>
        </p:spPr>
        <p:txBody>
          <a:bodyPr/>
          <a:lstStyle>
            <a:lvl1pPr>
              <a:defRPr sz="1867"/>
            </a:lvl1pPr>
          </a:lstStyle>
          <a:p>
            <a:r>
              <a:rPr lang="zh-CN" altLang="en-US" dirty="0"/>
              <a:t>单击此处编辑母版标题样式</a:t>
            </a:r>
          </a:p>
        </p:txBody>
      </p:sp>
    </p:spTree>
    <p:extLst>
      <p:ext uri="{BB962C8B-B14F-4D97-AF65-F5344CB8AC3E}">
        <p14:creationId xmlns:p14="http://schemas.microsoft.com/office/powerpoint/2010/main" val="21870931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页脚占位符 3"/>
          <p:cNvSpPr>
            <a:spLocks noGrp="1"/>
          </p:cNvSpPr>
          <p:nvPr>
            <p:ph type="ftr" sz="quarter" idx="10"/>
          </p:nvPr>
        </p:nvSpPr>
        <p:spPr/>
        <p:txBody>
          <a:bodyPr/>
          <a:lstStyle/>
          <a:p>
            <a:r>
              <a:rPr lang="en-US" altLang="zh-CN" dirty="0"/>
              <a:t>©2021 </a:t>
            </a:r>
            <a:r>
              <a:rPr lang="zh-CN" altLang="en-US" dirty="0"/>
              <a:t>深圳迈瑞生物医疗电子股份有限公司版权所有</a:t>
            </a:r>
            <a:endParaRPr kumimoji="1" lang="zh-CN" altLang="en-US" dirty="0"/>
          </a:p>
        </p:txBody>
      </p:sp>
      <p:sp>
        <p:nvSpPr>
          <p:cNvPr id="6" name="灯片编号占位符 5"/>
          <p:cNvSpPr>
            <a:spLocks noGrp="1"/>
          </p:cNvSpPr>
          <p:nvPr>
            <p:ph type="sldNum" sz="quarter" idx="11"/>
          </p:nvPr>
        </p:nvSpPr>
        <p:spPr/>
        <p:txBody>
          <a:bodyPr/>
          <a:lstStyle/>
          <a:p>
            <a:fld id="{602C23F4-783D-4AA8-A1DE-3C52D543444A}" type="slidenum">
              <a:rPr lang="zh-CN" altLang="en-US" smtClean="0"/>
              <a:t>‹#›</a:t>
            </a:fld>
            <a:endParaRPr lang="zh-CN" altLang="en-US" dirty="0"/>
          </a:p>
        </p:txBody>
      </p:sp>
    </p:spTree>
    <p:extLst>
      <p:ext uri="{BB962C8B-B14F-4D97-AF65-F5344CB8AC3E}">
        <p14:creationId xmlns:p14="http://schemas.microsoft.com/office/powerpoint/2010/main" val="3012377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4.xml"/><Relationship Id="rId18" Type="http://schemas.openxmlformats.org/officeDocument/2006/relationships/tags" Target="../tags/tag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ags" Target="../tags/tag4.xml"/><Relationship Id="rId2" Type="http://schemas.openxmlformats.org/officeDocument/2006/relationships/slideLayout" Target="../slideLayouts/slideLayout19.xml"/><Relationship Id="rId16" Type="http://schemas.openxmlformats.org/officeDocument/2006/relationships/tags" Target="../tags/tag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tags" Target="../tags/tag2.xml"/><Relationship Id="rId10" Type="http://schemas.openxmlformats.org/officeDocument/2006/relationships/slideLayout" Target="../slideLayouts/slideLayout27.xml"/><Relationship Id="rId19" Type="http://schemas.openxmlformats.org/officeDocument/2006/relationships/tags" Target="../tags/tag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ags" Target="../tags/tag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tags" Target="../tags/tag65.xml"/><Relationship Id="rId3" Type="http://schemas.openxmlformats.org/officeDocument/2006/relationships/slideLayout" Target="../slideLayouts/slideLayout32.xml"/><Relationship Id="rId21" Type="http://schemas.openxmlformats.org/officeDocument/2006/relationships/tags" Target="../tags/tag68.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tags" Target="../tags/tag64.xml"/><Relationship Id="rId2" Type="http://schemas.openxmlformats.org/officeDocument/2006/relationships/slideLayout" Target="../slideLayouts/slideLayout31.xml"/><Relationship Id="rId16" Type="http://schemas.openxmlformats.org/officeDocument/2006/relationships/tags" Target="../tags/tag63.xml"/><Relationship Id="rId20" Type="http://schemas.openxmlformats.org/officeDocument/2006/relationships/tags" Target="../tags/tag67.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5.xml"/><Relationship Id="rId10" Type="http://schemas.openxmlformats.org/officeDocument/2006/relationships/slideLayout" Target="../slideLayouts/slideLayout39.xml"/><Relationship Id="rId19" Type="http://schemas.openxmlformats.org/officeDocument/2006/relationships/tags" Target="../tags/tag66.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slideLayout" Target="../slideLayouts/slideLayout45.xml"/><Relationship Id="rId1" Type="http://schemas.openxmlformats.org/officeDocument/2006/relationships/slideLayout" Target="../slideLayouts/slideLayout44.xml"/><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slideLayout" Target="../slideLayouts/slideLayout49.xml"/><Relationship Id="rId7" Type="http://schemas.openxmlformats.org/officeDocument/2006/relationships/image" Target="../media/image10.pn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theme" Target="../theme/theme7.xml"/><Relationship Id="rId5" Type="http://schemas.openxmlformats.org/officeDocument/2006/relationships/slideLayout" Target="../slideLayouts/slideLayout51.xml"/><Relationship Id="rId4" Type="http://schemas.openxmlformats.org/officeDocument/2006/relationships/slideLayout" Target="../slideLayouts/slideLayout50.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54.xml"/><Relationship Id="rId2" Type="http://schemas.openxmlformats.org/officeDocument/2006/relationships/slideLayout" Target="../slideLayouts/slideLayout53.xml"/><Relationship Id="rId1" Type="http://schemas.openxmlformats.org/officeDocument/2006/relationships/slideLayout" Target="../slideLayouts/slideLayout52.xml"/><Relationship Id="rId5" Type="http://schemas.openxmlformats.org/officeDocument/2006/relationships/image" Target="../media/image10.png"/><Relationship Id="rId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6B40348-2405-45D2-B072-2D90B98BF3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AE47697-DA8C-4C73-8FB9-14D6987816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F482DD5-711F-4CB4-AC08-F39A375F52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37BEB1-E580-4BC8-9AE5-04F484C6717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4B9EA23E-BE1C-49B3-8716-CAE8BB76C6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665154A-CAEA-454D-A78C-3A0FF736F9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4A9321-BDF9-4FC4-9FE9-7EA02F36F725}" type="slidenum">
              <a:rPr lang="zh-CN" altLang="en-US" smtClean="0"/>
              <a:t>‹#›</a:t>
            </a:fld>
            <a:endParaRPr lang="zh-CN" altLang="en-US"/>
          </a:p>
        </p:txBody>
      </p:sp>
    </p:spTree>
    <p:extLst>
      <p:ext uri="{BB962C8B-B14F-4D97-AF65-F5344CB8AC3E}">
        <p14:creationId xmlns:p14="http://schemas.microsoft.com/office/powerpoint/2010/main" val="3024831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4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80999" y="224450"/>
            <a:ext cx="10515600" cy="531690"/>
          </a:xfrm>
          <a:prstGeom prst="rect">
            <a:avLst/>
          </a:prstGeom>
        </p:spPr>
        <p:txBody>
          <a:bodyPr vert="horz" lIns="91440" tIns="45720" rIns="91440" bIns="45720" rtlCol="0" anchor="ctr">
            <a:normAutofit/>
          </a:bodyPr>
          <a:lstStyle/>
          <a:p>
            <a:r>
              <a:rPr lang="zh-CN" altLang="en-US"/>
              <a:t>单击此处编辑母版标题样式</a:t>
            </a:r>
          </a:p>
        </p:txBody>
      </p:sp>
      <p:pic>
        <p:nvPicPr>
          <p:cNvPr id="10" name="Picture 5">
            <a:extLst>
              <a:ext uri="{FF2B5EF4-FFF2-40B4-BE49-F238E27FC236}">
                <a16:creationId xmlns:a16="http://schemas.microsoft.com/office/drawing/2014/main" id="{61BEE26D-A92D-9040-A825-B6D40FB490EE}"/>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b="-9668"/>
          <a:stretch/>
        </p:blipFill>
        <p:spPr>
          <a:xfrm>
            <a:off x="10222694" y="6331882"/>
            <a:ext cx="1795134" cy="449555"/>
          </a:xfrm>
          <a:prstGeom prst="rect">
            <a:avLst/>
          </a:prstGeom>
        </p:spPr>
      </p:pic>
      <p:cxnSp>
        <p:nvCxnSpPr>
          <p:cNvPr id="4" name="直接连接符 3">
            <a:extLst>
              <a:ext uri="{FF2B5EF4-FFF2-40B4-BE49-F238E27FC236}">
                <a16:creationId xmlns:a16="http://schemas.microsoft.com/office/drawing/2014/main" id="{41D8C015-C05C-4EC4-86AE-ED906E456E30}"/>
              </a:ext>
            </a:extLst>
          </p:cNvPr>
          <p:cNvCxnSpPr>
            <a:cxnSpLocks/>
          </p:cNvCxnSpPr>
          <p:nvPr userDrawn="1"/>
        </p:nvCxnSpPr>
        <p:spPr>
          <a:xfrm>
            <a:off x="380999" y="931985"/>
            <a:ext cx="11435863"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4690042"/>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80999" y="224450"/>
            <a:ext cx="10515600" cy="531690"/>
          </a:xfrm>
          <a:prstGeom prst="rect">
            <a:avLst/>
          </a:prstGeom>
        </p:spPr>
        <p:txBody>
          <a:bodyPr vert="horz" lIns="91440" tIns="45720" rIns="91440" bIns="45720" rtlCol="0" anchor="ctr">
            <a:normAutofit/>
          </a:bodyPr>
          <a:lstStyle/>
          <a:p>
            <a:r>
              <a:rPr lang="zh-CN" altLang="en-US"/>
              <a:t>单击此处编辑母版标题样式</a:t>
            </a:r>
          </a:p>
        </p:txBody>
      </p:sp>
      <p:pic>
        <p:nvPicPr>
          <p:cNvPr id="7" name="图片 6"/>
          <p:cNvPicPr>
            <a:picLocks noChangeAspect="1"/>
          </p:cNvPicPr>
          <p:nvPr userDrawn="1"/>
        </p:nvPicPr>
        <p:blipFill>
          <a:blip r:embed="rId5"/>
          <a:stretch>
            <a:fillRect/>
          </a:stretch>
        </p:blipFill>
        <p:spPr>
          <a:xfrm>
            <a:off x="245027" y="6517920"/>
            <a:ext cx="2749534" cy="231668"/>
          </a:xfrm>
          <a:prstGeom prst="rect">
            <a:avLst/>
          </a:prstGeom>
        </p:spPr>
      </p:pic>
      <p:sp>
        <p:nvSpPr>
          <p:cNvPr id="8" name="矩形 7"/>
          <p:cNvSpPr/>
          <p:nvPr userDrawn="1"/>
        </p:nvSpPr>
        <p:spPr>
          <a:xfrm>
            <a:off x="0" y="92851"/>
            <a:ext cx="321733" cy="45618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宋体" panose="02010600030101010101" pitchFamily="2" charset="-122"/>
              <a:cs typeface="+mn-cs"/>
            </a:endParaRPr>
          </a:p>
        </p:txBody>
      </p:sp>
      <p:sp>
        <p:nvSpPr>
          <p:cNvPr id="9" name="矩形 8"/>
          <p:cNvSpPr/>
          <p:nvPr userDrawn="1"/>
        </p:nvSpPr>
        <p:spPr>
          <a:xfrm>
            <a:off x="109639" y="262303"/>
            <a:ext cx="321733" cy="45618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宋体" panose="02010600030101010101" pitchFamily="2" charset="-122"/>
              <a:cs typeface="+mn-cs"/>
            </a:endParaRPr>
          </a:p>
        </p:txBody>
      </p:sp>
      <p:pic>
        <p:nvPicPr>
          <p:cNvPr id="11" name="图片 10"/>
          <p:cNvPicPr>
            <a:picLocks noChangeAspect="1"/>
          </p:cNvPicPr>
          <p:nvPr userDrawn="1"/>
        </p:nvPicPr>
        <p:blipFill>
          <a:blip r:embed="rId6"/>
          <a:stretch>
            <a:fillRect/>
          </a:stretch>
        </p:blipFill>
        <p:spPr>
          <a:xfrm>
            <a:off x="10324961" y="6377517"/>
            <a:ext cx="1143276" cy="280805"/>
          </a:xfrm>
          <a:prstGeom prst="rect">
            <a:avLst/>
          </a:prstGeom>
        </p:spPr>
      </p:pic>
    </p:spTree>
    <p:extLst>
      <p:ext uri="{BB962C8B-B14F-4D97-AF65-F5344CB8AC3E}">
        <p14:creationId xmlns:p14="http://schemas.microsoft.com/office/powerpoint/2010/main" val="2745286136"/>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9" r:id="rId3"/>
  </p:sldLayoutIdLst>
  <p:hf sldNum="0" hdr="0" ftr="0"/>
  <p:txStyles>
    <p:titleStyle>
      <a:lvl1pPr algn="l" defTabSz="914400" rtl="0" eaLnBrk="1" latinLnBrk="0" hangingPunct="1">
        <a:lnSpc>
          <a:spcPct val="90000"/>
        </a:lnSpc>
        <a:spcBef>
          <a:spcPct val="0"/>
        </a:spcBef>
        <a:buNone/>
        <a:defRPr sz="2800" b="1" kern="1200">
          <a:solidFill>
            <a:srgbClr val="C00000"/>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2026/4/14</a:t>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4"/>
    </p:custDataLst>
    <p:extLst>
      <p:ext uri="{BB962C8B-B14F-4D97-AF65-F5344CB8AC3E}">
        <p14:creationId xmlns:p14="http://schemas.microsoft.com/office/powerpoint/2010/main" val="607655610"/>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41"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阿里巴巴普惠体 R" panose="00020600040101010101" charset="-122"/>
                <a:ea typeface="阿里巴巴普惠体 R" panose="00020600040101010101" charset="-122"/>
                <a:cs typeface="阿里巴巴普惠体 R" panose="00020600040101010101" charset="-122"/>
              </a:defRPr>
            </a:lvl1pPr>
          </a:lstStyle>
          <a:p>
            <a:fld id="{760FBDFE-C587-4B4C-A407-44438C67B59E}" type="datetimeFigureOut">
              <a:rPr lang="zh-CN" altLang="en-US" smtClean="0"/>
              <a:t>2026/4/14</a:t>
            </a:fld>
            <a:endParaRPr lang="zh-CN" altLang="en-US"/>
          </a:p>
        </p:txBody>
      </p:sp>
      <p:sp>
        <p:nvSpPr>
          <p:cNvPr id="5" name="页脚占位符 4"/>
          <p:cNvSpPr>
            <a:spLocks noGrp="1"/>
          </p:cNvSpPr>
          <p:nvPr>
            <p:ph type="ftr" sz="quarter" idx="3"/>
            <p:custDataLst>
              <p:tags r:id="rId2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阿里巴巴普惠体 R" panose="00020600040101010101" charset="-122"/>
                <a:ea typeface="阿里巴巴普惠体 R" panose="00020600040101010101" charset="-122"/>
                <a:cs typeface="阿里巴巴普惠体 R" panose="00020600040101010101" charset="-122"/>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阿里巴巴普惠体 R" panose="00020600040101010101" charset="-122"/>
                <a:ea typeface="阿里巴巴普惠体 R" panose="00020600040101010101" charset="-122"/>
                <a:cs typeface="阿里巴巴普惠体 R" panose="00020600040101010101" charset="-122"/>
              </a:defRPr>
            </a:lvl1pPr>
          </a:lstStyle>
          <a:p>
            <a:fld id="{49AE70B2-8BF9-45C0-BB95-33D1B9D3A854}" type="slidenum">
              <a:rPr lang="zh-CN" altLang="en-US" smtClean="0"/>
              <a:t>‹#›</a:t>
            </a:fld>
            <a:endParaRPr lang="zh-CN" altLang="en-US" dirty="0"/>
          </a:p>
        </p:txBody>
      </p:sp>
    </p:spTree>
    <p:custDataLst>
      <p:tags r:id="rId16"/>
    </p:custDataLst>
    <p:extLst>
      <p:ext uri="{BB962C8B-B14F-4D97-AF65-F5344CB8AC3E}">
        <p14:creationId xmlns:p14="http://schemas.microsoft.com/office/powerpoint/2010/main" val="3662339360"/>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阿里巴巴普惠体 R" panose="00020600040101010101" charset="-122"/>
          <a:ea typeface="阿里巴巴普惠体 R" panose="00020600040101010101" charset="-122"/>
          <a:cs typeface="阿里巴巴普惠体 R" panose="0002060004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阿里巴巴普惠体 R" panose="00020600040101010101" charset="-122"/>
          <a:ea typeface="阿里巴巴普惠体 R" panose="00020600040101010101" charset="-122"/>
          <a:cs typeface="阿里巴巴普惠体 R" panose="0002060004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阿里巴巴普惠体 R" panose="00020600040101010101" charset="-122"/>
          <a:ea typeface="阿里巴巴普惠体 R" panose="00020600040101010101" charset="-122"/>
          <a:cs typeface="阿里巴巴普惠体 R" panose="0002060004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阿里巴巴普惠体 R" panose="00020600040101010101" charset="-122"/>
          <a:ea typeface="阿里巴巴普惠体 R" panose="00020600040101010101" charset="-122"/>
          <a:cs typeface="阿里巴巴普惠体 R" panose="0002060004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阿里巴巴普惠体 R" panose="00020600040101010101" charset="-122"/>
          <a:ea typeface="阿里巴巴普惠体 R" panose="00020600040101010101" charset="-122"/>
          <a:cs typeface="阿里巴巴普惠体 R" panose="0002060004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阿里巴巴普惠体 R" panose="00020600040101010101" charset="-122"/>
          <a:ea typeface="阿里巴巴普惠体 R" panose="00020600040101010101" charset="-122"/>
          <a:cs typeface="阿里巴巴普惠体 R"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2907338"/>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Lst>
  <p:hf hd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80999" y="224450"/>
            <a:ext cx="10515600" cy="531690"/>
          </a:xfrm>
          <a:prstGeom prst="rect">
            <a:avLst/>
          </a:prstGeom>
        </p:spPr>
        <p:txBody>
          <a:bodyPr vert="horz" lIns="91440" tIns="45720" rIns="91440" bIns="45720" rtlCol="0" anchor="ctr">
            <a:normAutofit/>
          </a:bodyPr>
          <a:lstStyle/>
          <a:p>
            <a:r>
              <a:rPr lang="zh-CN" altLang="en-US"/>
              <a:t>单击此处编辑母版标题样式</a:t>
            </a:r>
          </a:p>
        </p:txBody>
      </p:sp>
      <p:sp>
        <p:nvSpPr>
          <p:cNvPr id="8" name="矩形 7"/>
          <p:cNvSpPr/>
          <p:nvPr userDrawn="1"/>
        </p:nvSpPr>
        <p:spPr>
          <a:xfrm>
            <a:off x="0" y="92851"/>
            <a:ext cx="321733" cy="45618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9" name="矩形 8"/>
          <p:cNvSpPr/>
          <p:nvPr userDrawn="1"/>
        </p:nvSpPr>
        <p:spPr>
          <a:xfrm>
            <a:off x="109639" y="262303"/>
            <a:ext cx="321733" cy="45618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1" name="Picture 5"/>
          <p:cNvPicPr>
            <a:picLocks noChangeAspect="1"/>
          </p:cNvPicPr>
          <p:nvPr userDrawn="1"/>
        </p:nvPicPr>
        <p:blipFill rotWithShape="1">
          <a:blip r:embed="rId7"/>
          <a:srcRect r="40382"/>
          <a:stretch>
            <a:fillRect/>
          </a:stretch>
        </p:blipFill>
        <p:spPr>
          <a:xfrm>
            <a:off x="10822447" y="6495941"/>
            <a:ext cx="1239321" cy="290556"/>
          </a:xfrm>
          <a:prstGeom prst="rect">
            <a:avLst/>
          </a:prstGeom>
        </p:spPr>
      </p:pic>
      <p:pic>
        <p:nvPicPr>
          <p:cNvPr id="6" name="图片 5"/>
          <p:cNvPicPr>
            <a:picLocks noChangeAspect="1"/>
          </p:cNvPicPr>
          <p:nvPr userDrawn="1"/>
        </p:nvPicPr>
        <p:blipFill>
          <a:blip r:embed="rId8"/>
          <a:stretch>
            <a:fillRect/>
          </a:stretch>
        </p:blipFill>
        <p:spPr>
          <a:xfrm>
            <a:off x="2031" y="0"/>
            <a:ext cx="12187939" cy="6858000"/>
          </a:xfrm>
          <a:prstGeom prst="rect">
            <a:avLst/>
          </a:prstGeom>
        </p:spPr>
      </p:pic>
    </p:spTree>
    <p:extLst>
      <p:ext uri="{BB962C8B-B14F-4D97-AF65-F5344CB8AC3E}">
        <p14:creationId xmlns:p14="http://schemas.microsoft.com/office/powerpoint/2010/main" val="153855461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2" r:id="rId3"/>
    <p:sldLayoutId id="2147483773" r:id="rId4"/>
    <p:sldLayoutId id="2147483774" r:id="rId5"/>
  </p:sldLayoutIdLst>
  <p:txStyles>
    <p:titleStyle>
      <a:lvl1pPr algn="l" defTabSz="914400" rtl="0" eaLnBrk="1" latinLnBrk="0" hangingPunct="1">
        <a:lnSpc>
          <a:spcPct val="90000"/>
        </a:lnSpc>
        <a:spcBef>
          <a:spcPct val="0"/>
        </a:spcBef>
        <a:buNone/>
        <a:defRPr sz="2800" b="1" kern="1200">
          <a:solidFill>
            <a:srgbClr val="C00000"/>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标题占位符 6"/>
          <p:cNvSpPr>
            <a:spLocks noGrp="1"/>
          </p:cNvSpPr>
          <p:nvPr>
            <p:ph type="title"/>
          </p:nvPr>
        </p:nvSpPr>
        <p:spPr>
          <a:xfrm>
            <a:off x="508000" y="640754"/>
            <a:ext cx="11049000" cy="625877"/>
          </a:xfrm>
          <a:prstGeom prst="rect">
            <a:avLst/>
          </a:prstGeom>
        </p:spPr>
        <p:txBody>
          <a:bodyPr vert="horz" wrap="square" lIns="91440" tIns="45720" rIns="91440" bIns="45720" rtlCol="0" anchor="t" anchorCtr="0">
            <a:spAutoFit/>
          </a:bodyPr>
          <a:lstStyle/>
          <a:p>
            <a:r>
              <a:rPr lang="zh-CN" altLang="en-US" dirty="0"/>
              <a:t>单击此处编辑母版标题样式</a:t>
            </a:r>
          </a:p>
        </p:txBody>
      </p:sp>
      <p:sp>
        <p:nvSpPr>
          <p:cNvPr id="10" name="页脚占位符 9"/>
          <p:cNvSpPr>
            <a:spLocks noGrp="1"/>
          </p:cNvSpPr>
          <p:nvPr>
            <p:ph type="ftr" sz="quarter" idx="3"/>
          </p:nvPr>
        </p:nvSpPr>
        <p:spPr>
          <a:xfrm>
            <a:off x="508001" y="6350226"/>
            <a:ext cx="2730500" cy="215444"/>
          </a:xfrm>
          <a:prstGeom prst="rect">
            <a:avLst/>
          </a:prstGeom>
        </p:spPr>
        <p:txBody>
          <a:bodyPr vert="horz" wrap="square" lIns="91440" tIns="45720" rIns="91440" bIns="45720" rtlCol="0" anchor="ctr">
            <a:spAutoFit/>
          </a:bodyPr>
          <a:lstStyle>
            <a:lvl1pPr algn="l">
              <a:defRPr sz="800">
                <a:solidFill>
                  <a:schemeClr val="tx1">
                    <a:tint val="75000"/>
                  </a:schemeClr>
                </a:solidFill>
                <a:latin typeface="+mn-ea"/>
                <a:ea typeface="+mn-ea"/>
              </a:defRPr>
            </a:lvl1pPr>
          </a:lstStyle>
          <a:p>
            <a:r>
              <a:rPr lang="en-US" altLang="zh-CN"/>
              <a:t>©2021 </a:t>
            </a:r>
            <a:r>
              <a:rPr lang="zh-CN" altLang="en-US"/>
              <a:t>深圳迈瑞生物医疗电子股份有限公司版权所有</a:t>
            </a:r>
            <a:endParaRPr kumimoji="1" lang="zh-CN" altLang="en-US" dirty="0"/>
          </a:p>
        </p:txBody>
      </p:sp>
      <p:sp>
        <p:nvSpPr>
          <p:cNvPr id="11" name="灯片编号占位符 10"/>
          <p:cNvSpPr>
            <a:spLocks noGrp="1"/>
          </p:cNvSpPr>
          <p:nvPr>
            <p:ph type="sldNum" sz="quarter" idx="4"/>
          </p:nvPr>
        </p:nvSpPr>
        <p:spPr>
          <a:xfrm flipH="1">
            <a:off x="3087522" y="6350226"/>
            <a:ext cx="438988" cy="215444"/>
          </a:xfrm>
          <a:prstGeom prst="rect">
            <a:avLst/>
          </a:prstGeom>
        </p:spPr>
        <p:txBody>
          <a:bodyPr vert="horz" wrap="square" lIns="91440" tIns="45720" rIns="91440" bIns="45720" rtlCol="0" anchor="ctr">
            <a:spAutoFit/>
          </a:bodyPr>
          <a:lstStyle>
            <a:lvl1pPr algn="r">
              <a:defRPr sz="800">
                <a:solidFill>
                  <a:schemeClr val="tx1">
                    <a:tint val="75000"/>
                  </a:schemeClr>
                </a:solidFill>
                <a:latin typeface="+mn-ea"/>
                <a:ea typeface="+mn-ea"/>
              </a:defRPr>
            </a:lvl1pPr>
          </a:lstStyle>
          <a:p>
            <a:fld id="{602C23F4-783D-4AA8-A1DE-3C52D543444A}" type="slidenum">
              <a:rPr lang="zh-CN" altLang="en-US" smtClean="0"/>
              <a:t>‹#›</a:t>
            </a:fld>
            <a:endParaRPr lang="zh-CN" altLang="en-US"/>
          </a:p>
        </p:txBody>
      </p:sp>
      <p:pic>
        <p:nvPicPr>
          <p:cNvPr id="12" name="Picture 5"/>
          <p:cNvPicPr>
            <a:picLocks noChangeAspect="1"/>
          </p:cNvPicPr>
          <p:nvPr userDrawn="1"/>
        </p:nvPicPr>
        <p:blipFill rotWithShape="1">
          <a:blip r:embed="rId5"/>
          <a:srcRect r="40382"/>
          <a:stretch>
            <a:fillRect/>
          </a:stretch>
        </p:blipFill>
        <p:spPr>
          <a:xfrm>
            <a:off x="10633781" y="6334838"/>
            <a:ext cx="1050219" cy="246221"/>
          </a:xfrm>
          <a:prstGeom prst="rect">
            <a:avLst/>
          </a:prstGeom>
        </p:spPr>
      </p:pic>
    </p:spTree>
    <p:extLst>
      <p:ext uri="{BB962C8B-B14F-4D97-AF65-F5344CB8AC3E}">
        <p14:creationId xmlns:p14="http://schemas.microsoft.com/office/powerpoint/2010/main" val="432154055"/>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9" r:id="rId3"/>
  </p:sldLayoutIdLst>
  <p:hf hdr="0" dt="0"/>
  <p:txStyles>
    <p:titleStyle>
      <a:lvl1pPr algn="l" rtl="0" eaLnBrk="0" fontAlgn="base" hangingPunct="0">
        <a:spcBef>
          <a:spcPct val="0"/>
        </a:spcBef>
        <a:spcAft>
          <a:spcPct val="0"/>
        </a:spcAft>
        <a:defRPr sz="3467" b="1">
          <a:solidFill>
            <a:schemeClr val="tx2"/>
          </a:solidFill>
          <a:latin typeface="+mj-lt"/>
          <a:ea typeface="+mj-ea"/>
          <a:cs typeface="+mj-cs"/>
        </a:defRPr>
      </a:lvl1pPr>
      <a:lvl2pPr algn="l" rtl="0" eaLnBrk="0" fontAlgn="base" hangingPunct="0">
        <a:spcBef>
          <a:spcPct val="0"/>
        </a:spcBef>
        <a:spcAft>
          <a:spcPct val="0"/>
        </a:spcAft>
        <a:defRPr sz="3467" b="1">
          <a:solidFill>
            <a:srgbClr val="C7000B"/>
          </a:solidFill>
          <a:latin typeface="Myriad Pro" pitchFamily="34" charset="0"/>
          <a:ea typeface="方正兰亭黑6_GBK" pitchFamily="2" charset="-122"/>
        </a:defRPr>
      </a:lvl2pPr>
      <a:lvl3pPr algn="l" rtl="0" eaLnBrk="0" fontAlgn="base" hangingPunct="0">
        <a:spcBef>
          <a:spcPct val="0"/>
        </a:spcBef>
        <a:spcAft>
          <a:spcPct val="0"/>
        </a:spcAft>
        <a:defRPr sz="3467" b="1">
          <a:solidFill>
            <a:srgbClr val="C7000B"/>
          </a:solidFill>
          <a:latin typeface="Myriad Pro" pitchFamily="34" charset="0"/>
          <a:ea typeface="方正兰亭黑6_GBK" pitchFamily="2" charset="-122"/>
        </a:defRPr>
      </a:lvl3pPr>
      <a:lvl4pPr algn="l" rtl="0" eaLnBrk="0" fontAlgn="base" hangingPunct="0">
        <a:spcBef>
          <a:spcPct val="0"/>
        </a:spcBef>
        <a:spcAft>
          <a:spcPct val="0"/>
        </a:spcAft>
        <a:defRPr sz="3467" b="1">
          <a:solidFill>
            <a:srgbClr val="C7000B"/>
          </a:solidFill>
          <a:latin typeface="Myriad Pro" pitchFamily="34" charset="0"/>
          <a:ea typeface="方正兰亭黑6_GBK" pitchFamily="2" charset="-122"/>
        </a:defRPr>
      </a:lvl4pPr>
      <a:lvl5pPr algn="l" rtl="0" eaLnBrk="0" fontAlgn="base" hangingPunct="0">
        <a:spcBef>
          <a:spcPct val="0"/>
        </a:spcBef>
        <a:spcAft>
          <a:spcPct val="0"/>
        </a:spcAft>
        <a:defRPr sz="3467" b="1">
          <a:solidFill>
            <a:srgbClr val="C7000B"/>
          </a:solidFill>
          <a:latin typeface="Myriad Pro" pitchFamily="34" charset="0"/>
          <a:ea typeface="方正兰亭黑6_GBK" pitchFamily="2" charset="-122"/>
        </a:defRPr>
      </a:lvl5pPr>
      <a:lvl6pPr marL="609585" algn="l" rtl="0" fontAlgn="base">
        <a:spcBef>
          <a:spcPct val="0"/>
        </a:spcBef>
        <a:spcAft>
          <a:spcPct val="0"/>
        </a:spcAft>
        <a:defRPr sz="3467" b="1">
          <a:solidFill>
            <a:srgbClr val="C7000B"/>
          </a:solidFill>
          <a:latin typeface="Myriad Pro" pitchFamily="34" charset="0"/>
          <a:ea typeface="方正兰亭黑6_GBK" pitchFamily="2" charset="-122"/>
        </a:defRPr>
      </a:lvl6pPr>
      <a:lvl7pPr marL="1219170" algn="l" rtl="0" fontAlgn="base">
        <a:spcBef>
          <a:spcPct val="0"/>
        </a:spcBef>
        <a:spcAft>
          <a:spcPct val="0"/>
        </a:spcAft>
        <a:defRPr sz="3467" b="1">
          <a:solidFill>
            <a:srgbClr val="C7000B"/>
          </a:solidFill>
          <a:latin typeface="Myriad Pro" pitchFamily="34" charset="0"/>
          <a:ea typeface="方正兰亭黑6_GBK" pitchFamily="2" charset="-122"/>
        </a:defRPr>
      </a:lvl7pPr>
      <a:lvl8pPr marL="1828754" algn="l" rtl="0" fontAlgn="base">
        <a:spcBef>
          <a:spcPct val="0"/>
        </a:spcBef>
        <a:spcAft>
          <a:spcPct val="0"/>
        </a:spcAft>
        <a:defRPr sz="3467" b="1">
          <a:solidFill>
            <a:srgbClr val="C7000B"/>
          </a:solidFill>
          <a:latin typeface="Myriad Pro" pitchFamily="34" charset="0"/>
          <a:ea typeface="方正兰亭黑6_GBK" pitchFamily="2" charset="-122"/>
        </a:defRPr>
      </a:lvl8pPr>
      <a:lvl9pPr marL="2438339" algn="l" rtl="0" fontAlgn="base">
        <a:spcBef>
          <a:spcPct val="0"/>
        </a:spcBef>
        <a:spcAft>
          <a:spcPct val="0"/>
        </a:spcAft>
        <a:defRPr sz="3467" b="1">
          <a:solidFill>
            <a:srgbClr val="C7000B"/>
          </a:solidFill>
          <a:latin typeface="Myriad Pro" pitchFamily="34" charset="0"/>
          <a:ea typeface="方正兰亭黑6_GBK" pitchFamily="2" charset="-122"/>
        </a:defRPr>
      </a:lvl9pPr>
    </p:titleStyle>
    <p:bodyStyle>
      <a:lvl1pPr marL="457189" indent="-457189" algn="l" rtl="0" eaLnBrk="0" fontAlgn="base" hangingPunct="0">
        <a:lnSpc>
          <a:spcPct val="120000"/>
        </a:lnSpc>
        <a:spcBef>
          <a:spcPct val="0"/>
        </a:spcBef>
        <a:spcAft>
          <a:spcPct val="0"/>
        </a:spcAft>
        <a:buClr>
          <a:srgbClr val="B3B3B3"/>
        </a:buClr>
        <a:buFont typeface="Wingdings" panose="05000000000000000000" pitchFamily="2" charset="2"/>
        <a:buChar char="l"/>
        <a:defRPr sz="2667">
          <a:solidFill>
            <a:srgbClr val="4D4D4D"/>
          </a:solidFill>
          <a:latin typeface="+mn-lt"/>
          <a:ea typeface="+mn-ea"/>
          <a:cs typeface="+mn-cs"/>
        </a:defRPr>
      </a:lvl1pPr>
      <a:lvl2pPr marL="990575" indent="-380990" algn="l" rtl="0" eaLnBrk="0" fontAlgn="base" hangingPunct="0">
        <a:lnSpc>
          <a:spcPct val="120000"/>
        </a:lnSpc>
        <a:spcBef>
          <a:spcPct val="0"/>
        </a:spcBef>
        <a:spcAft>
          <a:spcPct val="0"/>
        </a:spcAft>
        <a:buClr>
          <a:srgbClr val="B3B3B3"/>
        </a:buClr>
        <a:buFont typeface="Wingdings" panose="05000000000000000000" pitchFamily="2" charset="2"/>
        <a:buChar char="l"/>
        <a:defRPr>
          <a:solidFill>
            <a:srgbClr val="4D4D4D"/>
          </a:solidFill>
          <a:latin typeface="+mn-lt"/>
          <a:ea typeface="+mn-ea"/>
        </a:defRPr>
      </a:lvl2pPr>
      <a:lvl3pPr marL="1523962" indent="-304792" algn="l" rtl="0" eaLnBrk="0" fontAlgn="base" hangingPunct="0">
        <a:lnSpc>
          <a:spcPct val="120000"/>
        </a:lnSpc>
        <a:spcBef>
          <a:spcPct val="0"/>
        </a:spcBef>
        <a:spcAft>
          <a:spcPct val="0"/>
        </a:spcAft>
        <a:buClr>
          <a:srgbClr val="B3B3B3"/>
        </a:buClr>
        <a:buFont typeface="Wingdings" panose="05000000000000000000" pitchFamily="2" charset="2"/>
        <a:buChar char="l"/>
        <a:defRPr sz="2133">
          <a:solidFill>
            <a:srgbClr val="4D4D4D"/>
          </a:solidFill>
          <a:latin typeface="+mn-lt"/>
          <a:ea typeface="+mn-ea"/>
        </a:defRPr>
      </a:lvl3pPr>
      <a:lvl4pPr marL="2133547" indent="-304792" algn="l" rtl="0" eaLnBrk="0" fontAlgn="base" hangingPunct="0">
        <a:lnSpc>
          <a:spcPct val="120000"/>
        </a:lnSpc>
        <a:spcBef>
          <a:spcPct val="0"/>
        </a:spcBef>
        <a:spcAft>
          <a:spcPct val="0"/>
        </a:spcAft>
        <a:buClr>
          <a:srgbClr val="B3B3B3"/>
        </a:buClr>
        <a:buFont typeface="Wingdings" panose="05000000000000000000" pitchFamily="2" charset="2"/>
        <a:buChar char="l"/>
        <a:defRPr sz="1867">
          <a:solidFill>
            <a:srgbClr val="4D4D4D"/>
          </a:solidFill>
          <a:latin typeface="+mn-lt"/>
          <a:ea typeface="+mn-ea"/>
        </a:defRPr>
      </a:lvl4pPr>
      <a:lvl5pPr marL="2743131" indent="-304792" algn="l" rtl="0" eaLnBrk="0" fontAlgn="base" hangingPunct="0">
        <a:spcBef>
          <a:spcPct val="20000"/>
        </a:spcBef>
        <a:spcAft>
          <a:spcPct val="0"/>
        </a:spcAft>
        <a:buChar char="»"/>
        <a:defRPr sz="2667">
          <a:solidFill>
            <a:schemeClr val="tx1"/>
          </a:solidFill>
          <a:latin typeface="Arial" panose="020B0604020202020204" pitchFamily="34" charset="0"/>
          <a:ea typeface="宋体" panose="02010600030101010101" pitchFamily="2" charset="-122"/>
        </a:defRPr>
      </a:lvl5pPr>
      <a:lvl6pPr marL="3352716" indent="-304792" algn="l" rtl="0" fontAlgn="base">
        <a:spcBef>
          <a:spcPct val="20000"/>
        </a:spcBef>
        <a:spcAft>
          <a:spcPct val="0"/>
        </a:spcAft>
        <a:buChar char="»"/>
        <a:defRPr sz="2667">
          <a:solidFill>
            <a:schemeClr val="tx1"/>
          </a:solidFill>
          <a:latin typeface="Arial" panose="020B0604020202020204" pitchFamily="34" charset="0"/>
          <a:ea typeface="宋体" panose="02010600030101010101" pitchFamily="2" charset="-122"/>
        </a:defRPr>
      </a:lvl6pPr>
      <a:lvl7pPr marL="3962301" indent="-304792" algn="l" rtl="0" fontAlgn="base">
        <a:spcBef>
          <a:spcPct val="20000"/>
        </a:spcBef>
        <a:spcAft>
          <a:spcPct val="0"/>
        </a:spcAft>
        <a:buChar char="»"/>
        <a:defRPr sz="2667">
          <a:solidFill>
            <a:schemeClr val="tx1"/>
          </a:solidFill>
          <a:latin typeface="Arial" panose="020B0604020202020204" pitchFamily="34" charset="0"/>
          <a:ea typeface="宋体" panose="02010600030101010101" pitchFamily="2" charset="-122"/>
        </a:defRPr>
      </a:lvl7pPr>
      <a:lvl8pPr marL="4571886" indent="-304792" algn="l" rtl="0" fontAlgn="base">
        <a:spcBef>
          <a:spcPct val="20000"/>
        </a:spcBef>
        <a:spcAft>
          <a:spcPct val="0"/>
        </a:spcAft>
        <a:buChar char="»"/>
        <a:defRPr sz="2667">
          <a:solidFill>
            <a:schemeClr val="tx1"/>
          </a:solidFill>
          <a:latin typeface="Arial" panose="020B0604020202020204" pitchFamily="34" charset="0"/>
          <a:ea typeface="宋体" panose="02010600030101010101" pitchFamily="2" charset="-122"/>
        </a:defRPr>
      </a:lvl8pPr>
      <a:lvl9pPr marL="5181470" indent="-304792" algn="l" rtl="0" fontAlgn="base">
        <a:spcBef>
          <a:spcPct val="20000"/>
        </a:spcBef>
        <a:spcAft>
          <a:spcPct val="0"/>
        </a:spcAft>
        <a:buChar char="»"/>
        <a:defRPr sz="2667">
          <a:solidFill>
            <a:schemeClr val="tx1"/>
          </a:solidFill>
          <a:latin typeface="Arial" panose="020B0604020202020204" pitchFamily="34" charset="0"/>
          <a:ea typeface="宋体" panose="02010600030101010101" pitchFamily="2" charset="-122"/>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3" Type="http://schemas.openxmlformats.org/officeDocument/2006/relationships/image" Target="../media/image22.png"/><Relationship Id="rId18" Type="http://schemas.openxmlformats.org/officeDocument/2006/relationships/image" Target="../media/image27.svg"/><Relationship Id="rId26" Type="http://schemas.openxmlformats.org/officeDocument/2006/relationships/image" Target="../media/image35.svg"/><Relationship Id="rId21" Type="http://schemas.openxmlformats.org/officeDocument/2006/relationships/image" Target="../media/image30.png"/><Relationship Id="rId34" Type="http://schemas.openxmlformats.org/officeDocument/2006/relationships/image" Target="../media/image43.sv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svg"/><Relationship Id="rId2" Type="http://schemas.openxmlformats.org/officeDocument/2006/relationships/notesSlide" Target="../notesSlides/notesSlide2.xml"/><Relationship Id="rId16" Type="http://schemas.openxmlformats.org/officeDocument/2006/relationships/image" Target="../media/image25.svg"/><Relationship Id="rId20" Type="http://schemas.openxmlformats.org/officeDocument/2006/relationships/image" Target="../media/image29.svg"/><Relationship Id="rId29" Type="http://schemas.openxmlformats.org/officeDocument/2006/relationships/image" Target="../media/image38.png"/><Relationship Id="rId1" Type="http://schemas.openxmlformats.org/officeDocument/2006/relationships/slideLayout" Target="../slideLayouts/slideLayout46.xml"/><Relationship Id="rId6" Type="http://schemas.openxmlformats.org/officeDocument/2006/relationships/image" Target="../media/image15.svg"/><Relationship Id="rId11" Type="http://schemas.openxmlformats.org/officeDocument/2006/relationships/image" Target="../media/image20.png"/><Relationship Id="rId24" Type="http://schemas.openxmlformats.org/officeDocument/2006/relationships/image" Target="../media/image33.svg"/><Relationship Id="rId32" Type="http://schemas.openxmlformats.org/officeDocument/2006/relationships/image" Target="../media/image41.svg"/><Relationship Id="rId37" Type="http://schemas.openxmlformats.org/officeDocument/2006/relationships/image" Target="../media/image46.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svg"/><Relationship Id="rId36" Type="http://schemas.openxmlformats.org/officeDocument/2006/relationships/image" Target="../media/image45.svg"/><Relationship Id="rId10" Type="http://schemas.openxmlformats.org/officeDocument/2006/relationships/image" Target="../media/image19.svg"/><Relationship Id="rId19" Type="http://schemas.openxmlformats.org/officeDocument/2006/relationships/image" Target="../media/image28.png"/><Relationship Id="rId31" Type="http://schemas.openxmlformats.org/officeDocument/2006/relationships/image" Target="../media/image40.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 Id="rId22" Type="http://schemas.openxmlformats.org/officeDocument/2006/relationships/image" Target="../media/image31.svg"/><Relationship Id="rId27" Type="http://schemas.openxmlformats.org/officeDocument/2006/relationships/image" Target="../media/image36.png"/><Relationship Id="rId30" Type="http://schemas.openxmlformats.org/officeDocument/2006/relationships/image" Target="../media/image39.svg"/><Relationship Id="rId35" Type="http://schemas.openxmlformats.org/officeDocument/2006/relationships/image" Target="../media/image44.png"/><Relationship Id="rId8" Type="http://schemas.openxmlformats.org/officeDocument/2006/relationships/image" Target="../media/image17.svg"/><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svg"/><Relationship Id="rId2" Type="http://schemas.openxmlformats.org/officeDocument/2006/relationships/notesSlide" Target="../notesSlides/notesSlide3.xml"/><Relationship Id="rId1" Type="http://schemas.openxmlformats.org/officeDocument/2006/relationships/slideLayout" Target="../slideLayouts/slideLayout46.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slides/_rels/slide4.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4.xml"/><Relationship Id="rId1" Type="http://schemas.openxmlformats.org/officeDocument/2006/relationships/slideLayout" Target="../slideLayouts/slideLayout46.xml"/><Relationship Id="rId6" Type="http://schemas.openxmlformats.org/officeDocument/2006/relationships/image" Target="../media/image61.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png"/></Relationships>
</file>

<file path=ppt/slides/_rels/slide5.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svg"/><Relationship Id="rId2" Type="http://schemas.openxmlformats.org/officeDocument/2006/relationships/notesSlide" Target="../notesSlides/notesSlide5.xml"/><Relationship Id="rId1" Type="http://schemas.openxmlformats.org/officeDocument/2006/relationships/slideLayout" Target="../slideLayouts/slideLayout46.xml"/><Relationship Id="rId6" Type="http://schemas.openxmlformats.org/officeDocument/2006/relationships/image" Target="../media/image69.sv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svg"/><Relationship Id="rId4" Type="http://schemas.openxmlformats.org/officeDocument/2006/relationships/image" Target="../media/image67.svg"/><Relationship Id="rId9" Type="http://schemas.openxmlformats.org/officeDocument/2006/relationships/image" Target="../media/image72.png"/><Relationship Id="rId14" Type="http://schemas.openxmlformats.org/officeDocument/2006/relationships/image" Target="../media/image77.svg"/></Relationships>
</file>

<file path=ppt/slides/_rels/slide6.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6.xml"/><Relationship Id="rId1" Type="http://schemas.openxmlformats.org/officeDocument/2006/relationships/slideLayout" Target="../slideLayouts/slideLayout46.xml"/><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79.svg"/></Relationships>
</file>

<file path=ppt/slides/_rels/slide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xml"/><Relationship Id="rId1" Type="http://schemas.openxmlformats.org/officeDocument/2006/relationships/slideLayout" Target="../slideLayouts/slideLayout46.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8" Type="http://schemas.openxmlformats.org/officeDocument/2006/relationships/tags" Target="../tags/tag132.xml"/><Relationship Id="rId13" Type="http://schemas.openxmlformats.org/officeDocument/2006/relationships/tags" Target="../tags/tag137.xml"/><Relationship Id="rId18" Type="http://schemas.openxmlformats.org/officeDocument/2006/relationships/image" Target="../media/image87.png"/><Relationship Id="rId3" Type="http://schemas.openxmlformats.org/officeDocument/2006/relationships/tags" Target="../tags/tag127.xml"/><Relationship Id="rId21" Type="http://schemas.openxmlformats.org/officeDocument/2006/relationships/image" Target="../media/image90.svg"/><Relationship Id="rId7" Type="http://schemas.openxmlformats.org/officeDocument/2006/relationships/tags" Target="../tags/tag131.xml"/><Relationship Id="rId12" Type="http://schemas.openxmlformats.org/officeDocument/2006/relationships/tags" Target="../tags/tag136.xml"/><Relationship Id="rId17" Type="http://schemas.openxmlformats.org/officeDocument/2006/relationships/image" Target="../media/image86.svg"/><Relationship Id="rId2" Type="http://schemas.openxmlformats.org/officeDocument/2006/relationships/tags" Target="../tags/tag126.xml"/><Relationship Id="rId16" Type="http://schemas.openxmlformats.org/officeDocument/2006/relationships/image" Target="../media/image85.png"/><Relationship Id="rId20" Type="http://schemas.openxmlformats.org/officeDocument/2006/relationships/image" Target="../media/image89.png"/><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tags" Target="../tags/tag135.xml"/><Relationship Id="rId5" Type="http://schemas.openxmlformats.org/officeDocument/2006/relationships/tags" Target="../tags/tag129.xml"/><Relationship Id="rId15" Type="http://schemas.openxmlformats.org/officeDocument/2006/relationships/notesSlide" Target="../notesSlides/notesSlide8.xml"/><Relationship Id="rId10" Type="http://schemas.openxmlformats.org/officeDocument/2006/relationships/tags" Target="../tags/tag134.xml"/><Relationship Id="rId19" Type="http://schemas.openxmlformats.org/officeDocument/2006/relationships/image" Target="../media/image88.svg"/><Relationship Id="rId4" Type="http://schemas.openxmlformats.org/officeDocument/2006/relationships/tags" Target="../tags/tag128.xml"/><Relationship Id="rId9" Type="http://schemas.openxmlformats.org/officeDocument/2006/relationships/tags" Target="../tags/tag133.xml"/><Relationship Id="rId14" Type="http://schemas.openxmlformats.org/officeDocument/2006/relationships/slideLayout" Target="../slideLayouts/slideLayout46.xml"/><Relationship Id="rId22" Type="http://schemas.openxmlformats.org/officeDocument/2006/relationships/image" Target="../media/image91.png"/></Relationships>
</file>

<file path=ppt/slides/_rels/slide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9.xml"/><Relationship Id="rId1" Type="http://schemas.openxmlformats.org/officeDocument/2006/relationships/slideLayout" Target="../slideLayouts/slideLayout46.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svg"/></Relationships>
</file>

<file path=ppt/slides/_rels/slide1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64D6E3A-BBBA-45D0-AAAE-EAF7B0BED08D}"/>
              </a:ext>
            </a:extLst>
          </p:cNvPr>
          <p:cNvSpPr txBox="1">
            <a:spLocks/>
          </p:cNvSpPr>
          <p:nvPr/>
        </p:nvSpPr>
        <p:spPr>
          <a:xfrm>
            <a:off x="0" y="2203297"/>
            <a:ext cx="12192000" cy="1855746"/>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pPr algn="ctr">
              <a:lnSpc>
                <a:spcPct val="150000"/>
              </a:lnSpc>
            </a:pPr>
            <a:r>
              <a:rPr lang="en-US" altLang="zh-CN" sz="5400" b="1" dirty="0" err="1">
                <a:solidFill>
                  <a:schemeClr val="bg1"/>
                </a:solidFill>
                <a:latin typeface="微软雅黑" panose="020B0503020204020204" pitchFamily="34" charset="-122"/>
                <a:ea typeface="微软雅黑" panose="020B0503020204020204" pitchFamily="34" charset="-122"/>
                <a:sym typeface="Noto Sans SC"/>
              </a:rPr>
              <a:t>渠道能力评估模型</a:t>
            </a:r>
            <a:r>
              <a:rPr lang="en-US" altLang="zh-CN" sz="5400" b="1" dirty="0">
                <a:solidFill>
                  <a:schemeClr val="bg1"/>
                </a:solidFill>
                <a:latin typeface="微软雅黑" panose="020B0503020204020204" pitchFamily="34" charset="-122"/>
                <a:ea typeface="微软雅黑" panose="020B0503020204020204" pitchFamily="34" charset="-122"/>
                <a:sym typeface="Noto Sans SC"/>
              </a:rPr>
              <a:t>-CSA 2.0</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lnSpc>
                <a:spcPct val="150000"/>
              </a:lnSpc>
            </a:pPr>
            <a:r>
              <a:rPr lang="en-US" altLang="zh-CN" sz="3500" b="1" dirty="0">
                <a:solidFill>
                  <a:schemeClr val="bg1"/>
                </a:solidFill>
                <a:latin typeface="微软雅黑" panose="020B0503020204020204" pitchFamily="34" charset="-122"/>
                <a:ea typeface="微软雅黑" panose="020B0503020204020204" pitchFamily="34" charset="-122"/>
                <a:sym typeface="Noto Sans SC"/>
              </a:rPr>
              <a:t>——</a:t>
            </a:r>
            <a:r>
              <a:rPr lang="en-US" altLang="zh-CN" sz="3500" b="1" dirty="0" err="1">
                <a:solidFill>
                  <a:schemeClr val="bg1"/>
                </a:solidFill>
                <a:latin typeface="微软雅黑" panose="020B0503020204020204" pitchFamily="34" charset="-122"/>
                <a:ea typeface="微软雅黑" panose="020B0503020204020204" pitchFamily="34" charset="-122"/>
                <a:sym typeface="Noto Sans SC"/>
              </a:rPr>
              <a:t>渠道人员能力盘点与发展指南</a:t>
            </a:r>
            <a:endParaRPr lang="en-US" altLang="zh-CN" sz="35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2424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13093" y="103169"/>
            <a:ext cx="10491628" cy="640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219200">
              <a:defRPr/>
            </a:pPr>
            <a:r>
              <a:rPr lang="zh-CN" altLang="en-US"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部门重点工作</a:t>
            </a:r>
            <a:r>
              <a:rPr lang="en-US" altLang="zh-CN"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渠道能力建设</a:t>
            </a:r>
          </a:p>
        </p:txBody>
      </p:sp>
      <p:grpSp>
        <p:nvGrpSpPr>
          <p:cNvPr id="30" name="组合 29"/>
          <p:cNvGrpSpPr/>
          <p:nvPr/>
        </p:nvGrpSpPr>
        <p:grpSpPr>
          <a:xfrm>
            <a:off x="69850" y="134620"/>
            <a:ext cx="11892280" cy="590550"/>
            <a:chOff x="110" y="212"/>
            <a:chExt cx="18728" cy="930"/>
          </a:xfrm>
        </p:grpSpPr>
        <p:cxnSp>
          <p:nvCxnSpPr>
            <p:cNvPr id="2" name="直接连接符 1"/>
            <p:cNvCxnSpPr/>
            <p:nvPr/>
          </p:nvCxnSpPr>
          <p:spPr>
            <a:xfrm>
              <a:off x="296" y="1142"/>
              <a:ext cx="18542" cy="0"/>
            </a:xfrm>
            <a:prstGeom prst="line">
              <a:avLst/>
            </a:prstGeom>
          </p:spPr>
          <p:style>
            <a:lnRef idx="2">
              <a:schemeClr val="accent1"/>
            </a:lnRef>
            <a:fillRef idx="0">
              <a:srgbClr val="FFFFFF"/>
            </a:fillRef>
            <a:effectRef idx="0">
              <a:srgbClr val="FFFFFF"/>
            </a:effectRef>
            <a:fontRef idx="minor">
              <a:schemeClr val="tx1"/>
            </a:fontRef>
          </p:style>
        </p:cxnSp>
        <p:sp>
          <p:nvSpPr>
            <p:cNvPr id="7" name="矩形 6"/>
            <p:cNvSpPr/>
            <p:nvPr/>
          </p:nvSpPr>
          <p:spPr>
            <a:xfrm>
              <a:off x="110" y="212"/>
              <a:ext cx="341" cy="61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nvSpPr>
          <p:spPr>
            <a:xfrm>
              <a:off x="310" y="412"/>
              <a:ext cx="341" cy="611"/>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8" name="AutoShape 3">
            <a:extLst>
              <a:ext uri="{FF2B5EF4-FFF2-40B4-BE49-F238E27FC236}">
                <a16:creationId xmlns:a16="http://schemas.microsoft.com/office/drawing/2014/main" id="{F61FDEEF-C135-429B-A80C-DF15259BEEAC}"/>
              </a:ext>
            </a:extLst>
          </p:cNvPr>
          <p:cNvSpPr/>
          <p:nvPr/>
        </p:nvSpPr>
        <p:spPr>
          <a:xfrm>
            <a:off x="452245" y="1082906"/>
            <a:ext cx="3556000" cy="4622800"/>
          </a:xfrm>
          <a:prstGeom prst="roundRect">
            <a:avLst>
              <a:gd name="adj" fmla="val 357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cs typeface="Arial"/>
              <a:sym typeface="Arial"/>
            </a:endParaRPr>
          </a:p>
        </p:txBody>
      </p:sp>
      <p:pic>
        <p:nvPicPr>
          <p:cNvPr id="10" name="Picture 4">
            <a:extLst>
              <a:ext uri="{FF2B5EF4-FFF2-40B4-BE49-F238E27FC236}">
                <a16:creationId xmlns:a16="http://schemas.microsoft.com/office/drawing/2014/main" id="{624369F9-B38A-497C-8832-F5A29D0C705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5445" y="1286106"/>
            <a:ext cx="304800" cy="304800"/>
          </a:xfrm>
          <a:prstGeom prst="rect">
            <a:avLst/>
          </a:prstGeom>
        </p:spPr>
      </p:pic>
      <p:sp>
        <p:nvSpPr>
          <p:cNvPr id="11" name="AutoShape 5">
            <a:extLst>
              <a:ext uri="{FF2B5EF4-FFF2-40B4-BE49-F238E27FC236}">
                <a16:creationId xmlns:a16="http://schemas.microsoft.com/office/drawing/2014/main" id="{F868675B-6829-46B9-8C44-866FA646BE34}"/>
              </a:ext>
            </a:extLst>
          </p:cNvPr>
          <p:cNvSpPr/>
          <p:nvPr/>
        </p:nvSpPr>
        <p:spPr>
          <a:xfrm>
            <a:off x="1061845" y="1260706"/>
            <a:ext cx="2540000" cy="3556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0052CC"/>
                </a:solidFill>
                <a:ea typeface="Noto Sans SC"/>
                <a:cs typeface="Noto Sans SC"/>
                <a:sym typeface="Noto Sans SC"/>
              </a:rPr>
              <a:t>客户需求深度洞察</a:t>
            </a:r>
            <a:endParaRPr lang="en-US" sz="1100" kern="0">
              <a:solidFill>
                <a:srgbClr val="000000"/>
              </a:solidFill>
              <a:cs typeface="Arial"/>
              <a:sym typeface="Arial"/>
            </a:endParaRPr>
          </a:p>
        </p:txBody>
      </p:sp>
      <p:cxnSp>
        <p:nvCxnSpPr>
          <p:cNvPr id="12" name="Connector 6">
            <a:extLst>
              <a:ext uri="{FF2B5EF4-FFF2-40B4-BE49-F238E27FC236}">
                <a16:creationId xmlns:a16="http://schemas.microsoft.com/office/drawing/2014/main" id="{F71031FA-5C38-4F13-BA25-C0C232E07BE2}"/>
              </a:ext>
            </a:extLst>
          </p:cNvPr>
          <p:cNvCxnSpPr/>
          <p:nvPr/>
        </p:nvCxnSpPr>
        <p:spPr>
          <a:xfrm rot="-13861">
            <a:off x="655458" y="1660756"/>
            <a:ext cx="31496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pic>
        <p:nvPicPr>
          <p:cNvPr id="14" name="Picture 7">
            <a:extLst>
              <a:ext uri="{FF2B5EF4-FFF2-40B4-BE49-F238E27FC236}">
                <a16:creationId xmlns:a16="http://schemas.microsoft.com/office/drawing/2014/main" id="{92FD009B-38E7-4FAE-AA76-2372771E67E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445" y="1856057"/>
            <a:ext cx="254000" cy="254000"/>
          </a:xfrm>
          <a:prstGeom prst="rect">
            <a:avLst/>
          </a:prstGeom>
        </p:spPr>
      </p:pic>
      <p:sp>
        <p:nvSpPr>
          <p:cNvPr id="15" name="AutoShape 8">
            <a:extLst>
              <a:ext uri="{FF2B5EF4-FFF2-40B4-BE49-F238E27FC236}">
                <a16:creationId xmlns:a16="http://schemas.microsoft.com/office/drawing/2014/main" id="{125F0728-6722-462D-9017-739A170A9176}"/>
              </a:ext>
            </a:extLst>
          </p:cNvPr>
          <p:cNvSpPr/>
          <p:nvPr/>
        </p:nvSpPr>
        <p:spPr>
          <a:xfrm>
            <a:off x="960245" y="1830657"/>
            <a:ext cx="2921000" cy="3048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500" b="1" kern="0" dirty="0">
                <a:solidFill>
                  <a:srgbClr val="42526E"/>
                </a:solidFill>
                <a:ea typeface="Noto Sans SC"/>
                <a:cs typeface="Noto Sans SC"/>
                <a:sym typeface="Noto Sans SC"/>
              </a:rPr>
              <a:t>V1 </a:t>
            </a:r>
            <a:r>
              <a:rPr lang="en-US" sz="1500" b="1" kern="0" dirty="0" err="1">
                <a:solidFill>
                  <a:srgbClr val="42526E"/>
                </a:solidFill>
                <a:ea typeface="Noto Sans SC"/>
                <a:cs typeface="Noto Sans SC"/>
                <a:sym typeface="Noto Sans SC"/>
              </a:rPr>
              <a:t>客户核心诉求</a:t>
            </a:r>
            <a:endParaRPr lang="en-US" sz="1100" kern="0" dirty="0">
              <a:solidFill>
                <a:srgbClr val="000000"/>
              </a:solidFill>
              <a:cs typeface="Arial"/>
              <a:sym typeface="Arial"/>
            </a:endParaRPr>
          </a:p>
        </p:txBody>
      </p:sp>
      <p:pic>
        <p:nvPicPr>
          <p:cNvPr id="16" name="Picture 9">
            <a:extLst>
              <a:ext uri="{FF2B5EF4-FFF2-40B4-BE49-F238E27FC236}">
                <a16:creationId xmlns:a16="http://schemas.microsoft.com/office/drawing/2014/main" id="{C7846839-FD1F-4F56-92A4-E3470F13DFD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5445" y="2211657"/>
            <a:ext cx="203200" cy="203200"/>
          </a:xfrm>
          <a:prstGeom prst="rect">
            <a:avLst/>
          </a:prstGeom>
        </p:spPr>
      </p:pic>
      <p:sp>
        <p:nvSpPr>
          <p:cNvPr id="17" name="AutoShape 10">
            <a:extLst>
              <a:ext uri="{FF2B5EF4-FFF2-40B4-BE49-F238E27FC236}">
                <a16:creationId xmlns:a16="http://schemas.microsoft.com/office/drawing/2014/main" id="{5C34E4B9-DAC4-4D8F-8574-7408A84A5D6C}"/>
              </a:ext>
            </a:extLst>
          </p:cNvPr>
          <p:cNvSpPr/>
          <p:nvPr/>
        </p:nvSpPr>
        <p:spPr>
          <a:xfrm>
            <a:off x="909445" y="2085898"/>
            <a:ext cx="29718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200" b="1" kern="0" dirty="0" err="1">
                <a:solidFill>
                  <a:srgbClr val="646A73"/>
                </a:solidFill>
                <a:ea typeface="Noto Sans SC"/>
                <a:cs typeface="Noto Sans SC"/>
                <a:sym typeface="Noto Sans SC"/>
              </a:rPr>
              <a:t>医疗质量：</a:t>
            </a:r>
            <a:r>
              <a:rPr lang="en-US" sz="1200" kern="0" dirty="0" err="1">
                <a:solidFill>
                  <a:srgbClr val="8F959E"/>
                </a:solidFill>
                <a:ea typeface="Noto Sans SC"/>
                <a:cs typeface="Noto Sans SC"/>
                <a:sym typeface="Noto Sans SC"/>
              </a:rPr>
              <a:t>国考</a:t>
            </a:r>
            <a:r>
              <a:rPr lang="en-US" sz="1200" kern="0" dirty="0">
                <a:solidFill>
                  <a:srgbClr val="8F959E"/>
                </a:solidFill>
                <a:ea typeface="Noto Sans SC"/>
                <a:cs typeface="Noto Sans SC"/>
                <a:sym typeface="Noto Sans SC"/>
              </a:rPr>
              <a:t>/</a:t>
            </a:r>
            <a:r>
              <a:rPr lang="en-US" sz="1200" kern="0" dirty="0" err="1">
                <a:solidFill>
                  <a:srgbClr val="8F959E"/>
                </a:solidFill>
                <a:ea typeface="Noto Sans SC"/>
                <a:cs typeface="Noto Sans SC"/>
                <a:sym typeface="Noto Sans SC"/>
              </a:rPr>
              <a:t>省考通过率、异常结果解读</a:t>
            </a:r>
            <a:endParaRPr lang="en-US" sz="1100" kern="0" dirty="0">
              <a:solidFill>
                <a:srgbClr val="000000"/>
              </a:solidFill>
              <a:cs typeface="Arial"/>
              <a:sym typeface="Arial"/>
            </a:endParaRPr>
          </a:p>
        </p:txBody>
      </p:sp>
      <p:pic>
        <p:nvPicPr>
          <p:cNvPr id="18" name="Picture 11">
            <a:extLst>
              <a:ext uri="{FF2B5EF4-FFF2-40B4-BE49-F238E27FC236}">
                <a16:creationId xmlns:a16="http://schemas.microsoft.com/office/drawing/2014/main" id="{9890337E-D7DC-4AA0-8ABB-EF1635B96D9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4294" y="2631065"/>
            <a:ext cx="203200" cy="203200"/>
          </a:xfrm>
          <a:prstGeom prst="rect">
            <a:avLst/>
          </a:prstGeom>
        </p:spPr>
      </p:pic>
      <p:sp>
        <p:nvSpPr>
          <p:cNvPr id="19" name="AutoShape 12">
            <a:extLst>
              <a:ext uri="{FF2B5EF4-FFF2-40B4-BE49-F238E27FC236}">
                <a16:creationId xmlns:a16="http://schemas.microsoft.com/office/drawing/2014/main" id="{4E24B234-2B64-412C-B284-8DACB1B2F794}"/>
              </a:ext>
            </a:extLst>
          </p:cNvPr>
          <p:cNvSpPr/>
          <p:nvPr/>
        </p:nvSpPr>
        <p:spPr>
          <a:xfrm>
            <a:off x="898294" y="2483002"/>
            <a:ext cx="29718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200" b="1" kern="0" dirty="0" err="1">
                <a:solidFill>
                  <a:srgbClr val="646A73"/>
                </a:solidFill>
                <a:ea typeface="Noto Sans SC"/>
                <a:cs typeface="Noto Sans SC"/>
                <a:sym typeface="Noto Sans SC"/>
              </a:rPr>
              <a:t>运营效率：</a:t>
            </a:r>
            <a:r>
              <a:rPr lang="en-US" sz="1200" kern="0" dirty="0" err="1">
                <a:solidFill>
                  <a:srgbClr val="8F959E"/>
                </a:solidFill>
                <a:ea typeface="Noto Sans SC"/>
                <a:cs typeface="Noto Sans SC"/>
                <a:sym typeface="Noto Sans SC"/>
              </a:rPr>
              <a:t>新项目开单增收、重点临床开单</a:t>
            </a:r>
            <a:endParaRPr lang="en-US" sz="1100" kern="0" dirty="0">
              <a:solidFill>
                <a:srgbClr val="000000"/>
              </a:solidFill>
              <a:cs typeface="Arial"/>
              <a:sym typeface="Arial"/>
            </a:endParaRPr>
          </a:p>
        </p:txBody>
      </p:sp>
      <p:pic>
        <p:nvPicPr>
          <p:cNvPr id="20" name="Picture 13">
            <a:extLst>
              <a:ext uri="{FF2B5EF4-FFF2-40B4-BE49-F238E27FC236}">
                <a16:creationId xmlns:a16="http://schemas.microsoft.com/office/drawing/2014/main" id="{57DD31DF-A574-4BBA-9D68-165C347CEEB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5445" y="3017021"/>
            <a:ext cx="203200" cy="203200"/>
          </a:xfrm>
          <a:prstGeom prst="rect">
            <a:avLst/>
          </a:prstGeom>
        </p:spPr>
      </p:pic>
      <p:sp>
        <p:nvSpPr>
          <p:cNvPr id="21" name="AutoShape 14">
            <a:extLst>
              <a:ext uri="{FF2B5EF4-FFF2-40B4-BE49-F238E27FC236}">
                <a16:creationId xmlns:a16="http://schemas.microsoft.com/office/drawing/2014/main" id="{53F83747-164E-4451-9D4C-0BC9CB893F57}"/>
              </a:ext>
            </a:extLst>
          </p:cNvPr>
          <p:cNvSpPr/>
          <p:nvPr/>
        </p:nvSpPr>
        <p:spPr>
          <a:xfrm>
            <a:off x="909445" y="2969319"/>
            <a:ext cx="2895626"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200" b="1" kern="0" dirty="0" err="1">
                <a:solidFill>
                  <a:srgbClr val="646A73"/>
                </a:solidFill>
                <a:ea typeface="Noto Sans SC"/>
                <a:cs typeface="Noto Sans SC"/>
                <a:sym typeface="Noto Sans SC"/>
              </a:rPr>
              <a:t>学科发展：</a:t>
            </a:r>
            <a:r>
              <a:rPr lang="en-US" sz="1200" kern="0" dirty="0" err="1">
                <a:solidFill>
                  <a:srgbClr val="8F959E"/>
                </a:solidFill>
                <a:ea typeface="Noto Sans SC"/>
                <a:cs typeface="Noto Sans SC"/>
                <a:sym typeface="Noto Sans SC"/>
              </a:rPr>
              <a:t>课题合作、ISO评审、MDT业务支持</a:t>
            </a:r>
            <a:endParaRPr lang="en-US" sz="1100" kern="0" dirty="0">
              <a:solidFill>
                <a:srgbClr val="000000"/>
              </a:solidFill>
              <a:cs typeface="Arial"/>
              <a:sym typeface="Arial"/>
            </a:endParaRPr>
          </a:p>
        </p:txBody>
      </p:sp>
      <p:cxnSp>
        <p:nvCxnSpPr>
          <p:cNvPr id="22" name="Connector 15">
            <a:extLst>
              <a:ext uri="{FF2B5EF4-FFF2-40B4-BE49-F238E27FC236}">
                <a16:creationId xmlns:a16="http://schemas.microsoft.com/office/drawing/2014/main" id="{B32B2BD7-5908-42E9-85FF-B870145A23C8}"/>
              </a:ext>
            </a:extLst>
          </p:cNvPr>
          <p:cNvCxnSpPr/>
          <p:nvPr/>
        </p:nvCxnSpPr>
        <p:spPr>
          <a:xfrm rot="-13861">
            <a:off x="655458" y="3635141"/>
            <a:ext cx="31496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pic>
        <p:nvPicPr>
          <p:cNvPr id="23" name="Picture 16">
            <a:extLst>
              <a:ext uri="{FF2B5EF4-FFF2-40B4-BE49-F238E27FC236}">
                <a16:creationId xmlns:a16="http://schemas.microsoft.com/office/drawing/2014/main" id="{CFD84026-4D49-4F07-8919-2284ABC78DA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5445" y="3852744"/>
            <a:ext cx="254000" cy="254000"/>
          </a:xfrm>
          <a:prstGeom prst="rect">
            <a:avLst/>
          </a:prstGeom>
        </p:spPr>
      </p:pic>
      <p:sp>
        <p:nvSpPr>
          <p:cNvPr id="24" name="AutoShape 17">
            <a:extLst>
              <a:ext uri="{FF2B5EF4-FFF2-40B4-BE49-F238E27FC236}">
                <a16:creationId xmlns:a16="http://schemas.microsoft.com/office/drawing/2014/main" id="{001A22C7-FC9A-4D8F-BE63-124DAF68804E}"/>
              </a:ext>
            </a:extLst>
          </p:cNvPr>
          <p:cNvSpPr/>
          <p:nvPr/>
        </p:nvSpPr>
        <p:spPr>
          <a:xfrm>
            <a:off x="960245" y="3827344"/>
            <a:ext cx="2921000" cy="3048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500" b="1" kern="0" dirty="0" err="1">
                <a:solidFill>
                  <a:srgbClr val="42526E"/>
                </a:solidFill>
                <a:ea typeface="Noto Sans SC"/>
                <a:cs typeface="Noto Sans SC"/>
                <a:sym typeface="Noto Sans SC"/>
              </a:rPr>
              <a:t>县域客户核心诉求</a:t>
            </a:r>
            <a:endParaRPr lang="en-US" sz="1100" kern="0" dirty="0">
              <a:solidFill>
                <a:srgbClr val="000000"/>
              </a:solidFill>
              <a:cs typeface="Arial"/>
              <a:sym typeface="Arial"/>
            </a:endParaRPr>
          </a:p>
        </p:txBody>
      </p:sp>
      <p:pic>
        <p:nvPicPr>
          <p:cNvPr id="25" name="Picture 18">
            <a:extLst>
              <a:ext uri="{FF2B5EF4-FFF2-40B4-BE49-F238E27FC236}">
                <a16:creationId xmlns:a16="http://schemas.microsoft.com/office/drawing/2014/main" id="{74AFBA8E-BA31-4136-BFBC-759318E56EE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55445" y="4208344"/>
            <a:ext cx="203200" cy="203200"/>
          </a:xfrm>
          <a:prstGeom prst="rect">
            <a:avLst/>
          </a:prstGeom>
        </p:spPr>
      </p:pic>
      <p:sp>
        <p:nvSpPr>
          <p:cNvPr id="26" name="AutoShape 19">
            <a:extLst>
              <a:ext uri="{FF2B5EF4-FFF2-40B4-BE49-F238E27FC236}">
                <a16:creationId xmlns:a16="http://schemas.microsoft.com/office/drawing/2014/main" id="{4FE0285E-81EC-45FC-AC40-7B5AB0F686C6}"/>
              </a:ext>
            </a:extLst>
          </p:cNvPr>
          <p:cNvSpPr/>
          <p:nvPr/>
        </p:nvSpPr>
        <p:spPr>
          <a:xfrm>
            <a:off x="898294" y="4037981"/>
            <a:ext cx="29210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200" b="1" kern="0" dirty="0" err="1">
                <a:solidFill>
                  <a:srgbClr val="646A73"/>
                </a:solidFill>
                <a:ea typeface="Noto Sans SC"/>
                <a:cs typeface="Noto Sans SC"/>
                <a:sym typeface="Noto Sans SC"/>
              </a:rPr>
              <a:t>基础质量：</a:t>
            </a:r>
            <a:r>
              <a:rPr lang="en-US" sz="1200" kern="0" dirty="0" err="1">
                <a:solidFill>
                  <a:srgbClr val="8F959E"/>
                </a:solidFill>
                <a:ea typeface="Noto Sans SC"/>
                <a:cs typeface="Noto Sans SC"/>
                <a:sym typeface="Noto Sans SC"/>
              </a:rPr>
              <a:t>结果互认、体系改善、整体达标</a:t>
            </a:r>
            <a:endParaRPr lang="en-US" sz="1100" kern="0" dirty="0">
              <a:solidFill>
                <a:srgbClr val="000000"/>
              </a:solidFill>
              <a:cs typeface="Arial"/>
              <a:sym typeface="Arial"/>
            </a:endParaRPr>
          </a:p>
        </p:txBody>
      </p:sp>
      <p:pic>
        <p:nvPicPr>
          <p:cNvPr id="28" name="Picture 20">
            <a:extLst>
              <a:ext uri="{FF2B5EF4-FFF2-40B4-BE49-F238E27FC236}">
                <a16:creationId xmlns:a16="http://schemas.microsoft.com/office/drawing/2014/main" id="{3795A337-8AC4-4B5A-8E43-99C78F1F9F9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5445" y="4616601"/>
            <a:ext cx="203200" cy="203200"/>
          </a:xfrm>
          <a:prstGeom prst="rect">
            <a:avLst/>
          </a:prstGeom>
        </p:spPr>
      </p:pic>
      <p:sp>
        <p:nvSpPr>
          <p:cNvPr id="29" name="AutoShape 21">
            <a:extLst>
              <a:ext uri="{FF2B5EF4-FFF2-40B4-BE49-F238E27FC236}">
                <a16:creationId xmlns:a16="http://schemas.microsoft.com/office/drawing/2014/main" id="{0D10B92F-79C3-469D-A42E-A509C483FCA6}"/>
              </a:ext>
            </a:extLst>
          </p:cNvPr>
          <p:cNvSpPr/>
          <p:nvPr/>
        </p:nvSpPr>
        <p:spPr>
          <a:xfrm>
            <a:off x="898294" y="4479691"/>
            <a:ext cx="30988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200" b="1" kern="0" dirty="0" err="1">
                <a:solidFill>
                  <a:srgbClr val="646A73"/>
                </a:solidFill>
                <a:ea typeface="Noto Sans SC"/>
                <a:cs typeface="Noto Sans SC"/>
                <a:sym typeface="Noto Sans SC"/>
              </a:rPr>
              <a:t>降本增效：</a:t>
            </a:r>
            <a:r>
              <a:rPr lang="en-US" sz="1200" kern="0" dirty="0" err="1">
                <a:solidFill>
                  <a:srgbClr val="8F959E"/>
                </a:solidFill>
                <a:ea typeface="Noto Sans SC"/>
                <a:cs typeface="Noto Sans SC"/>
                <a:sym typeface="Noto Sans SC"/>
              </a:rPr>
              <a:t>合规运营、信息化建设</a:t>
            </a:r>
            <a:r>
              <a:rPr lang="zh-CN" altLang="en-US" sz="1200" kern="0" dirty="0">
                <a:solidFill>
                  <a:srgbClr val="8F959E"/>
                </a:solidFill>
                <a:ea typeface="Noto Sans SC"/>
                <a:cs typeface="Noto Sans SC"/>
                <a:sym typeface="Noto Sans SC"/>
              </a:rPr>
              <a:t>（区检）</a:t>
            </a:r>
            <a:r>
              <a:rPr lang="en-US" sz="1200" kern="0" dirty="0">
                <a:solidFill>
                  <a:srgbClr val="8F959E"/>
                </a:solidFill>
                <a:ea typeface="Noto Sans SC"/>
                <a:cs typeface="Noto Sans SC"/>
                <a:sym typeface="Noto Sans SC"/>
              </a:rPr>
              <a:t>、</a:t>
            </a:r>
            <a:r>
              <a:rPr lang="en-US" sz="1200" kern="0" dirty="0" err="1">
                <a:solidFill>
                  <a:srgbClr val="8F959E"/>
                </a:solidFill>
                <a:ea typeface="Noto Sans SC"/>
                <a:cs typeface="Noto Sans SC"/>
                <a:sym typeface="Noto Sans SC"/>
              </a:rPr>
              <a:t>降低成本</a:t>
            </a:r>
            <a:endParaRPr lang="en-US" sz="1100" kern="0" dirty="0">
              <a:solidFill>
                <a:srgbClr val="000000"/>
              </a:solidFill>
              <a:cs typeface="Arial"/>
              <a:sym typeface="Arial"/>
            </a:endParaRPr>
          </a:p>
        </p:txBody>
      </p:sp>
      <p:pic>
        <p:nvPicPr>
          <p:cNvPr id="31" name="Picture 22">
            <a:extLst>
              <a:ext uri="{FF2B5EF4-FFF2-40B4-BE49-F238E27FC236}">
                <a16:creationId xmlns:a16="http://schemas.microsoft.com/office/drawing/2014/main" id="{FB020130-BFC0-4546-A16B-866C8AA3C05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55445" y="5047160"/>
            <a:ext cx="203200" cy="203200"/>
          </a:xfrm>
          <a:prstGeom prst="rect">
            <a:avLst/>
          </a:prstGeom>
        </p:spPr>
      </p:pic>
      <p:sp>
        <p:nvSpPr>
          <p:cNvPr id="32" name="AutoShape 23">
            <a:extLst>
              <a:ext uri="{FF2B5EF4-FFF2-40B4-BE49-F238E27FC236}">
                <a16:creationId xmlns:a16="http://schemas.microsoft.com/office/drawing/2014/main" id="{142FD943-8C46-48C5-8282-7B7F99FA41E1}"/>
              </a:ext>
            </a:extLst>
          </p:cNvPr>
          <p:cNvSpPr/>
          <p:nvPr/>
        </p:nvSpPr>
        <p:spPr>
          <a:xfrm>
            <a:off x="909445" y="4887948"/>
            <a:ext cx="29210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200" b="1" kern="0" dirty="0" err="1">
                <a:solidFill>
                  <a:srgbClr val="646A73"/>
                </a:solidFill>
                <a:ea typeface="Noto Sans SC"/>
                <a:cs typeface="Noto Sans SC"/>
                <a:sym typeface="Noto Sans SC"/>
              </a:rPr>
              <a:t>能力提升：</a:t>
            </a:r>
            <a:r>
              <a:rPr lang="en-US" sz="1200" kern="0" dirty="0" err="1">
                <a:solidFill>
                  <a:srgbClr val="8F959E"/>
                </a:solidFill>
                <a:ea typeface="Noto Sans SC"/>
                <a:cs typeface="Noto Sans SC"/>
                <a:sym typeface="Noto Sans SC"/>
              </a:rPr>
              <a:t>临床沟通提升、科研挂名</a:t>
            </a:r>
            <a:endParaRPr lang="en-US" sz="1100" kern="0" dirty="0">
              <a:solidFill>
                <a:srgbClr val="000000"/>
              </a:solidFill>
              <a:cs typeface="Arial"/>
              <a:sym typeface="Arial"/>
            </a:endParaRPr>
          </a:p>
        </p:txBody>
      </p:sp>
      <p:sp>
        <p:nvSpPr>
          <p:cNvPr id="33" name="AutoShape 24">
            <a:extLst>
              <a:ext uri="{FF2B5EF4-FFF2-40B4-BE49-F238E27FC236}">
                <a16:creationId xmlns:a16="http://schemas.microsoft.com/office/drawing/2014/main" id="{BBD34314-6B37-4C8F-8A58-20837F05DFD8}"/>
              </a:ext>
            </a:extLst>
          </p:cNvPr>
          <p:cNvSpPr/>
          <p:nvPr/>
        </p:nvSpPr>
        <p:spPr>
          <a:xfrm>
            <a:off x="4262245" y="1082906"/>
            <a:ext cx="3556000" cy="4648200"/>
          </a:xfrm>
          <a:prstGeom prst="roundRect">
            <a:avLst>
              <a:gd name="adj" fmla="val 357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cs typeface="Arial"/>
              <a:sym typeface="Arial"/>
            </a:endParaRPr>
          </a:p>
        </p:txBody>
      </p:sp>
      <p:pic>
        <p:nvPicPr>
          <p:cNvPr id="34" name="Picture 25">
            <a:extLst>
              <a:ext uri="{FF2B5EF4-FFF2-40B4-BE49-F238E27FC236}">
                <a16:creationId xmlns:a16="http://schemas.microsoft.com/office/drawing/2014/main" id="{9978E3DF-1DB2-4FA2-9CF0-001A5F3DEB6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465445" y="1286106"/>
            <a:ext cx="304800" cy="304800"/>
          </a:xfrm>
          <a:prstGeom prst="rect">
            <a:avLst/>
          </a:prstGeom>
        </p:spPr>
      </p:pic>
      <p:sp>
        <p:nvSpPr>
          <p:cNvPr id="35" name="AutoShape 26">
            <a:extLst>
              <a:ext uri="{FF2B5EF4-FFF2-40B4-BE49-F238E27FC236}">
                <a16:creationId xmlns:a16="http://schemas.microsoft.com/office/drawing/2014/main" id="{BF913FE6-A1C4-47A3-A1AB-721C81AA6194}"/>
              </a:ext>
            </a:extLst>
          </p:cNvPr>
          <p:cNvSpPr/>
          <p:nvPr/>
        </p:nvSpPr>
        <p:spPr>
          <a:xfrm>
            <a:off x="4871845" y="1260706"/>
            <a:ext cx="2540000" cy="3556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dirty="0" err="1">
                <a:solidFill>
                  <a:srgbClr val="0052CC"/>
                </a:solidFill>
                <a:ea typeface="Noto Sans SC"/>
                <a:cs typeface="Noto Sans SC"/>
                <a:sym typeface="Noto Sans SC"/>
              </a:rPr>
              <a:t>友商服务对标</a:t>
            </a:r>
            <a:endParaRPr lang="en-US" sz="1100" kern="0" dirty="0">
              <a:solidFill>
                <a:srgbClr val="000000"/>
              </a:solidFill>
              <a:cs typeface="Arial"/>
              <a:sym typeface="Arial"/>
            </a:endParaRPr>
          </a:p>
        </p:txBody>
      </p:sp>
      <p:cxnSp>
        <p:nvCxnSpPr>
          <p:cNvPr id="36" name="Connector 27">
            <a:extLst>
              <a:ext uri="{FF2B5EF4-FFF2-40B4-BE49-F238E27FC236}">
                <a16:creationId xmlns:a16="http://schemas.microsoft.com/office/drawing/2014/main" id="{34B055BE-40CE-4779-A387-7D59D2B66E69}"/>
              </a:ext>
            </a:extLst>
          </p:cNvPr>
          <p:cNvCxnSpPr/>
          <p:nvPr/>
        </p:nvCxnSpPr>
        <p:spPr>
          <a:xfrm rot="-13861">
            <a:off x="4465458" y="1660756"/>
            <a:ext cx="31496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sp>
        <p:nvSpPr>
          <p:cNvPr id="37" name="AutoShape 28">
            <a:extLst>
              <a:ext uri="{FF2B5EF4-FFF2-40B4-BE49-F238E27FC236}">
                <a16:creationId xmlns:a16="http://schemas.microsoft.com/office/drawing/2014/main" id="{40DBEDD5-0DA8-4554-B388-1FF049B0F3B9}"/>
              </a:ext>
            </a:extLst>
          </p:cNvPr>
          <p:cNvSpPr/>
          <p:nvPr/>
        </p:nvSpPr>
        <p:spPr>
          <a:xfrm>
            <a:off x="4465445" y="1844906"/>
            <a:ext cx="3149600" cy="762000"/>
          </a:xfrm>
          <a:prstGeom prst="roundRect">
            <a:avLst>
              <a:gd name="adj" fmla="val 8333"/>
            </a:avLst>
          </a:prstGeom>
          <a:solidFill>
            <a:srgbClr val="0052CC">
              <a:alpha val="5000"/>
            </a:srgbClr>
          </a:solidFill>
          <a:ln w="25400" cap="flat" cmpd="sng">
            <a:noFill/>
            <a:prstDash val="solid"/>
            <a:round/>
          </a:ln>
        </p:spPr>
        <p:txBody>
          <a:bodyPr vert="horz" wrap="square" lIns="63500" tIns="63500" rIns="63500" bIns="63500" rtlCol="0" anchor="ctr"/>
          <a:lstStyle/>
          <a:p>
            <a:pPr algn="ctr">
              <a:buClr>
                <a:srgbClr val="000000"/>
              </a:buClr>
              <a:buFont typeface="Arial"/>
              <a:buNone/>
              <a:defRPr/>
            </a:pPr>
            <a:endParaRPr sz="1400" kern="0">
              <a:solidFill>
                <a:srgbClr val="000000"/>
              </a:solidFill>
              <a:cs typeface="Arial"/>
              <a:sym typeface="Arial"/>
            </a:endParaRPr>
          </a:p>
        </p:txBody>
      </p:sp>
      <p:pic>
        <p:nvPicPr>
          <p:cNvPr id="38" name="Picture 29">
            <a:extLst>
              <a:ext uri="{FF2B5EF4-FFF2-40B4-BE49-F238E27FC236}">
                <a16:creationId xmlns:a16="http://schemas.microsoft.com/office/drawing/2014/main" id="{D3DA8059-1684-42D1-9C6C-4256A30D7CA9}"/>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592445" y="2073506"/>
            <a:ext cx="304800" cy="304800"/>
          </a:xfrm>
          <a:prstGeom prst="rect">
            <a:avLst/>
          </a:prstGeom>
        </p:spPr>
      </p:pic>
      <p:sp>
        <p:nvSpPr>
          <p:cNvPr id="39" name="AutoShape 30">
            <a:extLst>
              <a:ext uri="{FF2B5EF4-FFF2-40B4-BE49-F238E27FC236}">
                <a16:creationId xmlns:a16="http://schemas.microsoft.com/office/drawing/2014/main" id="{2FF8EA6E-14F6-4AD5-9B4F-2B45584DC49D}"/>
              </a:ext>
            </a:extLst>
          </p:cNvPr>
          <p:cNvSpPr/>
          <p:nvPr/>
        </p:nvSpPr>
        <p:spPr>
          <a:xfrm>
            <a:off x="4973445" y="1908406"/>
            <a:ext cx="2540000" cy="635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dirty="0" err="1">
                <a:solidFill>
                  <a:srgbClr val="42526E"/>
                </a:solidFill>
                <a:ea typeface="Noto Sans SC"/>
                <a:cs typeface="Noto Sans SC"/>
                <a:sym typeface="Noto Sans SC"/>
              </a:rPr>
              <a:t>服务体验</a:t>
            </a:r>
            <a:endParaRPr lang="en-US" sz="1100" kern="0" dirty="0">
              <a:solidFill>
                <a:srgbClr val="000000"/>
              </a:solidFill>
              <a:cs typeface="Arial"/>
              <a:sym typeface="Arial"/>
            </a:endParaRPr>
          </a:p>
          <a:p>
            <a:pPr>
              <a:lnSpc>
                <a:spcPct val="125000"/>
              </a:lnSpc>
              <a:buClr>
                <a:srgbClr val="000000"/>
              </a:buClr>
              <a:buFont typeface="Arial"/>
              <a:buNone/>
            </a:pPr>
            <a:r>
              <a:rPr lang="en-US" sz="1200" kern="0" dirty="0" err="1">
                <a:solidFill>
                  <a:srgbClr val="646A73"/>
                </a:solidFill>
                <a:ea typeface="Noto Sans SC"/>
                <a:cs typeface="Noto Sans SC"/>
                <a:sym typeface="Noto Sans SC"/>
              </a:rPr>
              <a:t>高频次走访，免费维护部件，客户感知好</a:t>
            </a:r>
            <a:endParaRPr lang="en-US" sz="1200" kern="0" dirty="0">
              <a:solidFill>
                <a:srgbClr val="646A73"/>
              </a:solidFill>
              <a:ea typeface="Noto Sans SC"/>
              <a:cs typeface="Noto Sans SC"/>
              <a:sym typeface="Noto Sans SC"/>
            </a:endParaRPr>
          </a:p>
        </p:txBody>
      </p:sp>
      <p:sp>
        <p:nvSpPr>
          <p:cNvPr id="40" name="AutoShape 31">
            <a:extLst>
              <a:ext uri="{FF2B5EF4-FFF2-40B4-BE49-F238E27FC236}">
                <a16:creationId xmlns:a16="http://schemas.microsoft.com/office/drawing/2014/main" id="{71605F6D-1C2A-4F49-9684-F1C82E2FE93A}"/>
              </a:ext>
            </a:extLst>
          </p:cNvPr>
          <p:cNvSpPr/>
          <p:nvPr/>
        </p:nvSpPr>
        <p:spPr>
          <a:xfrm>
            <a:off x="4465445" y="2764260"/>
            <a:ext cx="3149600" cy="762000"/>
          </a:xfrm>
          <a:prstGeom prst="roundRect">
            <a:avLst>
              <a:gd name="adj" fmla="val 8333"/>
            </a:avLst>
          </a:prstGeom>
          <a:solidFill>
            <a:srgbClr val="0052CC">
              <a:alpha val="5000"/>
            </a:srgbClr>
          </a:solidFill>
          <a:ln w="25400" cap="flat" cmpd="sng">
            <a:noFill/>
            <a:prstDash val="solid"/>
            <a:round/>
          </a:ln>
        </p:spPr>
        <p:txBody>
          <a:bodyPr vert="horz" wrap="square" lIns="63500" tIns="63500" rIns="63500" bIns="63500" rtlCol="0" anchor="ctr"/>
          <a:lstStyle/>
          <a:p>
            <a:pPr algn="ctr">
              <a:buClr>
                <a:srgbClr val="000000"/>
              </a:buClr>
              <a:buFont typeface="Arial"/>
              <a:buNone/>
              <a:defRPr/>
            </a:pPr>
            <a:endParaRPr sz="1400" kern="0">
              <a:solidFill>
                <a:srgbClr val="000000"/>
              </a:solidFill>
              <a:cs typeface="Arial"/>
              <a:sym typeface="Arial"/>
            </a:endParaRPr>
          </a:p>
        </p:txBody>
      </p:sp>
      <p:pic>
        <p:nvPicPr>
          <p:cNvPr id="41" name="Picture 32">
            <a:extLst>
              <a:ext uri="{FF2B5EF4-FFF2-40B4-BE49-F238E27FC236}">
                <a16:creationId xmlns:a16="http://schemas.microsoft.com/office/drawing/2014/main" id="{43CFA755-43C2-47D0-8767-1C06F159A346}"/>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592445" y="2992860"/>
            <a:ext cx="304800" cy="304800"/>
          </a:xfrm>
          <a:prstGeom prst="rect">
            <a:avLst/>
          </a:prstGeom>
        </p:spPr>
      </p:pic>
      <p:sp>
        <p:nvSpPr>
          <p:cNvPr id="42" name="AutoShape 33">
            <a:extLst>
              <a:ext uri="{FF2B5EF4-FFF2-40B4-BE49-F238E27FC236}">
                <a16:creationId xmlns:a16="http://schemas.microsoft.com/office/drawing/2014/main" id="{63671FF5-151B-4A64-B948-19DF56214D24}"/>
              </a:ext>
            </a:extLst>
          </p:cNvPr>
          <p:cNvSpPr/>
          <p:nvPr/>
        </p:nvSpPr>
        <p:spPr>
          <a:xfrm>
            <a:off x="4973445" y="2827760"/>
            <a:ext cx="2540000" cy="635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dirty="0" err="1">
                <a:solidFill>
                  <a:srgbClr val="42526E"/>
                </a:solidFill>
                <a:ea typeface="Noto Sans SC"/>
                <a:cs typeface="Noto Sans SC"/>
                <a:sym typeface="Noto Sans SC"/>
              </a:rPr>
              <a:t>服务效率</a:t>
            </a:r>
            <a:endParaRPr lang="en-US" sz="1100" kern="0" dirty="0">
              <a:solidFill>
                <a:srgbClr val="000000"/>
              </a:solidFill>
              <a:cs typeface="Arial"/>
              <a:sym typeface="Arial"/>
            </a:endParaRPr>
          </a:p>
          <a:p>
            <a:pPr>
              <a:lnSpc>
                <a:spcPct val="125000"/>
              </a:lnSpc>
              <a:buClr>
                <a:srgbClr val="000000"/>
              </a:buClr>
              <a:buFont typeface="Arial"/>
              <a:buNone/>
            </a:pPr>
            <a:r>
              <a:rPr lang="en-US" sz="1200" kern="0" dirty="0" err="1">
                <a:solidFill>
                  <a:srgbClr val="646A73"/>
                </a:solidFill>
                <a:ea typeface="Noto Sans SC"/>
                <a:cs typeface="Noto Sans SC"/>
                <a:sym typeface="Noto Sans SC"/>
              </a:rPr>
              <a:t>产品单一导致人机比低，故障解决响应快</a:t>
            </a:r>
            <a:endParaRPr lang="en-US" sz="1200" kern="0" dirty="0">
              <a:solidFill>
                <a:srgbClr val="646A73"/>
              </a:solidFill>
              <a:ea typeface="Noto Sans SC"/>
              <a:cs typeface="Noto Sans SC"/>
              <a:sym typeface="Noto Sans SC"/>
            </a:endParaRPr>
          </a:p>
        </p:txBody>
      </p:sp>
      <p:sp>
        <p:nvSpPr>
          <p:cNvPr id="43" name="AutoShape 34">
            <a:extLst>
              <a:ext uri="{FF2B5EF4-FFF2-40B4-BE49-F238E27FC236}">
                <a16:creationId xmlns:a16="http://schemas.microsoft.com/office/drawing/2014/main" id="{D8564BCB-9935-4252-885E-9A97529D63A6}"/>
              </a:ext>
            </a:extLst>
          </p:cNvPr>
          <p:cNvSpPr/>
          <p:nvPr/>
        </p:nvSpPr>
        <p:spPr>
          <a:xfrm>
            <a:off x="4465445" y="3694767"/>
            <a:ext cx="3149600" cy="762000"/>
          </a:xfrm>
          <a:prstGeom prst="roundRect">
            <a:avLst>
              <a:gd name="adj" fmla="val 8333"/>
            </a:avLst>
          </a:prstGeom>
          <a:solidFill>
            <a:srgbClr val="0052CC">
              <a:alpha val="5000"/>
            </a:srgbClr>
          </a:solidFill>
          <a:ln w="25400" cap="flat" cmpd="sng">
            <a:noFill/>
            <a:prstDash val="solid"/>
            <a:round/>
          </a:ln>
        </p:spPr>
        <p:txBody>
          <a:bodyPr vert="horz" wrap="square" lIns="63500" tIns="63500" rIns="63500" bIns="63500" rtlCol="0" anchor="ctr"/>
          <a:lstStyle/>
          <a:p>
            <a:pPr algn="ctr">
              <a:buClr>
                <a:srgbClr val="000000"/>
              </a:buClr>
              <a:buFont typeface="Arial"/>
              <a:buNone/>
              <a:defRPr/>
            </a:pPr>
            <a:endParaRPr sz="1400" kern="0">
              <a:solidFill>
                <a:srgbClr val="000000"/>
              </a:solidFill>
              <a:cs typeface="Arial"/>
              <a:sym typeface="Arial"/>
            </a:endParaRPr>
          </a:p>
        </p:txBody>
      </p:sp>
      <p:pic>
        <p:nvPicPr>
          <p:cNvPr id="44" name="Picture 35">
            <a:extLst>
              <a:ext uri="{FF2B5EF4-FFF2-40B4-BE49-F238E27FC236}">
                <a16:creationId xmlns:a16="http://schemas.microsoft.com/office/drawing/2014/main" id="{867BCB3F-55F6-4866-8340-2D9C6B357657}"/>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592445" y="3923367"/>
            <a:ext cx="304800" cy="304800"/>
          </a:xfrm>
          <a:prstGeom prst="rect">
            <a:avLst/>
          </a:prstGeom>
        </p:spPr>
      </p:pic>
      <p:sp>
        <p:nvSpPr>
          <p:cNvPr id="45" name="AutoShape 36">
            <a:extLst>
              <a:ext uri="{FF2B5EF4-FFF2-40B4-BE49-F238E27FC236}">
                <a16:creationId xmlns:a16="http://schemas.microsoft.com/office/drawing/2014/main" id="{82530E0E-6255-457B-A7D9-19CEF3FE71F2}"/>
              </a:ext>
            </a:extLst>
          </p:cNvPr>
          <p:cNvSpPr/>
          <p:nvPr/>
        </p:nvSpPr>
        <p:spPr>
          <a:xfrm>
            <a:off x="4973445" y="3758267"/>
            <a:ext cx="2540000" cy="635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dirty="0" err="1">
                <a:solidFill>
                  <a:srgbClr val="42526E"/>
                </a:solidFill>
                <a:ea typeface="Noto Sans SC"/>
                <a:cs typeface="Noto Sans SC"/>
                <a:sym typeface="Noto Sans SC"/>
              </a:rPr>
              <a:t>服务质量</a:t>
            </a:r>
            <a:endParaRPr lang="en-US" sz="1100" kern="0" dirty="0">
              <a:solidFill>
                <a:srgbClr val="000000"/>
              </a:solidFill>
              <a:cs typeface="Arial"/>
              <a:sym typeface="Arial"/>
            </a:endParaRPr>
          </a:p>
          <a:p>
            <a:pPr>
              <a:lnSpc>
                <a:spcPct val="125000"/>
              </a:lnSpc>
              <a:buClr>
                <a:srgbClr val="000000"/>
              </a:buClr>
              <a:buFont typeface="Arial"/>
              <a:buNone/>
            </a:pPr>
            <a:r>
              <a:rPr lang="en-US" sz="1200" kern="0" dirty="0" err="1">
                <a:solidFill>
                  <a:srgbClr val="646A73"/>
                </a:solidFill>
                <a:ea typeface="Noto Sans SC"/>
                <a:cs typeface="Noto Sans SC"/>
                <a:sym typeface="Noto Sans SC"/>
              </a:rPr>
              <a:t>预防性维护减少故障，人员专业能力强</a:t>
            </a:r>
            <a:endParaRPr lang="en-US" sz="1200" kern="0" dirty="0">
              <a:solidFill>
                <a:srgbClr val="646A73"/>
              </a:solidFill>
              <a:ea typeface="Noto Sans SC"/>
              <a:cs typeface="Noto Sans SC"/>
              <a:sym typeface="Noto Sans SC"/>
            </a:endParaRPr>
          </a:p>
        </p:txBody>
      </p:sp>
      <p:sp>
        <p:nvSpPr>
          <p:cNvPr id="46" name="AutoShape 37">
            <a:extLst>
              <a:ext uri="{FF2B5EF4-FFF2-40B4-BE49-F238E27FC236}">
                <a16:creationId xmlns:a16="http://schemas.microsoft.com/office/drawing/2014/main" id="{3D089DCB-D23B-4440-936D-600E93F36CBF}"/>
              </a:ext>
            </a:extLst>
          </p:cNvPr>
          <p:cNvSpPr/>
          <p:nvPr/>
        </p:nvSpPr>
        <p:spPr>
          <a:xfrm>
            <a:off x="4465445" y="4614122"/>
            <a:ext cx="3149600" cy="762000"/>
          </a:xfrm>
          <a:prstGeom prst="roundRect">
            <a:avLst>
              <a:gd name="adj" fmla="val 8333"/>
            </a:avLst>
          </a:prstGeom>
          <a:solidFill>
            <a:srgbClr val="0052CC">
              <a:alpha val="5000"/>
            </a:srgbClr>
          </a:solidFill>
          <a:ln w="25400" cap="flat" cmpd="sng">
            <a:noFill/>
            <a:prstDash val="solid"/>
            <a:round/>
          </a:ln>
        </p:spPr>
        <p:txBody>
          <a:bodyPr vert="horz" wrap="square" lIns="63500" tIns="63500" rIns="63500" bIns="63500" rtlCol="0" anchor="ctr"/>
          <a:lstStyle/>
          <a:p>
            <a:pPr algn="ctr">
              <a:buClr>
                <a:srgbClr val="000000"/>
              </a:buClr>
              <a:buFont typeface="Arial"/>
              <a:buNone/>
              <a:defRPr/>
            </a:pPr>
            <a:endParaRPr sz="1400" kern="0">
              <a:solidFill>
                <a:srgbClr val="000000"/>
              </a:solidFill>
              <a:cs typeface="Arial"/>
              <a:sym typeface="Arial"/>
            </a:endParaRPr>
          </a:p>
        </p:txBody>
      </p:sp>
      <p:pic>
        <p:nvPicPr>
          <p:cNvPr id="47" name="Picture 38">
            <a:extLst>
              <a:ext uri="{FF2B5EF4-FFF2-40B4-BE49-F238E27FC236}">
                <a16:creationId xmlns:a16="http://schemas.microsoft.com/office/drawing/2014/main" id="{56BCD5C4-B770-43F3-96F1-4129FAE292C9}"/>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4592445" y="4842722"/>
            <a:ext cx="304800" cy="304800"/>
          </a:xfrm>
          <a:prstGeom prst="rect">
            <a:avLst/>
          </a:prstGeom>
        </p:spPr>
      </p:pic>
      <p:sp>
        <p:nvSpPr>
          <p:cNvPr id="48" name="AutoShape 39">
            <a:extLst>
              <a:ext uri="{FF2B5EF4-FFF2-40B4-BE49-F238E27FC236}">
                <a16:creationId xmlns:a16="http://schemas.microsoft.com/office/drawing/2014/main" id="{ECB234D0-CCB7-49B0-8995-5FF41A401E35}"/>
              </a:ext>
            </a:extLst>
          </p:cNvPr>
          <p:cNvSpPr/>
          <p:nvPr/>
        </p:nvSpPr>
        <p:spPr>
          <a:xfrm>
            <a:off x="4973445" y="4677622"/>
            <a:ext cx="2540000" cy="635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dirty="0" err="1">
                <a:solidFill>
                  <a:srgbClr val="42526E"/>
                </a:solidFill>
                <a:ea typeface="Noto Sans SC"/>
                <a:cs typeface="Noto Sans SC"/>
                <a:sym typeface="Noto Sans SC"/>
              </a:rPr>
              <a:t>成本与专业</a:t>
            </a:r>
            <a:endParaRPr lang="en-US" sz="1100" kern="0" dirty="0">
              <a:solidFill>
                <a:srgbClr val="000000"/>
              </a:solidFill>
              <a:cs typeface="Arial"/>
              <a:sym typeface="Arial"/>
            </a:endParaRPr>
          </a:p>
          <a:p>
            <a:pPr>
              <a:lnSpc>
                <a:spcPct val="125000"/>
              </a:lnSpc>
              <a:buClr>
                <a:srgbClr val="000000"/>
              </a:buClr>
              <a:buFont typeface="Arial"/>
              <a:buNone/>
            </a:pPr>
            <a:r>
              <a:rPr lang="en-US" sz="1200" kern="0" dirty="0" err="1">
                <a:solidFill>
                  <a:srgbClr val="646A73"/>
                </a:solidFill>
                <a:ea typeface="Noto Sans SC"/>
                <a:cs typeface="Noto Sans SC"/>
                <a:sym typeface="Noto Sans SC"/>
              </a:rPr>
              <a:t>服务成本相对较低，性价比高</a:t>
            </a:r>
            <a:endParaRPr lang="en-US" sz="1200" kern="0" dirty="0">
              <a:solidFill>
                <a:srgbClr val="646A73"/>
              </a:solidFill>
              <a:ea typeface="Noto Sans SC"/>
              <a:cs typeface="Noto Sans SC"/>
              <a:sym typeface="Noto Sans SC"/>
            </a:endParaRPr>
          </a:p>
        </p:txBody>
      </p:sp>
      <p:sp>
        <p:nvSpPr>
          <p:cNvPr id="49" name="AutoShape 40">
            <a:extLst>
              <a:ext uri="{FF2B5EF4-FFF2-40B4-BE49-F238E27FC236}">
                <a16:creationId xmlns:a16="http://schemas.microsoft.com/office/drawing/2014/main" id="{5DCDA5E3-6026-407C-8A27-8DD1257ABABB}"/>
              </a:ext>
            </a:extLst>
          </p:cNvPr>
          <p:cNvSpPr/>
          <p:nvPr/>
        </p:nvSpPr>
        <p:spPr>
          <a:xfrm>
            <a:off x="8072245" y="1082906"/>
            <a:ext cx="3556000" cy="4648198"/>
          </a:xfrm>
          <a:prstGeom prst="roundRect">
            <a:avLst>
              <a:gd name="adj" fmla="val 3571"/>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cs typeface="Arial"/>
              <a:sym typeface="Arial"/>
            </a:endParaRPr>
          </a:p>
        </p:txBody>
      </p:sp>
      <p:pic>
        <p:nvPicPr>
          <p:cNvPr id="50" name="Picture 41">
            <a:extLst>
              <a:ext uri="{FF2B5EF4-FFF2-40B4-BE49-F238E27FC236}">
                <a16:creationId xmlns:a16="http://schemas.microsoft.com/office/drawing/2014/main" id="{E2A35663-B5D6-4D1F-9863-ACC5B3789BAC}"/>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275445" y="1286106"/>
            <a:ext cx="304800" cy="304800"/>
          </a:xfrm>
          <a:prstGeom prst="rect">
            <a:avLst/>
          </a:prstGeom>
        </p:spPr>
      </p:pic>
      <p:sp>
        <p:nvSpPr>
          <p:cNvPr id="51" name="AutoShape 42">
            <a:extLst>
              <a:ext uri="{FF2B5EF4-FFF2-40B4-BE49-F238E27FC236}">
                <a16:creationId xmlns:a16="http://schemas.microsoft.com/office/drawing/2014/main" id="{F31B1FF8-2540-4460-B7A7-58E4EFE37859}"/>
              </a:ext>
            </a:extLst>
          </p:cNvPr>
          <p:cNvSpPr/>
          <p:nvPr/>
        </p:nvSpPr>
        <p:spPr>
          <a:xfrm>
            <a:off x="8681845" y="1260706"/>
            <a:ext cx="2540000" cy="3556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FF6B35"/>
                </a:solidFill>
                <a:ea typeface="Noto Sans SC"/>
                <a:cs typeface="Noto Sans SC"/>
                <a:sym typeface="Noto Sans SC"/>
              </a:rPr>
              <a:t>核心策略与行动计划</a:t>
            </a:r>
            <a:endParaRPr lang="en-US" sz="1100" kern="0">
              <a:solidFill>
                <a:srgbClr val="000000"/>
              </a:solidFill>
              <a:cs typeface="Arial"/>
              <a:sym typeface="Arial"/>
            </a:endParaRPr>
          </a:p>
        </p:txBody>
      </p:sp>
      <p:cxnSp>
        <p:nvCxnSpPr>
          <p:cNvPr id="52" name="Connector 43">
            <a:extLst>
              <a:ext uri="{FF2B5EF4-FFF2-40B4-BE49-F238E27FC236}">
                <a16:creationId xmlns:a16="http://schemas.microsoft.com/office/drawing/2014/main" id="{0432D97C-B4AD-4F3A-B14E-E2A245AE936A}"/>
              </a:ext>
            </a:extLst>
          </p:cNvPr>
          <p:cNvCxnSpPr/>
          <p:nvPr/>
        </p:nvCxnSpPr>
        <p:spPr>
          <a:xfrm rot="-13861">
            <a:off x="8275458" y="1660756"/>
            <a:ext cx="31496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pic>
        <p:nvPicPr>
          <p:cNvPr id="53" name="Picture 44">
            <a:extLst>
              <a:ext uri="{FF2B5EF4-FFF2-40B4-BE49-F238E27FC236}">
                <a16:creationId xmlns:a16="http://schemas.microsoft.com/office/drawing/2014/main" id="{939C6A7B-DFBC-4A6D-A7CC-B7ABE25BAC94}"/>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8275445" y="1870306"/>
            <a:ext cx="254000" cy="254000"/>
          </a:xfrm>
          <a:prstGeom prst="rect">
            <a:avLst/>
          </a:prstGeom>
        </p:spPr>
      </p:pic>
      <p:sp>
        <p:nvSpPr>
          <p:cNvPr id="54" name="AutoShape 45">
            <a:extLst>
              <a:ext uri="{FF2B5EF4-FFF2-40B4-BE49-F238E27FC236}">
                <a16:creationId xmlns:a16="http://schemas.microsoft.com/office/drawing/2014/main" id="{6D653DC6-47B5-4D0F-98BF-380C4DD86B21}"/>
              </a:ext>
            </a:extLst>
          </p:cNvPr>
          <p:cNvSpPr/>
          <p:nvPr/>
        </p:nvSpPr>
        <p:spPr>
          <a:xfrm>
            <a:off x="8580245" y="1844906"/>
            <a:ext cx="2921000" cy="762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dirty="0" err="1">
                <a:solidFill>
                  <a:srgbClr val="42526E"/>
                </a:solidFill>
                <a:ea typeface="Noto Sans SC"/>
                <a:cs typeface="Noto Sans SC"/>
                <a:sym typeface="Noto Sans SC"/>
              </a:rPr>
              <a:t>强化客户关系与体验</a:t>
            </a:r>
            <a:endParaRPr lang="en-US" sz="1100" kern="0" dirty="0">
              <a:solidFill>
                <a:srgbClr val="000000"/>
              </a:solidFill>
              <a:cs typeface="Arial"/>
              <a:sym typeface="Arial"/>
            </a:endParaRPr>
          </a:p>
          <a:p>
            <a:pPr>
              <a:lnSpc>
                <a:spcPct val="125000"/>
              </a:lnSpc>
              <a:buClr>
                <a:srgbClr val="000000"/>
              </a:buClr>
              <a:buFont typeface="Arial"/>
              <a:buNone/>
            </a:pPr>
            <a:r>
              <a:rPr lang="en-US" sz="1200" kern="0" dirty="0">
                <a:solidFill>
                  <a:srgbClr val="646A73"/>
                </a:solidFill>
                <a:ea typeface="Noto Sans SC"/>
                <a:cs typeface="Noto Sans SC"/>
                <a:sym typeface="Noto Sans SC"/>
              </a:rPr>
              <a:t>建立</a:t>
            </a:r>
            <a:r>
              <a:rPr lang="en-US" sz="1200" b="1" kern="0" dirty="0">
                <a:solidFill>
                  <a:srgbClr val="C00000"/>
                </a:solidFill>
                <a:ea typeface="Noto Sans SC"/>
                <a:cs typeface="Noto Sans SC"/>
                <a:sym typeface="Noto Sans SC"/>
              </a:rPr>
              <a:t>V1+</a:t>
            </a:r>
            <a:r>
              <a:rPr lang="zh-CN" altLang="en-US" sz="1200" b="1" kern="0" dirty="0">
                <a:solidFill>
                  <a:srgbClr val="C00000"/>
                </a:solidFill>
                <a:ea typeface="Noto Sans SC"/>
                <a:cs typeface="Noto Sans SC"/>
                <a:sym typeface="Noto Sans SC"/>
              </a:rPr>
              <a:t>县域</a:t>
            </a:r>
            <a:r>
              <a:rPr lang="en-US" sz="1200" b="1" kern="0" dirty="0" err="1">
                <a:solidFill>
                  <a:srgbClr val="C00000"/>
                </a:solidFill>
                <a:ea typeface="Noto Sans SC"/>
                <a:cs typeface="Noto Sans SC"/>
                <a:sym typeface="Noto Sans SC"/>
              </a:rPr>
              <a:t>专属团队</a:t>
            </a:r>
            <a:r>
              <a:rPr lang="en-US" sz="1200" kern="0" dirty="0" err="1">
                <a:solidFill>
                  <a:srgbClr val="646A73"/>
                </a:solidFill>
                <a:ea typeface="Noto Sans SC"/>
                <a:cs typeface="Noto Sans SC"/>
                <a:sym typeface="Noto Sans SC"/>
              </a:rPr>
              <a:t>，增加</a:t>
            </a:r>
            <a:r>
              <a:rPr lang="zh-CN" altLang="en-US" sz="1200" kern="0" dirty="0">
                <a:solidFill>
                  <a:srgbClr val="646A73"/>
                </a:solidFill>
                <a:ea typeface="Noto Sans SC"/>
                <a:cs typeface="Noto Sans SC"/>
                <a:sym typeface="Noto Sans SC"/>
              </a:rPr>
              <a:t>巡检</a:t>
            </a:r>
            <a:r>
              <a:rPr lang="en-US" sz="1200" kern="0" dirty="0">
                <a:solidFill>
                  <a:srgbClr val="646A73"/>
                </a:solidFill>
                <a:ea typeface="Noto Sans SC"/>
                <a:cs typeface="Noto Sans SC"/>
                <a:sym typeface="Noto Sans SC"/>
              </a:rPr>
              <a:t>，</a:t>
            </a:r>
            <a:r>
              <a:rPr lang="en-US" sz="1200" kern="0" dirty="0" err="1">
                <a:solidFill>
                  <a:srgbClr val="646A73"/>
                </a:solidFill>
                <a:ea typeface="Noto Sans SC"/>
                <a:cs typeface="Noto Sans SC"/>
                <a:sym typeface="Noto Sans SC"/>
              </a:rPr>
              <a:t>定期调研满意度，提升粘性</a:t>
            </a:r>
            <a:r>
              <a:rPr lang="en-US" sz="1200" kern="0" dirty="0">
                <a:solidFill>
                  <a:srgbClr val="646A73"/>
                </a:solidFill>
                <a:ea typeface="Noto Sans SC"/>
                <a:cs typeface="Noto Sans SC"/>
                <a:sym typeface="Noto Sans SC"/>
              </a:rPr>
              <a:t>。</a:t>
            </a:r>
          </a:p>
        </p:txBody>
      </p:sp>
      <p:pic>
        <p:nvPicPr>
          <p:cNvPr id="55" name="Picture 46">
            <a:extLst>
              <a:ext uri="{FF2B5EF4-FFF2-40B4-BE49-F238E27FC236}">
                <a16:creationId xmlns:a16="http://schemas.microsoft.com/office/drawing/2014/main" id="{4500F53D-99FF-482C-9A8A-9854FBA5A994}"/>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8264294" y="2820016"/>
            <a:ext cx="254000" cy="254000"/>
          </a:xfrm>
          <a:prstGeom prst="rect">
            <a:avLst/>
          </a:prstGeom>
        </p:spPr>
      </p:pic>
      <p:sp>
        <p:nvSpPr>
          <p:cNvPr id="56" name="AutoShape 47">
            <a:extLst>
              <a:ext uri="{FF2B5EF4-FFF2-40B4-BE49-F238E27FC236}">
                <a16:creationId xmlns:a16="http://schemas.microsoft.com/office/drawing/2014/main" id="{81B75E39-C7F0-40AE-9D2D-BD0B9ACC483A}"/>
              </a:ext>
            </a:extLst>
          </p:cNvPr>
          <p:cNvSpPr/>
          <p:nvPr/>
        </p:nvSpPr>
        <p:spPr>
          <a:xfrm>
            <a:off x="8580245" y="2794616"/>
            <a:ext cx="2921000" cy="762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dirty="0" err="1">
                <a:solidFill>
                  <a:srgbClr val="42526E"/>
                </a:solidFill>
                <a:ea typeface="Noto Sans SC"/>
                <a:cs typeface="Noto Sans SC"/>
                <a:sym typeface="Noto Sans SC"/>
              </a:rPr>
              <a:t>提升服务响应与效率</a:t>
            </a:r>
            <a:endParaRPr lang="en-US" sz="1100" kern="0" dirty="0">
              <a:solidFill>
                <a:srgbClr val="000000"/>
              </a:solidFill>
              <a:cs typeface="Arial"/>
              <a:sym typeface="Arial"/>
            </a:endParaRPr>
          </a:p>
          <a:p>
            <a:pPr>
              <a:lnSpc>
                <a:spcPct val="125000"/>
              </a:lnSpc>
              <a:buClr>
                <a:srgbClr val="000000"/>
              </a:buClr>
              <a:buFont typeface="Arial"/>
              <a:buNone/>
            </a:pPr>
            <a:r>
              <a:rPr lang="zh-CN" altLang="en-US" sz="1200" kern="0" dirty="0">
                <a:solidFill>
                  <a:srgbClr val="646A73"/>
                </a:solidFill>
                <a:ea typeface="Noto Sans SC"/>
                <a:cs typeface="Noto Sans SC"/>
                <a:sym typeface="Noto Sans SC"/>
              </a:rPr>
              <a:t>加强</a:t>
            </a:r>
            <a:r>
              <a:rPr lang="zh-CN" altLang="en-US" sz="1200" b="1" kern="0" dirty="0">
                <a:solidFill>
                  <a:srgbClr val="C00000"/>
                </a:solidFill>
                <a:ea typeface="Noto Sans SC"/>
                <a:cs typeface="Noto Sans SC"/>
                <a:sym typeface="Noto Sans SC"/>
              </a:rPr>
              <a:t>属地化布局</a:t>
            </a:r>
            <a:r>
              <a:rPr lang="zh-CN" altLang="en-US" sz="1200" kern="0" dirty="0">
                <a:solidFill>
                  <a:srgbClr val="646A73"/>
                </a:solidFill>
                <a:ea typeface="Noto Sans SC"/>
                <a:cs typeface="Noto Sans SC"/>
                <a:sym typeface="Noto Sans SC"/>
              </a:rPr>
              <a:t>，</a:t>
            </a:r>
            <a:r>
              <a:rPr lang="en-US" sz="1200" kern="0" dirty="0" err="1">
                <a:solidFill>
                  <a:srgbClr val="646A73"/>
                </a:solidFill>
                <a:ea typeface="Noto Sans SC"/>
                <a:cs typeface="Noto Sans SC"/>
                <a:sym typeface="Noto Sans SC"/>
              </a:rPr>
              <a:t>利用产品全优势提供一站式方案，加强远程支持，缩短故障解决时间</a:t>
            </a:r>
            <a:endParaRPr lang="en-US" sz="1200" kern="0" dirty="0">
              <a:solidFill>
                <a:srgbClr val="646A73"/>
              </a:solidFill>
              <a:ea typeface="Noto Sans SC"/>
              <a:cs typeface="Noto Sans SC"/>
              <a:sym typeface="Noto Sans SC"/>
            </a:endParaRPr>
          </a:p>
        </p:txBody>
      </p:sp>
      <p:pic>
        <p:nvPicPr>
          <p:cNvPr id="57" name="Picture 48">
            <a:extLst>
              <a:ext uri="{FF2B5EF4-FFF2-40B4-BE49-F238E27FC236}">
                <a16:creationId xmlns:a16="http://schemas.microsoft.com/office/drawing/2014/main" id="{CDAABF00-304F-4E72-BD6B-188453CCEEA4}"/>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8275445" y="3858939"/>
            <a:ext cx="254000" cy="254000"/>
          </a:xfrm>
          <a:prstGeom prst="rect">
            <a:avLst/>
          </a:prstGeom>
        </p:spPr>
      </p:pic>
      <p:sp>
        <p:nvSpPr>
          <p:cNvPr id="58" name="AutoShape 49">
            <a:extLst>
              <a:ext uri="{FF2B5EF4-FFF2-40B4-BE49-F238E27FC236}">
                <a16:creationId xmlns:a16="http://schemas.microsoft.com/office/drawing/2014/main" id="{82FCB974-83E7-4338-B424-785A9913FCD8}"/>
              </a:ext>
            </a:extLst>
          </p:cNvPr>
          <p:cNvSpPr/>
          <p:nvPr/>
        </p:nvSpPr>
        <p:spPr>
          <a:xfrm>
            <a:off x="8681845" y="4360433"/>
            <a:ext cx="2921000" cy="331438"/>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dirty="0" err="1">
                <a:solidFill>
                  <a:srgbClr val="C00000"/>
                </a:solidFill>
                <a:ea typeface="Noto Sans SC"/>
                <a:cs typeface="Noto Sans SC"/>
                <a:sym typeface="Noto Sans SC"/>
              </a:rPr>
              <a:t>打造专业服务团队</a:t>
            </a:r>
            <a:endParaRPr lang="en-US" sz="1400" b="1" kern="0" dirty="0">
              <a:solidFill>
                <a:srgbClr val="C00000"/>
              </a:solidFill>
              <a:ea typeface="Noto Sans SC"/>
              <a:cs typeface="Noto Sans SC"/>
              <a:sym typeface="Noto Sans SC"/>
            </a:endParaRPr>
          </a:p>
          <a:p>
            <a:pPr>
              <a:lnSpc>
                <a:spcPct val="125000"/>
              </a:lnSpc>
              <a:buClr>
                <a:srgbClr val="000000"/>
              </a:buClr>
              <a:buFont typeface="Arial"/>
              <a:buNone/>
              <a:defRPr/>
            </a:pPr>
            <a:r>
              <a:rPr lang="en-US" altLang="zh-CN" sz="1200" kern="0" dirty="0" err="1">
                <a:solidFill>
                  <a:srgbClr val="646A73"/>
                </a:solidFill>
                <a:ea typeface="Noto Sans SC"/>
                <a:sym typeface="Noto Sans SC"/>
              </a:rPr>
              <a:t>加强临床应用</a:t>
            </a:r>
            <a:r>
              <a:rPr lang="zh-CN" altLang="en-US" sz="1200" kern="0" dirty="0">
                <a:solidFill>
                  <a:srgbClr val="646A73"/>
                </a:solidFill>
                <a:ea typeface="Noto Sans SC"/>
                <a:sym typeface="Noto Sans SC"/>
              </a:rPr>
              <a:t>赋能</a:t>
            </a:r>
            <a:endParaRPr lang="en-US" altLang="zh-CN" sz="1200" kern="0" dirty="0">
              <a:solidFill>
                <a:srgbClr val="646A73"/>
              </a:solidFill>
              <a:ea typeface="Noto Sans SC"/>
              <a:sym typeface="Noto Sans SC"/>
            </a:endParaRPr>
          </a:p>
          <a:p>
            <a:pPr marL="171450" indent="-171450">
              <a:lnSpc>
                <a:spcPct val="125000"/>
              </a:lnSpc>
              <a:buClr>
                <a:srgbClr val="000000"/>
              </a:buClr>
              <a:buFont typeface="Wingdings" panose="05000000000000000000" pitchFamily="2" charset="2"/>
              <a:buChar char="Ø"/>
              <a:defRPr/>
            </a:pPr>
            <a:r>
              <a:rPr lang="en-US" altLang="zh-CN" sz="1200" kern="0" dirty="0" err="1">
                <a:solidFill>
                  <a:srgbClr val="646A73"/>
                </a:solidFill>
                <a:ea typeface="Noto Sans SC"/>
                <a:sym typeface="Noto Sans SC"/>
              </a:rPr>
              <a:t>提升异常解读能力</a:t>
            </a:r>
            <a:endParaRPr lang="en-US" altLang="zh-CN" sz="1200" kern="0" dirty="0">
              <a:solidFill>
                <a:srgbClr val="646A73"/>
              </a:solidFill>
              <a:ea typeface="Noto Sans SC"/>
              <a:sym typeface="Noto Sans SC"/>
            </a:endParaRPr>
          </a:p>
          <a:p>
            <a:pPr marL="171450" indent="-171450">
              <a:lnSpc>
                <a:spcPct val="125000"/>
              </a:lnSpc>
              <a:buClr>
                <a:srgbClr val="000000"/>
              </a:buClr>
              <a:buFont typeface="Wingdings" panose="05000000000000000000" pitchFamily="2" charset="2"/>
              <a:buChar char="Ø"/>
              <a:defRPr/>
            </a:pPr>
            <a:r>
              <a:rPr lang="zh-CN" altLang="en-US" sz="1200" kern="0" dirty="0">
                <a:solidFill>
                  <a:srgbClr val="646A73"/>
                </a:solidFill>
                <a:ea typeface="Noto Sans SC"/>
                <a:sym typeface="Noto Sans SC"/>
              </a:rPr>
              <a:t>产品价值培训</a:t>
            </a:r>
            <a:endParaRPr lang="en-US" altLang="zh-CN" sz="1200" kern="0" dirty="0">
              <a:solidFill>
                <a:srgbClr val="646A73"/>
              </a:solidFill>
              <a:ea typeface="Noto Sans SC"/>
              <a:sym typeface="Noto Sans SC"/>
            </a:endParaRPr>
          </a:p>
          <a:p>
            <a:pPr marL="171450" indent="-171450">
              <a:lnSpc>
                <a:spcPct val="125000"/>
              </a:lnSpc>
              <a:buClr>
                <a:srgbClr val="000000"/>
              </a:buClr>
              <a:buFont typeface="Wingdings" panose="05000000000000000000" pitchFamily="2" charset="2"/>
              <a:buChar char="Ø"/>
              <a:defRPr/>
            </a:pPr>
            <a:r>
              <a:rPr lang="zh-CN" altLang="en-US" sz="1200" kern="0" dirty="0">
                <a:solidFill>
                  <a:srgbClr val="646A73"/>
                </a:solidFill>
                <a:ea typeface="Noto Sans SC"/>
                <a:sym typeface="Noto Sans SC"/>
              </a:rPr>
              <a:t>临床对话能力</a:t>
            </a:r>
            <a:endParaRPr lang="en-US" altLang="zh-CN" sz="1200" kern="0" dirty="0">
              <a:solidFill>
                <a:srgbClr val="646A73"/>
              </a:solidFill>
              <a:ea typeface="Noto Sans SC"/>
              <a:sym typeface="Noto Sans SC"/>
            </a:endParaRPr>
          </a:p>
          <a:p>
            <a:pPr marL="171450" indent="-171450">
              <a:lnSpc>
                <a:spcPct val="125000"/>
              </a:lnSpc>
              <a:buClr>
                <a:srgbClr val="000000"/>
              </a:buClr>
              <a:buFont typeface="Wingdings" panose="05000000000000000000" pitchFamily="2" charset="2"/>
              <a:buChar char="Ø"/>
              <a:defRPr/>
            </a:pPr>
            <a:r>
              <a:rPr lang="zh-CN" altLang="en-US" sz="1200" kern="0" dirty="0">
                <a:solidFill>
                  <a:srgbClr val="646A73"/>
                </a:solidFill>
                <a:ea typeface="Noto Sans SC"/>
                <a:sym typeface="Noto Sans SC"/>
              </a:rPr>
              <a:t>质量体系管理能力等</a:t>
            </a:r>
            <a:endParaRPr lang="en-US" sz="1200" kern="0" dirty="0">
              <a:solidFill>
                <a:srgbClr val="646A73"/>
              </a:solidFill>
              <a:ea typeface="Noto Sans SC"/>
              <a:sym typeface="Noto Sans SC"/>
            </a:endParaRPr>
          </a:p>
        </p:txBody>
      </p:sp>
    </p:spTree>
    <p:extLst>
      <p:ext uri="{BB962C8B-B14F-4D97-AF65-F5344CB8AC3E}">
        <p14:creationId xmlns:p14="http://schemas.microsoft.com/office/powerpoint/2010/main" val="27632670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13093" y="103169"/>
            <a:ext cx="10491628" cy="640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219200">
              <a:defRPr/>
            </a:pPr>
            <a:r>
              <a:rPr lang="zh-CN" altLang="en-US"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部门重点工作</a:t>
            </a:r>
            <a:r>
              <a:rPr lang="en-US" altLang="zh-CN"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渠道能力评估模型</a:t>
            </a:r>
          </a:p>
        </p:txBody>
      </p:sp>
      <p:grpSp>
        <p:nvGrpSpPr>
          <p:cNvPr id="30" name="组合 29"/>
          <p:cNvGrpSpPr/>
          <p:nvPr/>
        </p:nvGrpSpPr>
        <p:grpSpPr>
          <a:xfrm>
            <a:off x="69850" y="134620"/>
            <a:ext cx="11892280" cy="590550"/>
            <a:chOff x="110" y="212"/>
            <a:chExt cx="18728" cy="930"/>
          </a:xfrm>
        </p:grpSpPr>
        <p:cxnSp>
          <p:nvCxnSpPr>
            <p:cNvPr id="2" name="直接连接符 1"/>
            <p:cNvCxnSpPr/>
            <p:nvPr/>
          </p:nvCxnSpPr>
          <p:spPr>
            <a:xfrm>
              <a:off x="296" y="1142"/>
              <a:ext cx="18542" cy="0"/>
            </a:xfrm>
            <a:prstGeom prst="line">
              <a:avLst/>
            </a:prstGeom>
          </p:spPr>
          <p:style>
            <a:lnRef idx="2">
              <a:schemeClr val="accent1"/>
            </a:lnRef>
            <a:fillRef idx="0">
              <a:srgbClr val="FFFFFF"/>
            </a:fillRef>
            <a:effectRef idx="0">
              <a:srgbClr val="FFFFFF"/>
            </a:effectRef>
            <a:fontRef idx="minor">
              <a:schemeClr val="tx1"/>
            </a:fontRef>
          </p:style>
        </p:cxnSp>
        <p:sp>
          <p:nvSpPr>
            <p:cNvPr id="7" name="矩形 6"/>
            <p:cNvSpPr/>
            <p:nvPr/>
          </p:nvSpPr>
          <p:spPr>
            <a:xfrm>
              <a:off x="110" y="212"/>
              <a:ext cx="341" cy="61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nvSpPr>
          <p:spPr>
            <a:xfrm>
              <a:off x="310" y="412"/>
              <a:ext cx="341" cy="611"/>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59" name="AutoShape 2">
            <a:extLst>
              <a:ext uri="{FF2B5EF4-FFF2-40B4-BE49-F238E27FC236}">
                <a16:creationId xmlns:a16="http://schemas.microsoft.com/office/drawing/2014/main" id="{D93B63FB-0047-4D4C-847C-62CD649D0892}"/>
              </a:ext>
            </a:extLst>
          </p:cNvPr>
          <p:cNvSpPr/>
          <p:nvPr/>
        </p:nvSpPr>
        <p:spPr>
          <a:xfrm>
            <a:off x="563755" y="927736"/>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3200" b="1" kern="0">
                <a:solidFill>
                  <a:srgbClr val="333333"/>
                </a:solidFill>
                <a:latin typeface="Noto Sans SC"/>
                <a:ea typeface="Noto Sans SC"/>
                <a:cs typeface="Noto Sans SC"/>
                <a:sym typeface="Noto Sans SC"/>
              </a:rPr>
              <a:t>模型概述：五大能力维度与十二项具体能力</a:t>
            </a:r>
            <a:endParaRPr lang="en-US" sz="1100" kern="0">
              <a:solidFill>
                <a:srgbClr val="000000"/>
              </a:solidFill>
              <a:latin typeface="Arial"/>
              <a:cs typeface="Arial"/>
              <a:sym typeface="Arial"/>
            </a:endParaRPr>
          </a:p>
        </p:txBody>
      </p:sp>
      <p:sp>
        <p:nvSpPr>
          <p:cNvPr id="60" name="AutoShape 3">
            <a:extLst>
              <a:ext uri="{FF2B5EF4-FFF2-40B4-BE49-F238E27FC236}">
                <a16:creationId xmlns:a16="http://schemas.microsoft.com/office/drawing/2014/main" id="{FB5F761F-A262-4291-8603-8FC5ABD2E5F9}"/>
              </a:ext>
            </a:extLst>
          </p:cNvPr>
          <p:cNvSpPr/>
          <p:nvPr/>
        </p:nvSpPr>
        <p:spPr>
          <a:xfrm>
            <a:off x="563755" y="1943736"/>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61" name="Picture 4">
            <a:extLst>
              <a:ext uri="{FF2B5EF4-FFF2-40B4-BE49-F238E27FC236}">
                <a16:creationId xmlns:a16="http://schemas.microsoft.com/office/drawing/2014/main" id="{B89C19F8-10DA-4EFA-B013-1BCA9CD478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755" y="2197736"/>
            <a:ext cx="406400" cy="406400"/>
          </a:xfrm>
          <a:prstGeom prst="rect">
            <a:avLst/>
          </a:prstGeom>
        </p:spPr>
      </p:pic>
      <p:sp>
        <p:nvSpPr>
          <p:cNvPr id="62" name="AutoShape 5">
            <a:extLst>
              <a:ext uri="{FF2B5EF4-FFF2-40B4-BE49-F238E27FC236}">
                <a16:creationId xmlns:a16="http://schemas.microsoft.com/office/drawing/2014/main" id="{44D7343C-02A7-4F88-AF0F-4594266D347C}"/>
              </a:ext>
            </a:extLst>
          </p:cNvPr>
          <p:cNvSpPr/>
          <p:nvPr/>
        </p:nvSpPr>
        <p:spPr>
          <a:xfrm>
            <a:off x="1325755" y="2172336"/>
            <a:ext cx="2413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333333"/>
                </a:solidFill>
                <a:latin typeface="Noto Sans SC"/>
                <a:ea typeface="Noto Sans SC"/>
                <a:cs typeface="Noto Sans SC"/>
                <a:sym typeface="Noto Sans SC"/>
              </a:rPr>
              <a:t>专业技术能力</a:t>
            </a:r>
            <a:r>
              <a:rPr lang="en-US" b="1" kern="0">
                <a:solidFill>
                  <a:srgbClr val="FF6B35"/>
                </a:solidFill>
                <a:latin typeface="Noto Sans SC"/>
                <a:ea typeface="Noto Sans SC"/>
                <a:cs typeface="Noto Sans SC"/>
                <a:sym typeface="Noto Sans SC"/>
              </a:rPr>
              <a:t>40%</a:t>
            </a:r>
            <a:endParaRPr lang="en-US" sz="1100" kern="0">
              <a:solidFill>
                <a:srgbClr val="000000"/>
              </a:solidFill>
              <a:latin typeface="Arial"/>
              <a:cs typeface="Arial"/>
              <a:sym typeface="Arial"/>
            </a:endParaRPr>
          </a:p>
        </p:txBody>
      </p:sp>
      <p:cxnSp>
        <p:nvCxnSpPr>
          <p:cNvPr id="63" name="Connector 6">
            <a:extLst>
              <a:ext uri="{FF2B5EF4-FFF2-40B4-BE49-F238E27FC236}">
                <a16:creationId xmlns:a16="http://schemas.microsoft.com/office/drawing/2014/main" id="{5A678E18-6CEA-4BAB-AB8E-3DB4AE547384}"/>
              </a:ext>
            </a:extLst>
          </p:cNvPr>
          <p:cNvCxnSpPr/>
          <p:nvPr/>
        </p:nvCxnSpPr>
        <p:spPr>
          <a:xfrm rot="-14946">
            <a:off x="817769" y="2635886"/>
            <a:ext cx="2921000" cy="12700"/>
          </a:xfrm>
          <a:prstGeom prst="straightConnector1">
            <a:avLst/>
          </a:prstGeom>
          <a:solidFill>
            <a:srgbClr val="DEE0E3">
              <a:alpha val="100000"/>
            </a:srgbClr>
          </a:solidFill>
          <a:ln w="12700" cap="flat" cmpd="sng">
            <a:solidFill>
              <a:srgbClr val="F0F0F0">
                <a:alpha val="100000"/>
              </a:srgbClr>
            </a:solidFill>
            <a:prstDash val="solid"/>
            <a:round/>
            <a:headEnd type="none" w="med" len="med"/>
            <a:tailEnd type="none" w="med" len="med"/>
          </a:ln>
        </p:spPr>
      </p:cxnSp>
      <p:sp>
        <p:nvSpPr>
          <p:cNvPr id="64" name="AutoShape 7">
            <a:extLst>
              <a:ext uri="{FF2B5EF4-FFF2-40B4-BE49-F238E27FC236}">
                <a16:creationId xmlns:a16="http://schemas.microsoft.com/office/drawing/2014/main" id="{98E196E7-2C1C-43DB-B4E3-441312D6491E}"/>
              </a:ext>
            </a:extLst>
          </p:cNvPr>
          <p:cNvSpPr/>
          <p:nvPr/>
        </p:nvSpPr>
        <p:spPr>
          <a:xfrm>
            <a:off x="817755" y="2769236"/>
            <a:ext cx="2921000" cy="1079500"/>
          </a:xfrm>
          <a:prstGeom prst="rect">
            <a:avLst/>
          </a:prstGeom>
          <a:noFill/>
          <a:ln w="12700" cap="flat" cmpd="sng">
            <a:noFill/>
            <a:prstDash val="solid"/>
            <a:round/>
          </a:ln>
        </p:spPr>
        <p:txBody>
          <a:bodyPr vert="horz" wrap="square" lIns="0" tIns="0" rIns="0" bIns="0" rtlCol="0" anchor="ctr" anchorCtr="0"/>
          <a:lstStyle/>
          <a:p>
            <a:pPr>
              <a:lnSpc>
                <a:spcPct val="108333"/>
              </a:lnSpc>
              <a:buClr>
                <a:srgbClr val="000000"/>
              </a:buClr>
              <a:buFont typeface="Arial"/>
              <a:buNone/>
              <a:defRPr/>
            </a:pPr>
            <a:r>
              <a:rPr lang="en-US" sz="1400" kern="0">
                <a:solidFill>
                  <a:srgbClr val="666666"/>
                </a:solidFill>
                <a:latin typeface="Noto Sans SC"/>
                <a:ea typeface="Noto Sans SC"/>
                <a:cs typeface="Noto Sans SC"/>
                <a:sym typeface="Noto Sans SC"/>
              </a:rPr>
              <a:t>包含性能验证、无忧切换、产品价值传递、结果问题解决、风险管理等，是核心竞争力。</a:t>
            </a:r>
            <a:endParaRPr lang="en-US" sz="1100" kern="0">
              <a:solidFill>
                <a:srgbClr val="000000"/>
              </a:solidFill>
              <a:latin typeface="Arial"/>
              <a:cs typeface="Arial"/>
              <a:sym typeface="Arial"/>
            </a:endParaRPr>
          </a:p>
        </p:txBody>
      </p:sp>
      <p:sp>
        <p:nvSpPr>
          <p:cNvPr id="65" name="AutoShape 8">
            <a:extLst>
              <a:ext uri="{FF2B5EF4-FFF2-40B4-BE49-F238E27FC236}">
                <a16:creationId xmlns:a16="http://schemas.microsoft.com/office/drawing/2014/main" id="{99F2711F-B288-41C2-A79F-6BC642CC2557}"/>
              </a:ext>
            </a:extLst>
          </p:cNvPr>
          <p:cNvSpPr/>
          <p:nvPr/>
        </p:nvSpPr>
        <p:spPr>
          <a:xfrm>
            <a:off x="4183255" y="1943736"/>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66" name="Picture 9">
            <a:extLst>
              <a:ext uri="{FF2B5EF4-FFF2-40B4-BE49-F238E27FC236}">
                <a16:creationId xmlns:a16="http://schemas.microsoft.com/office/drawing/2014/main" id="{65A09358-E2F4-432A-A648-0496E093EB3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37255" y="2197736"/>
            <a:ext cx="406400" cy="406400"/>
          </a:xfrm>
          <a:prstGeom prst="rect">
            <a:avLst/>
          </a:prstGeom>
        </p:spPr>
      </p:pic>
      <p:sp>
        <p:nvSpPr>
          <p:cNvPr id="67" name="AutoShape 10">
            <a:extLst>
              <a:ext uri="{FF2B5EF4-FFF2-40B4-BE49-F238E27FC236}">
                <a16:creationId xmlns:a16="http://schemas.microsoft.com/office/drawing/2014/main" id="{B0A84CC7-C66C-4526-8C6B-643771A134C3}"/>
              </a:ext>
            </a:extLst>
          </p:cNvPr>
          <p:cNvSpPr/>
          <p:nvPr/>
        </p:nvSpPr>
        <p:spPr>
          <a:xfrm>
            <a:off x="4945255" y="2172336"/>
            <a:ext cx="2413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dirty="0">
                <a:solidFill>
                  <a:srgbClr val="333333"/>
                </a:solidFill>
                <a:latin typeface="Noto Sans SC"/>
                <a:ea typeface="Noto Sans SC"/>
                <a:cs typeface="Noto Sans SC"/>
                <a:sym typeface="Noto Sans SC"/>
              </a:rPr>
              <a:t>工作态度与责任心</a:t>
            </a:r>
            <a:r>
              <a:rPr lang="en-US" b="1" kern="0" dirty="0">
                <a:solidFill>
                  <a:srgbClr val="FF6B35"/>
                </a:solidFill>
                <a:latin typeface="Noto Sans SC"/>
                <a:ea typeface="Noto Sans SC"/>
                <a:cs typeface="Noto Sans SC"/>
                <a:sym typeface="Noto Sans SC"/>
              </a:rPr>
              <a:t>10%</a:t>
            </a:r>
            <a:endParaRPr lang="en-US" sz="1100" kern="0" dirty="0">
              <a:solidFill>
                <a:srgbClr val="000000"/>
              </a:solidFill>
              <a:latin typeface="Arial"/>
              <a:cs typeface="Arial"/>
              <a:sym typeface="Arial"/>
            </a:endParaRPr>
          </a:p>
        </p:txBody>
      </p:sp>
      <p:cxnSp>
        <p:nvCxnSpPr>
          <p:cNvPr id="68" name="Connector 11">
            <a:extLst>
              <a:ext uri="{FF2B5EF4-FFF2-40B4-BE49-F238E27FC236}">
                <a16:creationId xmlns:a16="http://schemas.microsoft.com/office/drawing/2014/main" id="{8682D109-0BA2-49B9-B0C2-78D5711713DB}"/>
              </a:ext>
            </a:extLst>
          </p:cNvPr>
          <p:cNvCxnSpPr/>
          <p:nvPr/>
        </p:nvCxnSpPr>
        <p:spPr>
          <a:xfrm rot="-14946">
            <a:off x="4437269" y="2635886"/>
            <a:ext cx="2921000" cy="12700"/>
          </a:xfrm>
          <a:prstGeom prst="straightConnector1">
            <a:avLst/>
          </a:prstGeom>
          <a:solidFill>
            <a:srgbClr val="DEE0E3">
              <a:alpha val="100000"/>
            </a:srgbClr>
          </a:solidFill>
          <a:ln w="12700" cap="flat" cmpd="sng">
            <a:solidFill>
              <a:srgbClr val="F0F0F0">
                <a:alpha val="100000"/>
              </a:srgbClr>
            </a:solidFill>
            <a:prstDash val="solid"/>
            <a:round/>
            <a:headEnd type="none" w="med" len="med"/>
            <a:tailEnd type="none" w="med" len="med"/>
          </a:ln>
        </p:spPr>
      </p:cxnSp>
      <p:sp>
        <p:nvSpPr>
          <p:cNvPr id="69" name="AutoShape 12">
            <a:extLst>
              <a:ext uri="{FF2B5EF4-FFF2-40B4-BE49-F238E27FC236}">
                <a16:creationId xmlns:a16="http://schemas.microsoft.com/office/drawing/2014/main" id="{8ADF6094-1AEE-48A4-B223-FBC2D46EBE05}"/>
              </a:ext>
            </a:extLst>
          </p:cNvPr>
          <p:cNvSpPr/>
          <p:nvPr/>
        </p:nvSpPr>
        <p:spPr>
          <a:xfrm>
            <a:off x="4437255" y="2769236"/>
            <a:ext cx="2921000" cy="1079500"/>
          </a:xfrm>
          <a:prstGeom prst="rect">
            <a:avLst/>
          </a:prstGeom>
          <a:noFill/>
          <a:ln w="12700" cap="flat" cmpd="sng">
            <a:noFill/>
            <a:prstDash val="solid"/>
            <a:round/>
          </a:ln>
        </p:spPr>
        <p:txBody>
          <a:bodyPr vert="horz" wrap="square" lIns="0" tIns="0" rIns="0" bIns="0" rtlCol="0" anchor="ctr" anchorCtr="0"/>
          <a:lstStyle/>
          <a:p>
            <a:pPr>
              <a:lnSpc>
                <a:spcPct val="108333"/>
              </a:lnSpc>
              <a:buClr>
                <a:srgbClr val="000000"/>
              </a:buClr>
              <a:buFont typeface="Arial"/>
              <a:buNone/>
              <a:defRPr/>
            </a:pPr>
            <a:r>
              <a:rPr lang="en-US" sz="1400" kern="0">
                <a:solidFill>
                  <a:srgbClr val="666666"/>
                </a:solidFill>
                <a:latin typeface="Noto Sans SC"/>
                <a:ea typeface="Noto Sans SC"/>
                <a:cs typeface="Noto Sans SC"/>
                <a:sym typeface="Noto Sans SC"/>
              </a:rPr>
              <a:t>包括责任心、主动性、敬业度、纪律性和抗压性，是保障工作质量的基础。</a:t>
            </a:r>
            <a:endParaRPr lang="en-US" sz="1100" kern="0">
              <a:solidFill>
                <a:srgbClr val="000000"/>
              </a:solidFill>
              <a:latin typeface="Arial"/>
              <a:cs typeface="Arial"/>
              <a:sym typeface="Arial"/>
            </a:endParaRPr>
          </a:p>
        </p:txBody>
      </p:sp>
      <p:sp>
        <p:nvSpPr>
          <p:cNvPr id="70" name="AutoShape 13">
            <a:extLst>
              <a:ext uri="{FF2B5EF4-FFF2-40B4-BE49-F238E27FC236}">
                <a16:creationId xmlns:a16="http://schemas.microsoft.com/office/drawing/2014/main" id="{00CF8F2E-765B-4E00-B21D-4006608EA1ED}"/>
              </a:ext>
            </a:extLst>
          </p:cNvPr>
          <p:cNvSpPr/>
          <p:nvPr/>
        </p:nvSpPr>
        <p:spPr>
          <a:xfrm>
            <a:off x="7802755" y="1943736"/>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71" name="Picture 14">
            <a:extLst>
              <a:ext uri="{FF2B5EF4-FFF2-40B4-BE49-F238E27FC236}">
                <a16:creationId xmlns:a16="http://schemas.microsoft.com/office/drawing/2014/main" id="{31FA488B-05E5-4EED-BDCC-53D997EC727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56755" y="2197736"/>
            <a:ext cx="406400" cy="406400"/>
          </a:xfrm>
          <a:prstGeom prst="rect">
            <a:avLst/>
          </a:prstGeom>
        </p:spPr>
      </p:pic>
      <p:sp>
        <p:nvSpPr>
          <p:cNvPr id="72" name="AutoShape 15">
            <a:extLst>
              <a:ext uri="{FF2B5EF4-FFF2-40B4-BE49-F238E27FC236}">
                <a16:creationId xmlns:a16="http://schemas.microsoft.com/office/drawing/2014/main" id="{1BE5CF7A-AD68-4424-B49C-54739B824D1C}"/>
              </a:ext>
            </a:extLst>
          </p:cNvPr>
          <p:cNvSpPr/>
          <p:nvPr/>
        </p:nvSpPr>
        <p:spPr>
          <a:xfrm>
            <a:off x="8564755" y="2172336"/>
            <a:ext cx="2413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dirty="0">
                <a:solidFill>
                  <a:srgbClr val="333333"/>
                </a:solidFill>
                <a:latin typeface="Noto Sans SC"/>
                <a:ea typeface="Noto Sans SC"/>
                <a:cs typeface="Noto Sans SC"/>
                <a:sym typeface="Noto Sans SC"/>
              </a:rPr>
              <a:t>学习成长能力</a:t>
            </a:r>
            <a:r>
              <a:rPr lang="en-US" b="1" kern="0" dirty="0">
                <a:solidFill>
                  <a:srgbClr val="FF6B35"/>
                </a:solidFill>
                <a:latin typeface="Noto Sans SC"/>
                <a:ea typeface="Noto Sans SC"/>
                <a:cs typeface="Noto Sans SC"/>
                <a:sym typeface="Noto Sans SC"/>
              </a:rPr>
              <a:t>20%</a:t>
            </a:r>
            <a:endParaRPr lang="en-US" sz="1100" kern="0" dirty="0">
              <a:solidFill>
                <a:srgbClr val="000000"/>
              </a:solidFill>
              <a:latin typeface="Arial"/>
              <a:cs typeface="Arial"/>
              <a:sym typeface="Arial"/>
            </a:endParaRPr>
          </a:p>
        </p:txBody>
      </p:sp>
      <p:cxnSp>
        <p:nvCxnSpPr>
          <p:cNvPr id="73" name="Connector 16">
            <a:extLst>
              <a:ext uri="{FF2B5EF4-FFF2-40B4-BE49-F238E27FC236}">
                <a16:creationId xmlns:a16="http://schemas.microsoft.com/office/drawing/2014/main" id="{68737CC4-7E80-433E-B2C4-71FB7A4289B8}"/>
              </a:ext>
            </a:extLst>
          </p:cNvPr>
          <p:cNvCxnSpPr/>
          <p:nvPr/>
        </p:nvCxnSpPr>
        <p:spPr>
          <a:xfrm rot="-14946">
            <a:off x="8056769" y="2635886"/>
            <a:ext cx="2921000" cy="12700"/>
          </a:xfrm>
          <a:prstGeom prst="straightConnector1">
            <a:avLst/>
          </a:prstGeom>
          <a:solidFill>
            <a:srgbClr val="DEE0E3">
              <a:alpha val="100000"/>
            </a:srgbClr>
          </a:solidFill>
          <a:ln w="12700" cap="flat" cmpd="sng">
            <a:solidFill>
              <a:srgbClr val="F0F0F0">
                <a:alpha val="100000"/>
              </a:srgbClr>
            </a:solidFill>
            <a:prstDash val="solid"/>
            <a:round/>
            <a:headEnd type="none" w="med" len="med"/>
            <a:tailEnd type="none" w="med" len="med"/>
          </a:ln>
        </p:spPr>
      </p:cxnSp>
      <p:sp>
        <p:nvSpPr>
          <p:cNvPr id="74" name="AutoShape 17">
            <a:extLst>
              <a:ext uri="{FF2B5EF4-FFF2-40B4-BE49-F238E27FC236}">
                <a16:creationId xmlns:a16="http://schemas.microsoft.com/office/drawing/2014/main" id="{598820B7-84FD-4105-A44C-3143E70694CD}"/>
              </a:ext>
            </a:extLst>
          </p:cNvPr>
          <p:cNvSpPr/>
          <p:nvPr/>
        </p:nvSpPr>
        <p:spPr>
          <a:xfrm>
            <a:off x="8056755" y="2769236"/>
            <a:ext cx="2921000" cy="1079500"/>
          </a:xfrm>
          <a:prstGeom prst="rect">
            <a:avLst/>
          </a:prstGeom>
          <a:noFill/>
          <a:ln w="12700" cap="flat" cmpd="sng">
            <a:noFill/>
            <a:prstDash val="solid"/>
            <a:round/>
          </a:ln>
        </p:spPr>
        <p:txBody>
          <a:bodyPr vert="horz" wrap="square" lIns="0" tIns="0" rIns="0" bIns="0" rtlCol="0" anchor="ctr" anchorCtr="0"/>
          <a:lstStyle/>
          <a:p>
            <a:pPr>
              <a:lnSpc>
                <a:spcPct val="108333"/>
              </a:lnSpc>
              <a:buClr>
                <a:srgbClr val="000000"/>
              </a:buClr>
              <a:buFont typeface="Arial"/>
              <a:buNone/>
              <a:defRPr/>
            </a:pPr>
            <a:r>
              <a:rPr lang="en-US" sz="1400" kern="0">
                <a:solidFill>
                  <a:srgbClr val="666666"/>
                </a:solidFill>
                <a:latin typeface="Noto Sans SC"/>
                <a:ea typeface="Noto Sans SC"/>
                <a:cs typeface="Noto Sans SC"/>
                <a:sym typeface="Noto Sans SC"/>
              </a:rPr>
              <a:t>涵盖学习意愿、接受新事物速度、复盘改进和自我提升，决定长期发展潜力。</a:t>
            </a:r>
            <a:endParaRPr lang="en-US" sz="1100" kern="0">
              <a:solidFill>
                <a:srgbClr val="000000"/>
              </a:solidFill>
              <a:latin typeface="Arial"/>
              <a:cs typeface="Arial"/>
              <a:sym typeface="Arial"/>
            </a:endParaRPr>
          </a:p>
        </p:txBody>
      </p:sp>
      <p:sp>
        <p:nvSpPr>
          <p:cNvPr id="75" name="AutoShape 18">
            <a:extLst>
              <a:ext uri="{FF2B5EF4-FFF2-40B4-BE49-F238E27FC236}">
                <a16:creationId xmlns:a16="http://schemas.microsoft.com/office/drawing/2014/main" id="{35F4C98E-DB8E-46E5-89DC-B0CDF23B0D35}"/>
              </a:ext>
            </a:extLst>
          </p:cNvPr>
          <p:cNvSpPr/>
          <p:nvPr/>
        </p:nvSpPr>
        <p:spPr>
          <a:xfrm>
            <a:off x="563755" y="4229736"/>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76" name="Picture 19">
            <a:extLst>
              <a:ext uri="{FF2B5EF4-FFF2-40B4-BE49-F238E27FC236}">
                <a16:creationId xmlns:a16="http://schemas.microsoft.com/office/drawing/2014/main" id="{B20921B9-9901-466E-93B3-B5EE11B467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7755" y="4483736"/>
            <a:ext cx="406400" cy="406400"/>
          </a:xfrm>
          <a:prstGeom prst="rect">
            <a:avLst/>
          </a:prstGeom>
        </p:spPr>
      </p:pic>
      <p:sp>
        <p:nvSpPr>
          <p:cNvPr id="77" name="AutoShape 20">
            <a:extLst>
              <a:ext uri="{FF2B5EF4-FFF2-40B4-BE49-F238E27FC236}">
                <a16:creationId xmlns:a16="http://schemas.microsoft.com/office/drawing/2014/main" id="{C5BF478B-CCBD-4C2E-89E9-DD1B39CE1B15}"/>
              </a:ext>
            </a:extLst>
          </p:cNvPr>
          <p:cNvSpPr/>
          <p:nvPr/>
        </p:nvSpPr>
        <p:spPr>
          <a:xfrm>
            <a:off x="1325755" y="4458336"/>
            <a:ext cx="2413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333333"/>
                </a:solidFill>
                <a:latin typeface="Noto Sans SC"/>
                <a:ea typeface="Noto Sans SC"/>
                <a:cs typeface="Noto Sans SC"/>
                <a:sym typeface="Noto Sans SC"/>
              </a:rPr>
              <a:t>沟通协作能力</a:t>
            </a:r>
            <a:r>
              <a:rPr lang="en-US" b="1" kern="0">
                <a:solidFill>
                  <a:srgbClr val="FF6B35"/>
                </a:solidFill>
                <a:latin typeface="Noto Sans SC"/>
                <a:ea typeface="Noto Sans SC"/>
                <a:cs typeface="Noto Sans SC"/>
                <a:sym typeface="Noto Sans SC"/>
              </a:rPr>
              <a:t>15%</a:t>
            </a:r>
            <a:endParaRPr lang="en-US" sz="1100" kern="0">
              <a:solidFill>
                <a:srgbClr val="000000"/>
              </a:solidFill>
              <a:latin typeface="Arial"/>
              <a:cs typeface="Arial"/>
              <a:sym typeface="Arial"/>
            </a:endParaRPr>
          </a:p>
        </p:txBody>
      </p:sp>
      <p:cxnSp>
        <p:nvCxnSpPr>
          <p:cNvPr id="78" name="Connector 21">
            <a:extLst>
              <a:ext uri="{FF2B5EF4-FFF2-40B4-BE49-F238E27FC236}">
                <a16:creationId xmlns:a16="http://schemas.microsoft.com/office/drawing/2014/main" id="{3D12B8FB-7973-4145-B57B-14D64468C4A5}"/>
              </a:ext>
            </a:extLst>
          </p:cNvPr>
          <p:cNvCxnSpPr/>
          <p:nvPr/>
        </p:nvCxnSpPr>
        <p:spPr>
          <a:xfrm rot="-14946">
            <a:off x="817769" y="4921886"/>
            <a:ext cx="2921000" cy="12700"/>
          </a:xfrm>
          <a:prstGeom prst="straightConnector1">
            <a:avLst/>
          </a:prstGeom>
          <a:solidFill>
            <a:srgbClr val="DEE0E3">
              <a:alpha val="100000"/>
            </a:srgbClr>
          </a:solidFill>
          <a:ln w="12700" cap="flat" cmpd="sng">
            <a:solidFill>
              <a:srgbClr val="F0F0F0">
                <a:alpha val="100000"/>
              </a:srgbClr>
            </a:solidFill>
            <a:prstDash val="solid"/>
            <a:round/>
            <a:headEnd type="none" w="med" len="med"/>
            <a:tailEnd type="none" w="med" len="med"/>
          </a:ln>
        </p:spPr>
      </p:cxnSp>
      <p:sp>
        <p:nvSpPr>
          <p:cNvPr id="79" name="AutoShape 22">
            <a:extLst>
              <a:ext uri="{FF2B5EF4-FFF2-40B4-BE49-F238E27FC236}">
                <a16:creationId xmlns:a16="http://schemas.microsoft.com/office/drawing/2014/main" id="{C8E264FE-0E44-4C19-8424-2ABE3A5670E5}"/>
              </a:ext>
            </a:extLst>
          </p:cNvPr>
          <p:cNvSpPr/>
          <p:nvPr/>
        </p:nvSpPr>
        <p:spPr>
          <a:xfrm>
            <a:off x="817755" y="5055236"/>
            <a:ext cx="2921000" cy="1079500"/>
          </a:xfrm>
          <a:prstGeom prst="rect">
            <a:avLst/>
          </a:prstGeom>
          <a:noFill/>
          <a:ln w="12700" cap="flat" cmpd="sng">
            <a:noFill/>
            <a:prstDash val="solid"/>
            <a:round/>
          </a:ln>
        </p:spPr>
        <p:txBody>
          <a:bodyPr vert="horz" wrap="square" lIns="0" tIns="0" rIns="0" bIns="0" rtlCol="0" anchor="ctr" anchorCtr="0"/>
          <a:lstStyle/>
          <a:p>
            <a:pPr>
              <a:lnSpc>
                <a:spcPct val="108333"/>
              </a:lnSpc>
              <a:buClr>
                <a:srgbClr val="000000"/>
              </a:buClr>
              <a:buFont typeface="Arial"/>
              <a:buNone/>
              <a:defRPr/>
            </a:pPr>
            <a:r>
              <a:rPr lang="en-US" sz="1400" kern="0">
                <a:solidFill>
                  <a:srgbClr val="666666"/>
                </a:solidFill>
                <a:latin typeface="Noto Sans SC"/>
                <a:ea typeface="Noto Sans SC"/>
                <a:cs typeface="Noto Sans SC"/>
                <a:sym typeface="Noto Sans SC"/>
              </a:rPr>
              <a:t>涉及表达清晰、倾听理解、跨部门协作和冲突处理，是高效工作的关键。</a:t>
            </a:r>
            <a:endParaRPr lang="en-US" sz="1100" kern="0">
              <a:solidFill>
                <a:srgbClr val="000000"/>
              </a:solidFill>
              <a:latin typeface="Arial"/>
              <a:cs typeface="Arial"/>
              <a:sym typeface="Arial"/>
            </a:endParaRPr>
          </a:p>
        </p:txBody>
      </p:sp>
      <p:sp>
        <p:nvSpPr>
          <p:cNvPr id="80" name="AutoShape 23">
            <a:extLst>
              <a:ext uri="{FF2B5EF4-FFF2-40B4-BE49-F238E27FC236}">
                <a16:creationId xmlns:a16="http://schemas.microsoft.com/office/drawing/2014/main" id="{9EDA4764-4966-4057-B121-747C0A84BBAD}"/>
              </a:ext>
            </a:extLst>
          </p:cNvPr>
          <p:cNvSpPr/>
          <p:nvPr/>
        </p:nvSpPr>
        <p:spPr>
          <a:xfrm>
            <a:off x="4183255" y="4229736"/>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81" name="Picture 24">
            <a:extLst>
              <a:ext uri="{FF2B5EF4-FFF2-40B4-BE49-F238E27FC236}">
                <a16:creationId xmlns:a16="http://schemas.microsoft.com/office/drawing/2014/main" id="{0C168ABC-ADD9-4951-8820-FF70414E78B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437255" y="4483736"/>
            <a:ext cx="406400" cy="406400"/>
          </a:xfrm>
          <a:prstGeom prst="rect">
            <a:avLst/>
          </a:prstGeom>
        </p:spPr>
      </p:pic>
      <p:sp>
        <p:nvSpPr>
          <p:cNvPr id="82" name="AutoShape 25">
            <a:extLst>
              <a:ext uri="{FF2B5EF4-FFF2-40B4-BE49-F238E27FC236}">
                <a16:creationId xmlns:a16="http://schemas.microsoft.com/office/drawing/2014/main" id="{D5869226-9DF8-4567-ADFA-00B2718B5054}"/>
              </a:ext>
            </a:extLst>
          </p:cNvPr>
          <p:cNvSpPr/>
          <p:nvPr/>
        </p:nvSpPr>
        <p:spPr>
          <a:xfrm>
            <a:off x="4945255" y="4458336"/>
            <a:ext cx="2413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333333"/>
                </a:solidFill>
                <a:latin typeface="Noto Sans SC"/>
                <a:ea typeface="Noto Sans SC"/>
                <a:cs typeface="Noto Sans SC"/>
                <a:sym typeface="Noto Sans SC"/>
              </a:rPr>
              <a:t>执行力与结果产出</a:t>
            </a:r>
            <a:r>
              <a:rPr lang="en-US" b="1" kern="0">
                <a:solidFill>
                  <a:srgbClr val="FF6B35"/>
                </a:solidFill>
                <a:latin typeface="Noto Sans SC"/>
                <a:ea typeface="Noto Sans SC"/>
                <a:cs typeface="Noto Sans SC"/>
                <a:sym typeface="Noto Sans SC"/>
              </a:rPr>
              <a:t>15%</a:t>
            </a:r>
            <a:endParaRPr lang="en-US" sz="1100" kern="0">
              <a:solidFill>
                <a:srgbClr val="000000"/>
              </a:solidFill>
              <a:latin typeface="Arial"/>
              <a:cs typeface="Arial"/>
              <a:sym typeface="Arial"/>
            </a:endParaRPr>
          </a:p>
        </p:txBody>
      </p:sp>
      <p:cxnSp>
        <p:nvCxnSpPr>
          <p:cNvPr id="83" name="Connector 26">
            <a:extLst>
              <a:ext uri="{FF2B5EF4-FFF2-40B4-BE49-F238E27FC236}">
                <a16:creationId xmlns:a16="http://schemas.microsoft.com/office/drawing/2014/main" id="{E38F51D0-0396-42FA-9C68-9A66852130DA}"/>
              </a:ext>
            </a:extLst>
          </p:cNvPr>
          <p:cNvCxnSpPr/>
          <p:nvPr/>
        </p:nvCxnSpPr>
        <p:spPr>
          <a:xfrm rot="-14946">
            <a:off x="4437269" y="4921886"/>
            <a:ext cx="2921000" cy="12700"/>
          </a:xfrm>
          <a:prstGeom prst="straightConnector1">
            <a:avLst/>
          </a:prstGeom>
          <a:solidFill>
            <a:srgbClr val="DEE0E3">
              <a:alpha val="100000"/>
            </a:srgbClr>
          </a:solidFill>
          <a:ln w="12700" cap="flat" cmpd="sng">
            <a:solidFill>
              <a:srgbClr val="F0F0F0">
                <a:alpha val="100000"/>
              </a:srgbClr>
            </a:solidFill>
            <a:prstDash val="solid"/>
            <a:round/>
            <a:headEnd type="none" w="med" len="med"/>
            <a:tailEnd type="none" w="med" len="med"/>
          </a:ln>
        </p:spPr>
      </p:cxnSp>
      <p:sp>
        <p:nvSpPr>
          <p:cNvPr id="84" name="AutoShape 27">
            <a:extLst>
              <a:ext uri="{FF2B5EF4-FFF2-40B4-BE49-F238E27FC236}">
                <a16:creationId xmlns:a16="http://schemas.microsoft.com/office/drawing/2014/main" id="{084CF672-9274-4444-8E40-65A87C8C67DB}"/>
              </a:ext>
            </a:extLst>
          </p:cNvPr>
          <p:cNvSpPr/>
          <p:nvPr/>
        </p:nvSpPr>
        <p:spPr>
          <a:xfrm>
            <a:off x="4437255" y="5055236"/>
            <a:ext cx="2921000" cy="1079500"/>
          </a:xfrm>
          <a:prstGeom prst="rect">
            <a:avLst/>
          </a:prstGeom>
          <a:noFill/>
          <a:ln w="12700" cap="flat" cmpd="sng">
            <a:noFill/>
            <a:prstDash val="solid"/>
            <a:round/>
          </a:ln>
        </p:spPr>
        <p:txBody>
          <a:bodyPr vert="horz" wrap="square" lIns="0" tIns="0" rIns="0" bIns="0" rtlCol="0" anchor="ctr" anchorCtr="0"/>
          <a:lstStyle/>
          <a:p>
            <a:pPr>
              <a:lnSpc>
                <a:spcPct val="108333"/>
              </a:lnSpc>
              <a:buClr>
                <a:srgbClr val="000000"/>
              </a:buClr>
              <a:buFont typeface="Arial"/>
              <a:buNone/>
              <a:defRPr/>
            </a:pPr>
            <a:r>
              <a:rPr lang="en-US" sz="1400" kern="0">
                <a:solidFill>
                  <a:srgbClr val="666666"/>
                </a:solidFill>
                <a:latin typeface="Noto Sans SC"/>
                <a:ea typeface="Noto Sans SC"/>
                <a:cs typeface="Noto Sans SC"/>
                <a:sym typeface="Noto Sans SC"/>
              </a:rPr>
              <a:t>衡量目标达成率、交付质量、效率和闭环意识，直接关联业务成果。</a:t>
            </a:r>
            <a:endParaRPr lang="en-US" sz="1100" kern="0">
              <a:solidFill>
                <a:srgbClr val="000000"/>
              </a:solidFill>
              <a:latin typeface="Arial"/>
              <a:cs typeface="Arial"/>
              <a:sym typeface="Arial"/>
            </a:endParaRPr>
          </a:p>
        </p:txBody>
      </p:sp>
    </p:spTree>
    <p:extLst>
      <p:ext uri="{BB962C8B-B14F-4D97-AF65-F5344CB8AC3E}">
        <p14:creationId xmlns:p14="http://schemas.microsoft.com/office/powerpoint/2010/main" val="16385784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13093" y="103169"/>
            <a:ext cx="10491628" cy="640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219200">
              <a:defRPr/>
            </a:pPr>
            <a:r>
              <a:rPr lang="zh-CN" altLang="en-US"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部门重点工作</a:t>
            </a:r>
            <a:r>
              <a:rPr lang="en-US" altLang="zh-CN"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渠道能力评估模型</a:t>
            </a:r>
          </a:p>
        </p:txBody>
      </p:sp>
      <p:grpSp>
        <p:nvGrpSpPr>
          <p:cNvPr id="30" name="组合 29"/>
          <p:cNvGrpSpPr/>
          <p:nvPr/>
        </p:nvGrpSpPr>
        <p:grpSpPr>
          <a:xfrm>
            <a:off x="69850" y="134620"/>
            <a:ext cx="11892280" cy="590550"/>
            <a:chOff x="110" y="212"/>
            <a:chExt cx="18728" cy="930"/>
          </a:xfrm>
        </p:grpSpPr>
        <p:cxnSp>
          <p:nvCxnSpPr>
            <p:cNvPr id="2" name="直接连接符 1"/>
            <p:cNvCxnSpPr/>
            <p:nvPr/>
          </p:nvCxnSpPr>
          <p:spPr>
            <a:xfrm>
              <a:off x="296" y="1142"/>
              <a:ext cx="18542" cy="0"/>
            </a:xfrm>
            <a:prstGeom prst="line">
              <a:avLst/>
            </a:prstGeom>
          </p:spPr>
          <p:style>
            <a:lnRef idx="2">
              <a:schemeClr val="accent1"/>
            </a:lnRef>
            <a:fillRef idx="0">
              <a:srgbClr val="FFFFFF"/>
            </a:fillRef>
            <a:effectRef idx="0">
              <a:srgbClr val="FFFFFF"/>
            </a:effectRef>
            <a:fontRef idx="minor">
              <a:schemeClr val="tx1"/>
            </a:fontRef>
          </p:style>
        </p:cxnSp>
        <p:sp>
          <p:nvSpPr>
            <p:cNvPr id="7" name="矩形 6"/>
            <p:cNvSpPr/>
            <p:nvPr/>
          </p:nvSpPr>
          <p:spPr>
            <a:xfrm>
              <a:off x="110" y="212"/>
              <a:ext cx="341" cy="61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nvSpPr>
          <p:spPr>
            <a:xfrm>
              <a:off x="310" y="412"/>
              <a:ext cx="341" cy="611"/>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3" name="AutoShape 2">
            <a:extLst>
              <a:ext uri="{FF2B5EF4-FFF2-40B4-BE49-F238E27FC236}">
                <a16:creationId xmlns:a16="http://schemas.microsoft.com/office/drawing/2014/main" id="{59D4DFB4-B470-41B7-90E8-049A4EDAA435}"/>
              </a:ext>
            </a:extLst>
          </p:cNvPr>
          <p:cNvSpPr/>
          <p:nvPr/>
        </p:nvSpPr>
        <p:spPr>
          <a:xfrm>
            <a:off x="672792" y="949094"/>
            <a:ext cx="106680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3200" b="1" kern="0" dirty="0" err="1">
                <a:solidFill>
                  <a:srgbClr val="333333"/>
                </a:solidFill>
                <a:latin typeface="Noto Sans SC"/>
                <a:ea typeface="Noto Sans SC"/>
                <a:cs typeface="Noto Sans SC"/>
                <a:sym typeface="Noto Sans SC"/>
              </a:rPr>
              <a:t>等级划分与定义：从标杆到风险</a:t>
            </a:r>
            <a:endParaRPr lang="en-US" sz="1100" kern="0" dirty="0">
              <a:solidFill>
                <a:srgbClr val="000000"/>
              </a:solidFill>
              <a:latin typeface="Arial"/>
              <a:cs typeface="Arial"/>
              <a:sym typeface="Arial"/>
            </a:endParaRPr>
          </a:p>
        </p:txBody>
      </p:sp>
      <p:sp>
        <p:nvSpPr>
          <p:cNvPr id="34" name="AutoShape 3">
            <a:extLst>
              <a:ext uri="{FF2B5EF4-FFF2-40B4-BE49-F238E27FC236}">
                <a16:creationId xmlns:a16="http://schemas.microsoft.com/office/drawing/2014/main" id="{EB92CFE5-5329-49EF-8BCA-2FF0341ABF53}"/>
              </a:ext>
            </a:extLst>
          </p:cNvPr>
          <p:cNvSpPr/>
          <p:nvPr/>
        </p:nvSpPr>
        <p:spPr>
          <a:xfrm>
            <a:off x="762000" y="1771188"/>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52FF">
                <a:alpha val="10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sp>
        <p:nvSpPr>
          <p:cNvPr id="35" name="AutoShape 4">
            <a:extLst>
              <a:ext uri="{FF2B5EF4-FFF2-40B4-BE49-F238E27FC236}">
                <a16:creationId xmlns:a16="http://schemas.microsoft.com/office/drawing/2014/main" id="{55DF2F98-B141-4C64-AC78-F80D4F159C98}"/>
              </a:ext>
            </a:extLst>
          </p:cNvPr>
          <p:cNvSpPr/>
          <p:nvPr/>
        </p:nvSpPr>
        <p:spPr>
          <a:xfrm>
            <a:off x="762000" y="1771188"/>
            <a:ext cx="76200" cy="2159000"/>
          </a:xfrm>
          <a:prstGeom prst="roundRect">
            <a:avLst>
              <a:gd name="adj" fmla="val 166666"/>
            </a:avLst>
          </a:prstGeom>
          <a:solidFill>
            <a:srgbClr val="0052FF">
              <a:alpha val="100000"/>
            </a:srgbClr>
          </a:solidFill>
          <a:ln w="25400" cap="flat" cmpd="sng">
            <a:noFill/>
            <a:prstDash val="solid"/>
            <a:round/>
          </a:ln>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36" name="Picture 5">
            <a:extLst>
              <a:ext uri="{FF2B5EF4-FFF2-40B4-BE49-F238E27FC236}">
                <a16:creationId xmlns:a16="http://schemas.microsoft.com/office/drawing/2014/main" id="{F3742D97-F512-4285-99EE-919416116C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2200" y="1961688"/>
            <a:ext cx="355600" cy="355600"/>
          </a:xfrm>
          <a:prstGeom prst="rect">
            <a:avLst/>
          </a:prstGeom>
        </p:spPr>
      </p:pic>
      <p:sp>
        <p:nvSpPr>
          <p:cNvPr id="37" name="AutoShape 6">
            <a:extLst>
              <a:ext uri="{FF2B5EF4-FFF2-40B4-BE49-F238E27FC236}">
                <a16:creationId xmlns:a16="http://schemas.microsoft.com/office/drawing/2014/main" id="{8F707102-D3AE-4405-BA93-81D6D31AB9D5}"/>
              </a:ext>
            </a:extLst>
          </p:cNvPr>
          <p:cNvSpPr/>
          <p:nvPr/>
        </p:nvSpPr>
        <p:spPr>
          <a:xfrm>
            <a:off x="1524000" y="1923588"/>
            <a:ext cx="4191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0052FF"/>
                </a:solidFill>
                <a:latin typeface="Noto Sans SC"/>
                <a:ea typeface="Noto Sans SC"/>
                <a:cs typeface="Noto Sans SC"/>
                <a:sym typeface="Noto Sans SC"/>
              </a:rPr>
              <a:t>A级：标杆型 (全能骨干)</a:t>
            </a:r>
            <a:endParaRPr lang="en-US" sz="1100" kern="0">
              <a:solidFill>
                <a:srgbClr val="000000"/>
              </a:solidFill>
              <a:latin typeface="Arial"/>
              <a:cs typeface="Arial"/>
              <a:sym typeface="Arial"/>
            </a:endParaRPr>
          </a:p>
        </p:txBody>
      </p:sp>
      <p:cxnSp>
        <p:nvCxnSpPr>
          <p:cNvPr id="38" name="Connector 7">
            <a:extLst>
              <a:ext uri="{FF2B5EF4-FFF2-40B4-BE49-F238E27FC236}">
                <a16:creationId xmlns:a16="http://schemas.microsoft.com/office/drawing/2014/main" id="{50F60DDF-4C9F-4480-ACC0-360E2DE26020}"/>
              </a:ext>
            </a:extLst>
          </p:cNvPr>
          <p:cNvCxnSpPr/>
          <p:nvPr/>
        </p:nvCxnSpPr>
        <p:spPr>
          <a:xfrm rot="-9444">
            <a:off x="1092209" y="2374438"/>
            <a:ext cx="46228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39" name="AutoShape 8">
            <a:extLst>
              <a:ext uri="{FF2B5EF4-FFF2-40B4-BE49-F238E27FC236}">
                <a16:creationId xmlns:a16="http://schemas.microsoft.com/office/drawing/2014/main" id="{F87850E9-9372-4278-86C3-CD4BBECCAE30}"/>
              </a:ext>
            </a:extLst>
          </p:cNvPr>
          <p:cNvSpPr/>
          <p:nvPr/>
        </p:nvSpPr>
        <p:spPr>
          <a:xfrm>
            <a:off x="1092200" y="2469688"/>
            <a:ext cx="46228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a:solidFill>
                  <a:srgbClr val="666666"/>
                </a:solidFill>
                <a:latin typeface="Noto Sans SC"/>
                <a:ea typeface="Noto Sans SC"/>
                <a:cs typeface="Noto Sans SC"/>
                <a:sym typeface="Noto Sans SC"/>
              </a:rPr>
              <a:t>特征：</a:t>
            </a:r>
            <a:r>
              <a:rPr lang="en-US" sz="1400" kern="0">
                <a:solidFill>
                  <a:srgbClr val="666666"/>
                </a:solidFill>
                <a:latin typeface="Noto Sans SC"/>
                <a:ea typeface="Noto Sans SC"/>
                <a:cs typeface="Noto Sans SC"/>
                <a:sym typeface="Noto Sans SC"/>
              </a:rPr>
              <a:t>绝大多数能力项A级，无C/D级，总分90+。</a:t>
            </a:r>
            <a:endParaRPr lang="en-US" sz="1100" kern="0">
              <a:solidFill>
                <a:srgbClr val="000000"/>
              </a:solidFill>
              <a:latin typeface="Arial"/>
              <a:cs typeface="Arial"/>
              <a:sym typeface="Arial"/>
            </a:endParaRPr>
          </a:p>
        </p:txBody>
      </p:sp>
      <p:sp>
        <p:nvSpPr>
          <p:cNvPr id="40" name="AutoShape 9">
            <a:extLst>
              <a:ext uri="{FF2B5EF4-FFF2-40B4-BE49-F238E27FC236}">
                <a16:creationId xmlns:a16="http://schemas.microsoft.com/office/drawing/2014/main" id="{97AD016D-1B92-4E2B-A24C-C705BE8CE5BB}"/>
              </a:ext>
            </a:extLst>
          </p:cNvPr>
          <p:cNvSpPr/>
          <p:nvPr/>
        </p:nvSpPr>
        <p:spPr>
          <a:xfrm>
            <a:off x="1092200" y="2977688"/>
            <a:ext cx="4622800" cy="762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a:solidFill>
                  <a:srgbClr val="666666"/>
                </a:solidFill>
                <a:latin typeface="Noto Sans SC"/>
                <a:ea typeface="Noto Sans SC"/>
                <a:cs typeface="Noto Sans SC"/>
                <a:sym typeface="Noto Sans SC"/>
              </a:rPr>
              <a:t>建议：</a:t>
            </a:r>
            <a:r>
              <a:rPr lang="en-US" sz="1400" kern="0">
                <a:solidFill>
                  <a:srgbClr val="666666"/>
                </a:solidFill>
                <a:latin typeface="Noto Sans SC"/>
                <a:ea typeface="Noto Sans SC"/>
                <a:cs typeface="Noto Sans SC"/>
                <a:sym typeface="Noto Sans SC"/>
              </a:rPr>
              <a:t>重点保留与激励，作为专家、导师或储备管理者培养。</a:t>
            </a:r>
            <a:endParaRPr lang="en-US" sz="1100" kern="0">
              <a:solidFill>
                <a:srgbClr val="000000"/>
              </a:solidFill>
              <a:latin typeface="Arial"/>
              <a:cs typeface="Arial"/>
              <a:sym typeface="Arial"/>
            </a:endParaRPr>
          </a:p>
        </p:txBody>
      </p:sp>
      <p:sp>
        <p:nvSpPr>
          <p:cNvPr id="41" name="AutoShape 10">
            <a:extLst>
              <a:ext uri="{FF2B5EF4-FFF2-40B4-BE49-F238E27FC236}">
                <a16:creationId xmlns:a16="http://schemas.microsoft.com/office/drawing/2014/main" id="{2533E488-6023-4638-BD2C-35821C51A769}"/>
              </a:ext>
            </a:extLst>
          </p:cNvPr>
          <p:cNvSpPr/>
          <p:nvPr/>
        </p:nvSpPr>
        <p:spPr>
          <a:xfrm>
            <a:off x="6223000" y="1771188"/>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52FF">
                <a:alpha val="10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sp>
        <p:nvSpPr>
          <p:cNvPr id="42" name="AutoShape 11">
            <a:extLst>
              <a:ext uri="{FF2B5EF4-FFF2-40B4-BE49-F238E27FC236}">
                <a16:creationId xmlns:a16="http://schemas.microsoft.com/office/drawing/2014/main" id="{F3CEED98-C6C5-4EA3-826F-8E90786EF4E1}"/>
              </a:ext>
            </a:extLst>
          </p:cNvPr>
          <p:cNvSpPr/>
          <p:nvPr/>
        </p:nvSpPr>
        <p:spPr>
          <a:xfrm>
            <a:off x="6223000" y="1771188"/>
            <a:ext cx="76200" cy="2159000"/>
          </a:xfrm>
          <a:prstGeom prst="roundRect">
            <a:avLst>
              <a:gd name="adj" fmla="val 166666"/>
            </a:avLst>
          </a:prstGeom>
          <a:solidFill>
            <a:srgbClr val="0052FF">
              <a:alpha val="70000"/>
            </a:srgbClr>
          </a:solidFill>
          <a:ln w="25400" cap="flat" cmpd="sng">
            <a:noFill/>
            <a:prstDash val="solid"/>
            <a:round/>
          </a:ln>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43" name="Picture 12">
            <a:extLst>
              <a:ext uri="{FF2B5EF4-FFF2-40B4-BE49-F238E27FC236}">
                <a16:creationId xmlns:a16="http://schemas.microsoft.com/office/drawing/2014/main" id="{F8E9986D-DAC2-461A-AB11-57D8948FFE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3200" y="1961688"/>
            <a:ext cx="355600" cy="355600"/>
          </a:xfrm>
          <a:prstGeom prst="rect">
            <a:avLst/>
          </a:prstGeom>
        </p:spPr>
      </p:pic>
      <p:sp>
        <p:nvSpPr>
          <p:cNvPr id="44" name="AutoShape 13">
            <a:extLst>
              <a:ext uri="{FF2B5EF4-FFF2-40B4-BE49-F238E27FC236}">
                <a16:creationId xmlns:a16="http://schemas.microsoft.com/office/drawing/2014/main" id="{AC5BB449-5889-48C7-A2C3-1564E250C62C}"/>
              </a:ext>
            </a:extLst>
          </p:cNvPr>
          <p:cNvSpPr/>
          <p:nvPr/>
        </p:nvSpPr>
        <p:spPr>
          <a:xfrm>
            <a:off x="6985000" y="1923588"/>
            <a:ext cx="4191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0052FF">
                    <a:alpha val="80000"/>
                  </a:srgbClr>
                </a:solidFill>
                <a:latin typeface="Noto Sans SC"/>
                <a:ea typeface="Noto Sans SC"/>
                <a:cs typeface="Noto Sans SC"/>
                <a:sym typeface="Noto Sans SC"/>
              </a:rPr>
              <a:t>B级：胜任型 (可靠主力)</a:t>
            </a:r>
            <a:endParaRPr lang="en-US" sz="1100" kern="0">
              <a:solidFill>
                <a:srgbClr val="000000"/>
              </a:solidFill>
              <a:latin typeface="Arial"/>
              <a:cs typeface="Arial"/>
              <a:sym typeface="Arial"/>
            </a:endParaRPr>
          </a:p>
        </p:txBody>
      </p:sp>
      <p:cxnSp>
        <p:nvCxnSpPr>
          <p:cNvPr id="45" name="Connector 14">
            <a:extLst>
              <a:ext uri="{FF2B5EF4-FFF2-40B4-BE49-F238E27FC236}">
                <a16:creationId xmlns:a16="http://schemas.microsoft.com/office/drawing/2014/main" id="{ABBD7E9D-CB30-4DF1-BAF2-855F0C392D81}"/>
              </a:ext>
            </a:extLst>
          </p:cNvPr>
          <p:cNvCxnSpPr/>
          <p:nvPr/>
        </p:nvCxnSpPr>
        <p:spPr>
          <a:xfrm rot="-9444">
            <a:off x="6553209" y="2374438"/>
            <a:ext cx="46228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46" name="AutoShape 15">
            <a:extLst>
              <a:ext uri="{FF2B5EF4-FFF2-40B4-BE49-F238E27FC236}">
                <a16:creationId xmlns:a16="http://schemas.microsoft.com/office/drawing/2014/main" id="{8BBE191D-3A29-4593-80CD-15A71480AD8F}"/>
              </a:ext>
            </a:extLst>
          </p:cNvPr>
          <p:cNvSpPr/>
          <p:nvPr/>
        </p:nvSpPr>
        <p:spPr>
          <a:xfrm>
            <a:off x="6553200" y="2469688"/>
            <a:ext cx="46228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a:solidFill>
                  <a:srgbClr val="666666"/>
                </a:solidFill>
                <a:latin typeface="Noto Sans SC"/>
                <a:ea typeface="Noto Sans SC"/>
                <a:cs typeface="Noto Sans SC"/>
                <a:sym typeface="Noto Sans SC"/>
              </a:rPr>
              <a:t>特征：</a:t>
            </a:r>
            <a:r>
              <a:rPr lang="en-US" sz="1400" kern="0">
                <a:solidFill>
                  <a:srgbClr val="666666"/>
                </a:solidFill>
                <a:latin typeface="Noto Sans SC"/>
                <a:ea typeface="Noto Sans SC"/>
                <a:cs typeface="Noto Sans SC"/>
                <a:sym typeface="Noto Sans SC"/>
              </a:rPr>
              <a:t>绝大多数B级以上，允许1-2项C级，总分80-89。</a:t>
            </a:r>
            <a:endParaRPr lang="en-US" sz="1100" kern="0">
              <a:solidFill>
                <a:srgbClr val="000000"/>
              </a:solidFill>
              <a:latin typeface="Arial"/>
              <a:cs typeface="Arial"/>
              <a:sym typeface="Arial"/>
            </a:endParaRPr>
          </a:p>
        </p:txBody>
      </p:sp>
      <p:sp>
        <p:nvSpPr>
          <p:cNvPr id="47" name="AutoShape 16">
            <a:extLst>
              <a:ext uri="{FF2B5EF4-FFF2-40B4-BE49-F238E27FC236}">
                <a16:creationId xmlns:a16="http://schemas.microsoft.com/office/drawing/2014/main" id="{FEDF6840-1394-426B-B16C-845463262282}"/>
              </a:ext>
            </a:extLst>
          </p:cNvPr>
          <p:cNvSpPr/>
          <p:nvPr/>
        </p:nvSpPr>
        <p:spPr>
          <a:xfrm>
            <a:off x="6553200" y="2977688"/>
            <a:ext cx="4622800" cy="762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a:solidFill>
                  <a:srgbClr val="666666"/>
                </a:solidFill>
                <a:latin typeface="Noto Sans SC"/>
                <a:ea typeface="Noto Sans SC"/>
                <a:cs typeface="Noto Sans SC"/>
                <a:sym typeface="Noto Sans SC"/>
              </a:rPr>
              <a:t>建议：</a:t>
            </a:r>
            <a:r>
              <a:rPr lang="en-US" sz="1400" kern="0">
                <a:solidFill>
                  <a:srgbClr val="666666"/>
                </a:solidFill>
                <a:latin typeface="Noto Sans SC"/>
                <a:ea typeface="Noto Sans SC"/>
                <a:cs typeface="Noto Sans SC"/>
                <a:sym typeface="Noto Sans SC"/>
              </a:rPr>
              <a:t>稳固与培养，针对少数短板制定提升计划。</a:t>
            </a:r>
            <a:endParaRPr lang="en-US" sz="1100" kern="0">
              <a:solidFill>
                <a:srgbClr val="000000"/>
              </a:solidFill>
              <a:latin typeface="Arial"/>
              <a:cs typeface="Arial"/>
              <a:sym typeface="Arial"/>
            </a:endParaRPr>
          </a:p>
        </p:txBody>
      </p:sp>
      <p:sp>
        <p:nvSpPr>
          <p:cNvPr id="48" name="AutoShape 17">
            <a:extLst>
              <a:ext uri="{FF2B5EF4-FFF2-40B4-BE49-F238E27FC236}">
                <a16:creationId xmlns:a16="http://schemas.microsoft.com/office/drawing/2014/main" id="{05C653A0-9180-4B22-83F4-899C5E811CB0}"/>
              </a:ext>
            </a:extLst>
          </p:cNvPr>
          <p:cNvSpPr/>
          <p:nvPr/>
        </p:nvSpPr>
        <p:spPr>
          <a:xfrm>
            <a:off x="762000" y="4120688"/>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FF6B35">
                <a:alpha val="10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sp>
        <p:nvSpPr>
          <p:cNvPr id="49" name="AutoShape 18">
            <a:extLst>
              <a:ext uri="{FF2B5EF4-FFF2-40B4-BE49-F238E27FC236}">
                <a16:creationId xmlns:a16="http://schemas.microsoft.com/office/drawing/2014/main" id="{8CD6B95F-10EC-4597-8E89-0239E4299238}"/>
              </a:ext>
            </a:extLst>
          </p:cNvPr>
          <p:cNvSpPr/>
          <p:nvPr/>
        </p:nvSpPr>
        <p:spPr>
          <a:xfrm>
            <a:off x="762000" y="4120688"/>
            <a:ext cx="76200" cy="2159000"/>
          </a:xfrm>
          <a:prstGeom prst="roundRect">
            <a:avLst>
              <a:gd name="adj" fmla="val 166666"/>
            </a:avLst>
          </a:prstGeom>
          <a:solidFill>
            <a:srgbClr val="FF6B35">
              <a:alpha val="70000"/>
            </a:srgbClr>
          </a:solidFill>
          <a:ln w="25400" cap="flat" cmpd="sng">
            <a:noFill/>
            <a:prstDash val="solid"/>
            <a:round/>
          </a:ln>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50" name="Picture 19">
            <a:extLst>
              <a:ext uri="{FF2B5EF4-FFF2-40B4-BE49-F238E27FC236}">
                <a16:creationId xmlns:a16="http://schemas.microsoft.com/office/drawing/2014/main" id="{CAFFAD9D-50EC-4190-B02B-69E07AF6A9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2200" y="4311188"/>
            <a:ext cx="355600" cy="355600"/>
          </a:xfrm>
          <a:prstGeom prst="rect">
            <a:avLst/>
          </a:prstGeom>
        </p:spPr>
      </p:pic>
      <p:sp>
        <p:nvSpPr>
          <p:cNvPr id="51" name="AutoShape 20">
            <a:extLst>
              <a:ext uri="{FF2B5EF4-FFF2-40B4-BE49-F238E27FC236}">
                <a16:creationId xmlns:a16="http://schemas.microsoft.com/office/drawing/2014/main" id="{8387A234-F20E-42AB-B34A-79A3EF876BCD}"/>
              </a:ext>
            </a:extLst>
          </p:cNvPr>
          <p:cNvSpPr/>
          <p:nvPr/>
        </p:nvSpPr>
        <p:spPr>
          <a:xfrm>
            <a:off x="1524000" y="4273088"/>
            <a:ext cx="4191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FF6B35">
                    <a:alpha val="80000"/>
                  </a:srgbClr>
                </a:solidFill>
                <a:latin typeface="Noto Sans SC"/>
                <a:ea typeface="Noto Sans SC"/>
                <a:cs typeface="Noto Sans SC"/>
                <a:sym typeface="Noto Sans SC"/>
              </a:rPr>
              <a:t>C级：待提升型 (执行者)</a:t>
            </a:r>
            <a:endParaRPr lang="en-US" sz="1100" kern="0">
              <a:solidFill>
                <a:srgbClr val="000000"/>
              </a:solidFill>
              <a:latin typeface="Arial"/>
              <a:cs typeface="Arial"/>
              <a:sym typeface="Arial"/>
            </a:endParaRPr>
          </a:p>
        </p:txBody>
      </p:sp>
      <p:cxnSp>
        <p:nvCxnSpPr>
          <p:cNvPr id="52" name="Connector 21">
            <a:extLst>
              <a:ext uri="{FF2B5EF4-FFF2-40B4-BE49-F238E27FC236}">
                <a16:creationId xmlns:a16="http://schemas.microsoft.com/office/drawing/2014/main" id="{E2C6CAEB-E825-4DF1-BE4C-A3C6B7DA02FE}"/>
              </a:ext>
            </a:extLst>
          </p:cNvPr>
          <p:cNvCxnSpPr/>
          <p:nvPr/>
        </p:nvCxnSpPr>
        <p:spPr>
          <a:xfrm rot="-9444">
            <a:off x="1092209" y="4723938"/>
            <a:ext cx="46228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53" name="AutoShape 22">
            <a:extLst>
              <a:ext uri="{FF2B5EF4-FFF2-40B4-BE49-F238E27FC236}">
                <a16:creationId xmlns:a16="http://schemas.microsoft.com/office/drawing/2014/main" id="{0B56C18F-0E51-4D12-9898-1AEA0DB1B01E}"/>
              </a:ext>
            </a:extLst>
          </p:cNvPr>
          <p:cNvSpPr/>
          <p:nvPr/>
        </p:nvSpPr>
        <p:spPr>
          <a:xfrm>
            <a:off x="1092200" y="4819188"/>
            <a:ext cx="46228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a:solidFill>
                  <a:srgbClr val="666666"/>
                </a:solidFill>
                <a:latin typeface="Noto Sans SC"/>
                <a:ea typeface="Noto Sans SC"/>
                <a:cs typeface="Noto Sans SC"/>
                <a:sym typeface="Noto Sans SC"/>
              </a:rPr>
              <a:t>特征：</a:t>
            </a:r>
            <a:r>
              <a:rPr lang="en-US" sz="1400" kern="0">
                <a:solidFill>
                  <a:srgbClr val="666666"/>
                </a:solidFill>
                <a:latin typeface="Noto Sans SC"/>
                <a:ea typeface="Noto Sans SC"/>
                <a:cs typeface="Noto Sans SC"/>
                <a:sym typeface="Noto Sans SC"/>
              </a:rPr>
              <a:t>存在多项C级，可能有1-3项D级，总分60-79。</a:t>
            </a:r>
            <a:endParaRPr lang="en-US" sz="1100" kern="0">
              <a:solidFill>
                <a:srgbClr val="000000"/>
              </a:solidFill>
              <a:latin typeface="Arial"/>
              <a:cs typeface="Arial"/>
              <a:sym typeface="Arial"/>
            </a:endParaRPr>
          </a:p>
        </p:txBody>
      </p:sp>
      <p:sp>
        <p:nvSpPr>
          <p:cNvPr id="54" name="AutoShape 23">
            <a:extLst>
              <a:ext uri="{FF2B5EF4-FFF2-40B4-BE49-F238E27FC236}">
                <a16:creationId xmlns:a16="http://schemas.microsoft.com/office/drawing/2014/main" id="{0F64E35F-2C96-4048-944E-E561281E8278}"/>
              </a:ext>
            </a:extLst>
          </p:cNvPr>
          <p:cNvSpPr/>
          <p:nvPr/>
        </p:nvSpPr>
        <p:spPr>
          <a:xfrm>
            <a:off x="1092200" y="5327188"/>
            <a:ext cx="4622800" cy="762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a:solidFill>
                  <a:srgbClr val="666666"/>
                </a:solidFill>
                <a:latin typeface="Noto Sans SC"/>
                <a:ea typeface="Noto Sans SC"/>
                <a:cs typeface="Noto Sans SC"/>
                <a:sym typeface="Noto Sans SC"/>
              </a:rPr>
              <a:t>建议：</a:t>
            </a:r>
            <a:r>
              <a:rPr lang="en-US" sz="1400" kern="0">
                <a:solidFill>
                  <a:srgbClr val="666666"/>
                </a:solidFill>
                <a:latin typeface="Noto Sans SC"/>
                <a:ea typeface="Noto Sans SC"/>
                <a:cs typeface="Noto Sans SC"/>
                <a:sym typeface="Noto Sans SC"/>
              </a:rPr>
              <a:t>重点赋能与关注，制定系统的提升计划并设定改进期。</a:t>
            </a:r>
            <a:endParaRPr lang="en-US" sz="1100" kern="0">
              <a:solidFill>
                <a:srgbClr val="000000"/>
              </a:solidFill>
              <a:latin typeface="Arial"/>
              <a:cs typeface="Arial"/>
              <a:sym typeface="Arial"/>
            </a:endParaRPr>
          </a:p>
        </p:txBody>
      </p:sp>
      <p:sp>
        <p:nvSpPr>
          <p:cNvPr id="55" name="AutoShape 24">
            <a:extLst>
              <a:ext uri="{FF2B5EF4-FFF2-40B4-BE49-F238E27FC236}">
                <a16:creationId xmlns:a16="http://schemas.microsoft.com/office/drawing/2014/main" id="{0168D3EF-E9AF-4D88-A9DE-4B90947AC9AC}"/>
              </a:ext>
            </a:extLst>
          </p:cNvPr>
          <p:cNvSpPr/>
          <p:nvPr/>
        </p:nvSpPr>
        <p:spPr>
          <a:xfrm>
            <a:off x="6223000" y="4120688"/>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FF6B35">
                <a:alpha val="10000"/>
              </a:srgbClr>
            </a:outerShdw>
          </a:effectLst>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sp>
        <p:nvSpPr>
          <p:cNvPr id="56" name="AutoShape 25">
            <a:extLst>
              <a:ext uri="{FF2B5EF4-FFF2-40B4-BE49-F238E27FC236}">
                <a16:creationId xmlns:a16="http://schemas.microsoft.com/office/drawing/2014/main" id="{4A026188-26B0-48F3-9494-7E163A1BD4EF}"/>
              </a:ext>
            </a:extLst>
          </p:cNvPr>
          <p:cNvSpPr/>
          <p:nvPr/>
        </p:nvSpPr>
        <p:spPr>
          <a:xfrm>
            <a:off x="6223000" y="4120688"/>
            <a:ext cx="76200" cy="2159000"/>
          </a:xfrm>
          <a:prstGeom prst="roundRect">
            <a:avLst>
              <a:gd name="adj" fmla="val 166666"/>
            </a:avLst>
          </a:prstGeom>
          <a:solidFill>
            <a:srgbClr val="FF6B35">
              <a:alpha val="100000"/>
            </a:srgbClr>
          </a:solidFill>
          <a:ln w="25400" cap="flat" cmpd="sng">
            <a:noFill/>
            <a:prstDash val="solid"/>
            <a:round/>
          </a:ln>
        </p:spPr>
        <p:txBody>
          <a:bodyPr vert="horz" wrap="square" lIns="63500" tIns="63500" rIns="63500" bIns="63500" rtlCol="0" anchor="ctr"/>
          <a:lstStyle/>
          <a:p>
            <a:pPr algn="ctr">
              <a:buClr>
                <a:srgbClr val="000000"/>
              </a:buClr>
              <a:buFont typeface="Arial"/>
              <a:buNone/>
              <a:defRPr/>
            </a:pPr>
            <a:endParaRPr sz="1400" kern="0">
              <a:solidFill>
                <a:srgbClr val="000000"/>
              </a:solidFill>
              <a:latin typeface="Arial"/>
              <a:cs typeface="Arial"/>
              <a:sym typeface="Arial"/>
            </a:endParaRPr>
          </a:p>
        </p:txBody>
      </p:sp>
      <p:pic>
        <p:nvPicPr>
          <p:cNvPr id="57" name="Picture 26">
            <a:extLst>
              <a:ext uri="{FF2B5EF4-FFF2-40B4-BE49-F238E27FC236}">
                <a16:creationId xmlns:a16="http://schemas.microsoft.com/office/drawing/2014/main" id="{4CF12315-3874-41C0-98CD-23DE801C0B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53200" y="4311188"/>
            <a:ext cx="355600" cy="355600"/>
          </a:xfrm>
          <a:prstGeom prst="rect">
            <a:avLst/>
          </a:prstGeom>
        </p:spPr>
      </p:pic>
      <p:sp>
        <p:nvSpPr>
          <p:cNvPr id="58" name="AutoShape 27">
            <a:extLst>
              <a:ext uri="{FF2B5EF4-FFF2-40B4-BE49-F238E27FC236}">
                <a16:creationId xmlns:a16="http://schemas.microsoft.com/office/drawing/2014/main" id="{79C0F563-B93F-4B46-8A77-DDD3795EEE0D}"/>
              </a:ext>
            </a:extLst>
          </p:cNvPr>
          <p:cNvSpPr/>
          <p:nvPr/>
        </p:nvSpPr>
        <p:spPr>
          <a:xfrm>
            <a:off x="6985000" y="4273088"/>
            <a:ext cx="4191000" cy="381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b="1" kern="0">
                <a:solidFill>
                  <a:srgbClr val="FF6B35"/>
                </a:solidFill>
                <a:latin typeface="Noto Sans SC"/>
                <a:ea typeface="Noto Sans SC"/>
                <a:cs typeface="Noto Sans SC"/>
                <a:sym typeface="Noto Sans SC"/>
              </a:rPr>
              <a:t>D级：风险型 (能力不足)</a:t>
            </a:r>
            <a:endParaRPr lang="en-US" sz="1100" kern="0">
              <a:solidFill>
                <a:srgbClr val="000000"/>
              </a:solidFill>
              <a:latin typeface="Arial"/>
              <a:cs typeface="Arial"/>
              <a:sym typeface="Arial"/>
            </a:endParaRPr>
          </a:p>
        </p:txBody>
      </p:sp>
      <p:cxnSp>
        <p:nvCxnSpPr>
          <p:cNvPr id="85" name="Connector 28">
            <a:extLst>
              <a:ext uri="{FF2B5EF4-FFF2-40B4-BE49-F238E27FC236}">
                <a16:creationId xmlns:a16="http://schemas.microsoft.com/office/drawing/2014/main" id="{F77A08EA-6A70-4760-8C6A-B8E7E681915C}"/>
              </a:ext>
            </a:extLst>
          </p:cNvPr>
          <p:cNvCxnSpPr/>
          <p:nvPr/>
        </p:nvCxnSpPr>
        <p:spPr>
          <a:xfrm rot="-9444">
            <a:off x="6553209" y="4723938"/>
            <a:ext cx="46228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86" name="AutoShape 29">
            <a:extLst>
              <a:ext uri="{FF2B5EF4-FFF2-40B4-BE49-F238E27FC236}">
                <a16:creationId xmlns:a16="http://schemas.microsoft.com/office/drawing/2014/main" id="{E73F2D5F-81B0-46D5-A895-DE959D730051}"/>
              </a:ext>
            </a:extLst>
          </p:cNvPr>
          <p:cNvSpPr/>
          <p:nvPr/>
        </p:nvSpPr>
        <p:spPr>
          <a:xfrm>
            <a:off x="6553200" y="4819188"/>
            <a:ext cx="4622800" cy="508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a:solidFill>
                  <a:srgbClr val="666666"/>
                </a:solidFill>
                <a:latin typeface="Noto Sans SC"/>
                <a:ea typeface="Noto Sans SC"/>
                <a:cs typeface="Noto Sans SC"/>
                <a:sym typeface="Noto Sans SC"/>
              </a:rPr>
              <a:t>特征：</a:t>
            </a:r>
            <a:r>
              <a:rPr lang="en-US" sz="1400" kern="0">
                <a:solidFill>
                  <a:srgbClr val="666666"/>
                </a:solidFill>
                <a:latin typeface="Noto Sans SC"/>
                <a:ea typeface="Noto Sans SC"/>
                <a:cs typeface="Noto Sans SC"/>
                <a:sym typeface="Noto Sans SC"/>
              </a:rPr>
              <a:t>多个关键项评为C/D级，总分低于60分。</a:t>
            </a:r>
            <a:endParaRPr lang="en-US" sz="1100" kern="0">
              <a:solidFill>
                <a:srgbClr val="000000"/>
              </a:solidFill>
              <a:latin typeface="Arial"/>
              <a:cs typeface="Arial"/>
              <a:sym typeface="Arial"/>
            </a:endParaRPr>
          </a:p>
        </p:txBody>
      </p:sp>
      <p:sp>
        <p:nvSpPr>
          <p:cNvPr id="87" name="AutoShape 30">
            <a:extLst>
              <a:ext uri="{FF2B5EF4-FFF2-40B4-BE49-F238E27FC236}">
                <a16:creationId xmlns:a16="http://schemas.microsoft.com/office/drawing/2014/main" id="{3C12114C-187B-40A2-97DD-2E3CA8A3B582}"/>
              </a:ext>
            </a:extLst>
          </p:cNvPr>
          <p:cNvSpPr/>
          <p:nvPr/>
        </p:nvSpPr>
        <p:spPr>
          <a:xfrm>
            <a:off x="6553200" y="5327188"/>
            <a:ext cx="4622800" cy="762000"/>
          </a:xfrm>
          <a:prstGeom prst="rect">
            <a:avLst/>
          </a:prstGeom>
          <a:noFill/>
          <a:ln w="12700" cap="flat" cmpd="sng">
            <a:noFill/>
            <a:prstDash val="solid"/>
            <a:round/>
          </a:ln>
        </p:spPr>
        <p:txBody>
          <a:bodyPr vert="horz" wrap="square" lIns="0" tIns="0" rIns="0" bIns="0" rtlCol="0" anchor="ctr" anchorCtr="0"/>
          <a:lstStyle/>
          <a:p>
            <a:pPr>
              <a:lnSpc>
                <a:spcPct val="125000"/>
              </a:lnSpc>
              <a:buClr>
                <a:srgbClr val="000000"/>
              </a:buClr>
              <a:buFont typeface="Arial"/>
              <a:buNone/>
              <a:defRPr/>
            </a:pPr>
            <a:r>
              <a:rPr lang="en-US" sz="1400" b="1" kern="0">
                <a:solidFill>
                  <a:srgbClr val="666666"/>
                </a:solidFill>
                <a:latin typeface="Noto Sans SC"/>
                <a:ea typeface="Noto Sans SC"/>
                <a:cs typeface="Noto Sans SC"/>
                <a:sym typeface="Noto Sans SC"/>
              </a:rPr>
              <a:t>建议：</a:t>
            </a:r>
            <a:r>
              <a:rPr lang="en-US" sz="1400" kern="0">
                <a:solidFill>
                  <a:srgbClr val="666666"/>
                </a:solidFill>
                <a:latin typeface="Noto Sans SC"/>
                <a:ea typeface="Noto Sans SC"/>
                <a:cs typeface="Noto Sans SC"/>
                <a:sym typeface="Noto Sans SC"/>
              </a:rPr>
              <a:t>立即干预与决策，制定短期改进方案或评估替换必要性。</a:t>
            </a:r>
            <a:endParaRPr lang="en-US" sz="1100" kern="0">
              <a:solidFill>
                <a:srgbClr val="000000"/>
              </a:solidFill>
              <a:latin typeface="Arial"/>
              <a:cs typeface="Arial"/>
              <a:sym typeface="Arial"/>
            </a:endParaRPr>
          </a:p>
        </p:txBody>
      </p:sp>
    </p:spTree>
    <p:extLst>
      <p:ext uri="{BB962C8B-B14F-4D97-AF65-F5344CB8AC3E}">
        <p14:creationId xmlns:p14="http://schemas.microsoft.com/office/powerpoint/2010/main" val="3466683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13093" y="103169"/>
            <a:ext cx="10491628" cy="640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219200">
              <a:defRPr/>
            </a:pPr>
            <a:r>
              <a:rPr lang="zh-CN" altLang="en-US"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部门重点工作</a:t>
            </a:r>
            <a:r>
              <a:rPr lang="en-US" altLang="zh-CN"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渠道能力评估模型</a:t>
            </a:r>
          </a:p>
        </p:txBody>
      </p:sp>
      <p:grpSp>
        <p:nvGrpSpPr>
          <p:cNvPr id="30" name="组合 29"/>
          <p:cNvGrpSpPr/>
          <p:nvPr/>
        </p:nvGrpSpPr>
        <p:grpSpPr>
          <a:xfrm>
            <a:off x="69850" y="134620"/>
            <a:ext cx="11892280" cy="590550"/>
            <a:chOff x="110" y="212"/>
            <a:chExt cx="18728" cy="930"/>
          </a:xfrm>
        </p:grpSpPr>
        <p:cxnSp>
          <p:nvCxnSpPr>
            <p:cNvPr id="2" name="直接连接符 1"/>
            <p:cNvCxnSpPr/>
            <p:nvPr/>
          </p:nvCxnSpPr>
          <p:spPr>
            <a:xfrm>
              <a:off x="296" y="1142"/>
              <a:ext cx="18542" cy="0"/>
            </a:xfrm>
            <a:prstGeom prst="line">
              <a:avLst/>
            </a:prstGeom>
          </p:spPr>
          <p:style>
            <a:lnRef idx="2">
              <a:schemeClr val="accent1"/>
            </a:lnRef>
            <a:fillRef idx="0">
              <a:srgbClr val="FFFFFF"/>
            </a:fillRef>
            <a:effectRef idx="0">
              <a:srgbClr val="FFFFFF"/>
            </a:effectRef>
            <a:fontRef idx="minor">
              <a:schemeClr val="tx1"/>
            </a:fontRef>
          </p:style>
        </p:cxnSp>
        <p:sp>
          <p:nvSpPr>
            <p:cNvPr id="7" name="矩形 6"/>
            <p:cNvSpPr/>
            <p:nvPr/>
          </p:nvSpPr>
          <p:spPr>
            <a:xfrm>
              <a:off x="110" y="212"/>
              <a:ext cx="341" cy="61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nvSpPr>
          <p:spPr>
            <a:xfrm>
              <a:off x="310" y="412"/>
              <a:ext cx="341" cy="611"/>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59" name="AutoShape 2">
            <a:extLst>
              <a:ext uri="{FF2B5EF4-FFF2-40B4-BE49-F238E27FC236}">
                <a16:creationId xmlns:a16="http://schemas.microsoft.com/office/drawing/2014/main" id="{1CAB8E65-4E6B-4A79-8A8A-32A4EADB22AB}"/>
              </a:ext>
            </a:extLst>
          </p:cNvPr>
          <p:cNvSpPr/>
          <p:nvPr/>
        </p:nvSpPr>
        <p:spPr>
          <a:xfrm>
            <a:off x="762000" y="1016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模型应用建议：内部管理核心应用</a:t>
            </a:r>
            <a:endParaRPr lang="en-US" sz="1100"/>
          </a:p>
        </p:txBody>
      </p:sp>
      <p:sp>
        <p:nvSpPr>
          <p:cNvPr id="60" name="AutoShape 3">
            <a:extLst>
              <a:ext uri="{FF2B5EF4-FFF2-40B4-BE49-F238E27FC236}">
                <a16:creationId xmlns:a16="http://schemas.microsoft.com/office/drawing/2014/main" id="{1633584B-A69C-4F90-8C76-96A5925408AF}"/>
              </a:ext>
            </a:extLst>
          </p:cNvPr>
          <p:cNvSpPr/>
          <p:nvPr/>
        </p:nvSpPr>
        <p:spPr>
          <a:xfrm>
            <a:off x="762000" y="1905000"/>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61" name="Picture 4">
            <a:extLst>
              <a:ext uri="{FF2B5EF4-FFF2-40B4-BE49-F238E27FC236}">
                <a16:creationId xmlns:a16="http://schemas.microsoft.com/office/drawing/2014/main" id="{769E3E08-80F5-45A4-A094-408D4A0AAF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59000"/>
            <a:ext cx="406400" cy="406400"/>
          </a:xfrm>
          <a:prstGeom prst="rect">
            <a:avLst/>
          </a:prstGeom>
        </p:spPr>
      </p:pic>
      <p:sp>
        <p:nvSpPr>
          <p:cNvPr id="62" name="AutoShape 5">
            <a:extLst>
              <a:ext uri="{FF2B5EF4-FFF2-40B4-BE49-F238E27FC236}">
                <a16:creationId xmlns:a16="http://schemas.microsoft.com/office/drawing/2014/main" id="{5279532E-1100-40FF-BA7D-869BFE5ABC3E}"/>
              </a:ext>
            </a:extLst>
          </p:cNvPr>
          <p:cNvSpPr/>
          <p:nvPr/>
        </p:nvSpPr>
        <p:spPr>
          <a:xfrm>
            <a:off x="1501698" y="2159000"/>
            <a:ext cx="26035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dirty="0">
                <a:solidFill>
                  <a:srgbClr val="333333"/>
                </a:solidFill>
                <a:latin typeface="Noto Sans SC"/>
                <a:ea typeface="Noto Sans SC"/>
                <a:cs typeface="Noto Sans SC"/>
                <a:sym typeface="Noto Sans SC"/>
              </a:rPr>
              <a:t>渠道</a:t>
            </a:r>
            <a:r>
              <a:rPr lang="en-US" sz="1800" b="1" i="0" u="none" strike="noStrike" dirty="0" err="1">
                <a:solidFill>
                  <a:srgbClr val="333333"/>
                </a:solidFill>
                <a:latin typeface="Noto Sans SC"/>
                <a:ea typeface="Noto Sans SC"/>
                <a:cs typeface="Noto Sans SC"/>
                <a:sym typeface="Noto Sans SC"/>
              </a:rPr>
              <a:t>人员盘点与架构管理</a:t>
            </a:r>
            <a:endParaRPr lang="en-US" sz="1100" dirty="0"/>
          </a:p>
        </p:txBody>
      </p:sp>
      <p:sp>
        <p:nvSpPr>
          <p:cNvPr id="63" name="AutoShape 6">
            <a:extLst>
              <a:ext uri="{FF2B5EF4-FFF2-40B4-BE49-F238E27FC236}">
                <a16:creationId xmlns:a16="http://schemas.microsoft.com/office/drawing/2014/main" id="{1593BB83-07E2-49B7-B207-3A130350A07A}"/>
              </a:ext>
            </a:extLst>
          </p:cNvPr>
          <p:cNvSpPr/>
          <p:nvPr/>
        </p:nvSpPr>
        <p:spPr>
          <a:xfrm>
            <a:off x="1016000" y="26035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66666"/>
                </a:solidFill>
                <a:latin typeface="Noto Sans SC"/>
                <a:ea typeface="Noto Sans SC"/>
                <a:cs typeface="Noto Sans SC"/>
                <a:sym typeface="Noto Sans SC"/>
              </a:rPr>
              <a:t>快速掌握</a:t>
            </a:r>
            <a:r>
              <a:rPr lang="zh-CN" altLang="en-US" sz="1400" b="0" i="0" u="none" strike="noStrike" dirty="0">
                <a:solidFill>
                  <a:srgbClr val="666666"/>
                </a:solidFill>
                <a:latin typeface="Noto Sans SC"/>
                <a:ea typeface="Noto Sans SC"/>
                <a:cs typeface="Noto Sans SC"/>
                <a:sym typeface="Noto Sans SC"/>
              </a:rPr>
              <a:t>渠道</a:t>
            </a:r>
            <a:r>
              <a:rPr lang="en-US" sz="1400" b="0" i="0" u="none" strike="noStrike" dirty="0" err="1">
                <a:solidFill>
                  <a:srgbClr val="666666"/>
                </a:solidFill>
                <a:latin typeface="Noto Sans SC"/>
                <a:ea typeface="Noto Sans SC"/>
                <a:cs typeface="Noto Sans SC"/>
                <a:sym typeface="Noto Sans SC"/>
              </a:rPr>
              <a:t>团队整体结构、能力分布与潜在风险</a:t>
            </a:r>
            <a:r>
              <a:rPr lang="en-US" sz="1400" b="0" i="0" u="none" strike="noStrike" dirty="0">
                <a:solidFill>
                  <a:srgbClr val="666666"/>
                </a:solidFill>
                <a:latin typeface="Noto Sans SC"/>
                <a:ea typeface="Noto Sans SC"/>
                <a:cs typeface="Noto Sans SC"/>
                <a:sym typeface="Noto Sans SC"/>
              </a:rPr>
              <a:t>，</a:t>
            </a:r>
            <a:r>
              <a:rPr lang="zh-CN" altLang="en-US" sz="1400" b="0" i="0" u="none" strike="noStrike" dirty="0">
                <a:solidFill>
                  <a:srgbClr val="666666"/>
                </a:solidFill>
                <a:latin typeface="Noto Sans SC"/>
                <a:ea typeface="Noto Sans SC"/>
                <a:cs typeface="Noto Sans SC"/>
                <a:sym typeface="Noto Sans SC"/>
              </a:rPr>
              <a:t>根据策略要求</a:t>
            </a:r>
            <a:r>
              <a:rPr lang="en-US" sz="1400" b="0" i="0" u="none" strike="noStrike" dirty="0" err="1">
                <a:solidFill>
                  <a:srgbClr val="666666"/>
                </a:solidFill>
                <a:latin typeface="Noto Sans SC"/>
                <a:ea typeface="Noto Sans SC"/>
                <a:cs typeface="Noto Sans SC"/>
                <a:sym typeface="Noto Sans SC"/>
              </a:rPr>
              <a:t>支持组织架构的灵活调整</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64" name="AutoShape 7">
            <a:extLst>
              <a:ext uri="{FF2B5EF4-FFF2-40B4-BE49-F238E27FC236}">
                <a16:creationId xmlns:a16="http://schemas.microsoft.com/office/drawing/2014/main" id="{AB261629-D858-4BBC-9F65-520C1D22EB46}"/>
              </a:ext>
            </a:extLst>
          </p:cNvPr>
          <p:cNvSpPr/>
          <p:nvPr/>
        </p:nvSpPr>
        <p:spPr>
          <a:xfrm>
            <a:off x="4381500" y="1905000"/>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65" name="Picture 8">
            <a:extLst>
              <a:ext uri="{FF2B5EF4-FFF2-40B4-BE49-F238E27FC236}">
                <a16:creationId xmlns:a16="http://schemas.microsoft.com/office/drawing/2014/main" id="{E96F1B11-8745-43F5-ADA9-5480D0E2125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5500" y="2159000"/>
            <a:ext cx="406400" cy="406400"/>
          </a:xfrm>
          <a:prstGeom prst="rect">
            <a:avLst/>
          </a:prstGeom>
        </p:spPr>
      </p:pic>
      <p:sp>
        <p:nvSpPr>
          <p:cNvPr id="66" name="AutoShape 9">
            <a:extLst>
              <a:ext uri="{FF2B5EF4-FFF2-40B4-BE49-F238E27FC236}">
                <a16:creationId xmlns:a16="http://schemas.microsoft.com/office/drawing/2014/main" id="{0FF3638B-93E5-4214-8A37-3758BBC9586E}"/>
              </a:ext>
            </a:extLst>
          </p:cNvPr>
          <p:cNvSpPr/>
          <p:nvPr/>
        </p:nvSpPr>
        <p:spPr>
          <a:xfrm>
            <a:off x="5143500" y="2159000"/>
            <a:ext cx="2413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b="1" dirty="0">
                <a:solidFill>
                  <a:srgbClr val="333333"/>
                </a:solidFill>
                <a:latin typeface="Noto Sans SC"/>
                <a:ea typeface="Noto Sans SC"/>
                <a:cs typeface="Noto Sans SC"/>
                <a:sym typeface="Noto Sans SC"/>
              </a:rPr>
              <a:t>定制化赋能依据</a:t>
            </a:r>
            <a:endParaRPr lang="en-US" sz="1100" dirty="0"/>
          </a:p>
        </p:txBody>
      </p:sp>
      <p:sp>
        <p:nvSpPr>
          <p:cNvPr id="67" name="AutoShape 10">
            <a:extLst>
              <a:ext uri="{FF2B5EF4-FFF2-40B4-BE49-F238E27FC236}">
                <a16:creationId xmlns:a16="http://schemas.microsoft.com/office/drawing/2014/main" id="{33E52277-3617-491C-9A89-E0BD6B0214D9}"/>
              </a:ext>
            </a:extLst>
          </p:cNvPr>
          <p:cNvSpPr/>
          <p:nvPr/>
        </p:nvSpPr>
        <p:spPr>
          <a:xfrm>
            <a:off x="4635500" y="26035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66666"/>
                </a:solidFill>
                <a:latin typeface="Noto Sans SC"/>
                <a:ea typeface="Noto Sans SC"/>
                <a:cs typeface="Noto Sans SC"/>
                <a:sym typeface="Noto Sans SC"/>
              </a:rPr>
              <a:t>支撑梯队化赋能培训和个人定制化成长计划（IDP）的制定，数据驱动决策</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68" name="AutoShape 11">
            <a:extLst>
              <a:ext uri="{FF2B5EF4-FFF2-40B4-BE49-F238E27FC236}">
                <a16:creationId xmlns:a16="http://schemas.microsoft.com/office/drawing/2014/main" id="{226AE0B8-D079-4997-99B8-4431F2E99063}"/>
              </a:ext>
            </a:extLst>
          </p:cNvPr>
          <p:cNvSpPr/>
          <p:nvPr/>
        </p:nvSpPr>
        <p:spPr>
          <a:xfrm>
            <a:off x="8001000" y="1905000"/>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69" name="Picture 12">
            <a:extLst>
              <a:ext uri="{FF2B5EF4-FFF2-40B4-BE49-F238E27FC236}">
                <a16:creationId xmlns:a16="http://schemas.microsoft.com/office/drawing/2014/main" id="{6893E789-3525-42A4-AD7C-7929D840549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55000" y="2159000"/>
            <a:ext cx="406400" cy="406400"/>
          </a:xfrm>
          <a:prstGeom prst="rect">
            <a:avLst/>
          </a:prstGeom>
        </p:spPr>
      </p:pic>
      <p:sp>
        <p:nvSpPr>
          <p:cNvPr id="70" name="AutoShape 13">
            <a:extLst>
              <a:ext uri="{FF2B5EF4-FFF2-40B4-BE49-F238E27FC236}">
                <a16:creationId xmlns:a16="http://schemas.microsoft.com/office/drawing/2014/main" id="{807DA6E9-AA63-4242-B7A5-3CDFD7C0E2AD}"/>
              </a:ext>
            </a:extLst>
          </p:cNvPr>
          <p:cNvSpPr/>
          <p:nvPr/>
        </p:nvSpPr>
        <p:spPr>
          <a:xfrm>
            <a:off x="8763000" y="2159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人员配置与区域管理</a:t>
            </a:r>
            <a:endParaRPr lang="en-US" sz="1100"/>
          </a:p>
        </p:txBody>
      </p:sp>
      <p:sp>
        <p:nvSpPr>
          <p:cNvPr id="71" name="AutoShape 14">
            <a:extLst>
              <a:ext uri="{FF2B5EF4-FFF2-40B4-BE49-F238E27FC236}">
                <a16:creationId xmlns:a16="http://schemas.microsoft.com/office/drawing/2014/main" id="{DCC5ED5D-705A-4C14-AA4F-A454403C122A}"/>
              </a:ext>
            </a:extLst>
          </p:cNvPr>
          <p:cNvSpPr/>
          <p:nvPr/>
        </p:nvSpPr>
        <p:spPr>
          <a:xfrm>
            <a:off x="8255000" y="26035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66666"/>
                </a:solidFill>
                <a:latin typeface="Noto Sans SC"/>
                <a:ea typeface="Noto Sans SC"/>
                <a:cs typeface="Noto Sans SC"/>
                <a:sym typeface="Noto Sans SC"/>
              </a:rPr>
              <a:t>指导核心客户</a:t>
            </a:r>
            <a:r>
              <a:rPr lang="zh-CN" altLang="en-US" sz="1400" b="0" i="0" u="none" strike="noStrike" dirty="0">
                <a:solidFill>
                  <a:srgbClr val="666666"/>
                </a:solidFill>
                <a:latin typeface="Noto Sans SC"/>
                <a:ea typeface="Noto Sans SC"/>
                <a:cs typeface="Noto Sans SC"/>
                <a:sym typeface="Noto Sans SC"/>
              </a:rPr>
              <a:t>（</a:t>
            </a:r>
            <a:r>
              <a:rPr lang="en-US" altLang="zh-CN" sz="1400" b="0" i="0" u="none" strike="noStrike" dirty="0">
                <a:solidFill>
                  <a:srgbClr val="666666"/>
                </a:solidFill>
                <a:latin typeface="Noto Sans SC"/>
                <a:ea typeface="Noto Sans SC"/>
                <a:cs typeface="Noto Sans SC"/>
                <a:sym typeface="Noto Sans SC"/>
              </a:rPr>
              <a:t>V3</a:t>
            </a:r>
            <a:r>
              <a:rPr lang="zh-CN" altLang="en-US" sz="1400" b="0" i="0" u="none" strike="noStrike" dirty="0">
                <a:solidFill>
                  <a:srgbClr val="666666"/>
                </a:solidFill>
                <a:latin typeface="Noto Sans SC"/>
                <a:ea typeface="Noto Sans SC"/>
                <a:cs typeface="Noto Sans SC"/>
                <a:sym typeface="Noto Sans SC"/>
              </a:rPr>
              <a:t>、</a:t>
            </a:r>
            <a:r>
              <a:rPr lang="en-US" altLang="zh-CN" sz="1400" b="0" i="0" u="none" strike="noStrike" dirty="0">
                <a:solidFill>
                  <a:srgbClr val="666666"/>
                </a:solidFill>
                <a:latin typeface="Noto Sans SC"/>
                <a:ea typeface="Noto Sans SC"/>
                <a:cs typeface="Noto Sans SC"/>
                <a:sym typeface="Noto Sans SC"/>
              </a:rPr>
              <a:t>V2</a:t>
            </a:r>
            <a:r>
              <a:rPr lang="zh-CN" altLang="en-US" sz="1400" b="0" i="0" u="none" strike="noStrike" dirty="0">
                <a:solidFill>
                  <a:srgbClr val="666666"/>
                </a:solidFill>
                <a:latin typeface="Noto Sans SC"/>
                <a:ea typeface="Noto Sans SC"/>
                <a:cs typeface="Noto Sans SC"/>
                <a:sym typeface="Noto Sans SC"/>
              </a:rPr>
              <a:t>）</a:t>
            </a:r>
            <a:r>
              <a:rPr lang="en-US" sz="1400" b="0" i="0" u="none" strike="noStrike" dirty="0" err="1">
                <a:solidFill>
                  <a:srgbClr val="666666"/>
                </a:solidFill>
                <a:latin typeface="Noto Sans SC"/>
                <a:ea typeface="Noto Sans SC"/>
                <a:cs typeface="Noto Sans SC"/>
                <a:sym typeface="Noto Sans SC"/>
              </a:rPr>
              <a:t>绑定、区域人员均衡分配和定向赋能，确保服务质量</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72" name="AutoShape 15">
            <a:extLst>
              <a:ext uri="{FF2B5EF4-FFF2-40B4-BE49-F238E27FC236}">
                <a16:creationId xmlns:a16="http://schemas.microsoft.com/office/drawing/2014/main" id="{84B5FA9F-2D18-4867-ABB7-34350B9D8C2E}"/>
              </a:ext>
            </a:extLst>
          </p:cNvPr>
          <p:cNvSpPr/>
          <p:nvPr/>
        </p:nvSpPr>
        <p:spPr>
          <a:xfrm>
            <a:off x="762000" y="4191000"/>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73" name="Picture 16">
            <a:extLst>
              <a:ext uri="{FF2B5EF4-FFF2-40B4-BE49-F238E27FC236}">
                <a16:creationId xmlns:a16="http://schemas.microsoft.com/office/drawing/2014/main" id="{7A91DEA9-26B4-45DD-A912-9999A1E414B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445000"/>
            <a:ext cx="406400" cy="406400"/>
          </a:xfrm>
          <a:prstGeom prst="rect">
            <a:avLst/>
          </a:prstGeom>
        </p:spPr>
      </p:pic>
      <p:sp>
        <p:nvSpPr>
          <p:cNvPr id="74" name="AutoShape 17">
            <a:extLst>
              <a:ext uri="{FF2B5EF4-FFF2-40B4-BE49-F238E27FC236}">
                <a16:creationId xmlns:a16="http://schemas.microsoft.com/office/drawing/2014/main" id="{EFC6B6B9-324E-438F-93C2-FC1750799184}"/>
              </a:ext>
            </a:extLst>
          </p:cNvPr>
          <p:cNvSpPr/>
          <p:nvPr/>
        </p:nvSpPr>
        <p:spPr>
          <a:xfrm>
            <a:off x="1524000" y="4445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岗位差异化赋能</a:t>
            </a:r>
            <a:endParaRPr lang="en-US" sz="1100"/>
          </a:p>
        </p:txBody>
      </p:sp>
      <p:sp>
        <p:nvSpPr>
          <p:cNvPr id="75" name="AutoShape 18">
            <a:extLst>
              <a:ext uri="{FF2B5EF4-FFF2-40B4-BE49-F238E27FC236}">
                <a16:creationId xmlns:a16="http://schemas.microsoft.com/office/drawing/2014/main" id="{36BE46FD-D9E8-4125-83B9-4541495470AD}"/>
              </a:ext>
            </a:extLst>
          </p:cNvPr>
          <p:cNvSpPr/>
          <p:nvPr/>
        </p:nvSpPr>
        <p:spPr>
          <a:xfrm>
            <a:off x="1016000" y="4889500"/>
            <a:ext cx="2921000" cy="1143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400" b="0" i="0" u="none" strike="noStrike" dirty="0" err="1">
                <a:solidFill>
                  <a:srgbClr val="666666"/>
                </a:solidFill>
                <a:latin typeface="Noto Sans SC"/>
                <a:ea typeface="Noto Sans SC"/>
                <a:cs typeface="Noto Sans SC"/>
                <a:sym typeface="Noto Sans SC"/>
              </a:rPr>
              <a:t>针对不同岗位（如</a:t>
            </a:r>
            <a:r>
              <a:rPr lang="en-US" altLang="zh-CN" sz="1400" dirty="0">
                <a:solidFill>
                  <a:srgbClr val="666666"/>
                </a:solidFill>
                <a:latin typeface="Noto Sans SC"/>
                <a:ea typeface="Noto Sans SC"/>
                <a:cs typeface="Noto Sans SC"/>
                <a:sym typeface="Noto Sans SC"/>
              </a:rPr>
              <a:t> LTC </a:t>
            </a:r>
            <a:r>
              <a:rPr lang="zh-CN" altLang="en-US" sz="1400" dirty="0">
                <a:solidFill>
                  <a:srgbClr val="666666"/>
                </a:solidFill>
                <a:latin typeface="Noto Sans SC"/>
                <a:ea typeface="Noto Sans SC"/>
                <a:cs typeface="Noto Sans SC"/>
                <a:sym typeface="Noto Sans SC"/>
              </a:rPr>
              <a:t>、</a:t>
            </a:r>
            <a:r>
              <a:rPr lang="en-US" altLang="zh-CN" sz="1400" dirty="0">
                <a:solidFill>
                  <a:srgbClr val="666666"/>
                </a:solidFill>
                <a:latin typeface="Noto Sans SC"/>
                <a:ea typeface="Noto Sans SC"/>
                <a:cs typeface="Noto Sans SC"/>
                <a:sym typeface="Noto Sans SC"/>
              </a:rPr>
              <a:t>I</a:t>
            </a:r>
            <a:r>
              <a:rPr lang="en-US" sz="1400" b="0" i="0" u="none" strike="noStrike" dirty="0">
                <a:solidFill>
                  <a:srgbClr val="666666"/>
                </a:solidFill>
                <a:latin typeface="Noto Sans SC"/>
                <a:ea typeface="Noto Sans SC"/>
                <a:cs typeface="Noto Sans SC"/>
                <a:sym typeface="Noto Sans SC"/>
              </a:rPr>
              <a:t>TR、C</a:t>
            </a:r>
            <a:r>
              <a:rPr lang="en-US" altLang="zh-CN" sz="1400" b="0" i="0" u="none" strike="noStrike" dirty="0">
                <a:solidFill>
                  <a:srgbClr val="666666"/>
                </a:solidFill>
                <a:latin typeface="Noto Sans SC"/>
                <a:ea typeface="Noto Sans SC"/>
                <a:cs typeface="Noto Sans SC"/>
                <a:sym typeface="Noto Sans SC"/>
              </a:rPr>
              <a:t>R</a:t>
            </a:r>
            <a:r>
              <a:rPr lang="zh-CN" altLang="en-US" sz="1400" b="0" i="0" u="none" strike="noStrike" dirty="0">
                <a:solidFill>
                  <a:srgbClr val="666666"/>
                </a:solidFill>
                <a:latin typeface="Noto Sans SC"/>
                <a:ea typeface="Noto Sans SC"/>
                <a:cs typeface="Noto Sans SC"/>
                <a:sym typeface="Noto Sans SC"/>
              </a:rPr>
              <a:t>业务</a:t>
            </a:r>
            <a:r>
              <a:rPr lang="en-US" sz="1400" b="0" i="0" u="none" strike="noStrike" dirty="0" err="1">
                <a:solidFill>
                  <a:srgbClr val="666666"/>
                </a:solidFill>
                <a:latin typeface="Noto Sans SC"/>
                <a:ea typeface="Noto Sans SC"/>
                <a:cs typeface="Noto Sans SC"/>
                <a:sym typeface="Noto Sans SC"/>
              </a:rPr>
              <a:t>M）建立分级赋能方案，提升培训精准度</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76" name="AutoShape 19">
            <a:extLst>
              <a:ext uri="{FF2B5EF4-FFF2-40B4-BE49-F238E27FC236}">
                <a16:creationId xmlns:a16="http://schemas.microsoft.com/office/drawing/2014/main" id="{3BFC187E-6A35-4F58-B279-9B74EF5687ED}"/>
              </a:ext>
            </a:extLst>
          </p:cNvPr>
          <p:cNvSpPr/>
          <p:nvPr/>
        </p:nvSpPr>
        <p:spPr>
          <a:xfrm>
            <a:off x="4381500" y="4191000"/>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77" name="Picture 20">
            <a:extLst>
              <a:ext uri="{FF2B5EF4-FFF2-40B4-BE49-F238E27FC236}">
                <a16:creationId xmlns:a16="http://schemas.microsoft.com/office/drawing/2014/main" id="{07F80852-41EF-4DC9-9B62-ACE9FCC7B8F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635500" y="4445000"/>
            <a:ext cx="406400" cy="406400"/>
          </a:xfrm>
          <a:prstGeom prst="rect">
            <a:avLst/>
          </a:prstGeom>
        </p:spPr>
      </p:pic>
      <p:sp>
        <p:nvSpPr>
          <p:cNvPr id="78" name="AutoShape 21">
            <a:extLst>
              <a:ext uri="{FF2B5EF4-FFF2-40B4-BE49-F238E27FC236}">
                <a16:creationId xmlns:a16="http://schemas.microsoft.com/office/drawing/2014/main" id="{200EFF2C-7E06-4EEB-90D1-EDE410C076B0}"/>
              </a:ext>
            </a:extLst>
          </p:cNvPr>
          <p:cNvSpPr/>
          <p:nvPr/>
        </p:nvSpPr>
        <p:spPr>
          <a:xfrm>
            <a:off x="5143500" y="4445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人员优化与替换</a:t>
            </a:r>
            <a:endParaRPr lang="en-US" sz="1100"/>
          </a:p>
        </p:txBody>
      </p:sp>
      <p:sp>
        <p:nvSpPr>
          <p:cNvPr id="79" name="AutoShape 22">
            <a:extLst>
              <a:ext uri="{FF2B5EF4-FFF2-40B4-BE49-F238E27FC236}">
                <a16:creationId xmlns:a16="http://schemas.microsoft.com/office/drawing/2014/main" id="{ADB0C7CE-5908-498B-91F1-6635F4B761AF}"/>
              </a:ext>
            </a:extLst>
          </p:cNvPr>
          <p:cNvSpPr/>
          <p:nvPr/>
        </p:nvSpPr>
        <p:spPr>
          <a:xfrm>
            <a:off x="4635500" y="48895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将C/D类人员列为优先评估对象，科学开展人员调整，优化团队效能。</a:t>
            </a:r>
            <a:endParaRPr lang="en-US" sz="1100"/>
          </a:p>
        </p:txBody>
      </p:sp>
      <p:sp>
        <p:nvSpPr>
          <p:cNvPr id="80" name="AutoShape 23">
            <a:extLst>
              <a:ext uri="{FF2B5EF4-FFF2-40B4-BE49-F238E27FC236}">
                <a16:creationId xmlns:a16="http://schemas.microsoft.com/office/drawing/2014/main" id="{B8FF7276-57F4-4848-ADAB-BB157F846A4C}"/>
              </a:ext>
            </a:extLst>
          </p:cNvPr>
          <p:cNvSpPr/>
          <p:nvPr/>
        </p:nvSpPr>
        <p:spPr>
          <a:xfrm>
            <a:off x="8001000" y="4191000"/>
            <a:ext cx="3429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81" name="Picture 24">
            <a:extLst>
              <a:ext uri="{FF2B5EF4-FFF2-40B4-BE49-F238E27FC236}">
                <a16:creationId xmlns:a16="http://schemas.microsoft.com/office/drawing/2014/main" id="{7CDE6D39-5F43-45FA-A652-4AB7C2B284E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55000" y="4445000"/>
            <a:ext cx="406400" cy="406400"/>
          </a:xfrm>
          <a:prstGeom prst="rect">
            <a:avLst/>
          </a:prstGeom>
        </p:spPr>
      </p:pic>
      <p:sp>
        <p:nvSpPr>
          <p:cNvPr id="82" name="AutoShape 25">
            <a:extLst>
              <a:ext uri="{FF2B5EF4-FFF2-40B4-BE49-F238E27FC236}">
                <a16:creationId xmlns:a16="http://schemas.microsoft.com/office/drawing/2014/main" id="{D5D4E66F-5DAE-4B9A-82DD-FADD6F0D6FA7}"/>
              </a:ext>
            </a:extLst>
          </p:cNvPr>
          <p:cNvSpPr/>
          <p:nvPr/>
        </p:nvSpPr>
        <p:spPr>
          <a:xfrm>
            <a:off x="8763000" y="4445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渠道等级评审</a:t>
            </a:r>
            <a:endParaRPr lang="en-US" sz="1100"/>
          </a:p>
        </p:txBody>
      </p:sp>
      <p:sp>
        <p:nvSpPr>
          <p:cNvPr id="83" name="AutoShape 26">
            <a:extLst>
              <a:ext uri="{FF2B5EF4-FFF2-40B4-BE49-F238E27FC236}">
                <a16:creationId xmlns:a16="http://schemas.microsoft.com/office/drawing/2014/main" id="{212B43C6-7CAA-4852-8E30-04375447A0A2}"/>
              </a:ext>
            </a:extLst>
          </p:cNvPr>
          <p:cNvSpPr/>
          <p:nvPr/>
        </p:nvSpPr>
        <p:spPr>
          <a:xfrm>
            <a:off x="8255000" y="48895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66666"/>
                </a:solidFill>
                <a:latin typeface="Noto Sans SC"/>
                <a:ea typeface="Noto Sans SC"/>
                <a:cs typeface="Noto Sans SC"/>
                <a:sym typeface="Noto Sans SC"/>
              </a:rPr>
              <a:t>作为渠道</a:t>
            </a:r>
            <a:r>
              <a:rPr lang="zh-CN" altLang="en-US" sz="1400" b="0" i="0" u="none" strike="noStrike" dirty="0">
                <a:solidFill>
                  <a:srgbClr val="666666"/>
                </a:solidFill>
                <a:latin typeface="Noto Sans SC"/>
                <a:ea typeface="Noto Sans SC"/>
                <a:cs typeface="Noto Sans SC"/>
                <a:sym typeface="Noto Sans SC"/>
              </a:rPr>
              <a:t>人员</a:t>
            </a:r>
            <a:r>
              <a:rPr lang="en-US" sz="1400" b="0" i="0" u="none" strike="noStrike" dirty="0" err="1">
                <a:solidFill>
                  <a:srgbClr val="666666"/>
                </a:solidFill>
                <a:latin typeface="Noto Sans SC"/>
                <a:ea typeface="Noto Sans SC"/>
                <a:cs typeface="Noto Sans SC"/>
                <a:sym typeface="Noto Sans SC"/>
              </a:rPr>
              <a:t>等级评定的核心参考，提升评审客观性，促进渠道优胜劣汰</a:t>
            </a:r>
            <a:r>
              <a:rPr lang="en-US" sz="1400" b="0" i="0" u="none" strike="noStrike" dirty="0">
                <a:solidFill>
                  <a:srgbClr val="666666"/>
                </a:solidFill>
                <a:latin typeface="Noto Sans SC"/>
                <a:ea typeface="Noto Sans SC"/>
                <a:cs typeface="Noto Sans SC"/>
                <a:sym typeface="Noto Sans SC"/>
              </a:rPr>
              <a:t>。</a:t>
            </a:r>
            <a:endParaRPr lang="en-US" sz="1100" dirty="0"/>
          </a:p>
        </p:txBody>
      </p:sp>
    </p:spTree>
    <p:extLst>
      <p:ext uri="{BB962C8B-B14F-4D97-AF65-F5344CB8AC3E}">
        <p14:creationId xmlns:p14="http://schemas.microsoft.com/office/powerpoint/2010/main" val="2377150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13093" y="103169"/>
            <a:ext cx="10491628" cy="640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219200">
              <a:defRPr/>
            </a:pPr>
            <a:r>
              <a:rPr lang="zh-CN" altLang="en-US"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部门重点工作</a:t>
            </a:r>
            <a:r>
              <a:rPr lang="en-US" altLang="zh-CN"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渠道能力评估模型</a:t>
            </a:r>
          </a:p>
        </p:txBody>
      </p:sp>
      <p:grpSp>
        <p:nvGrpSpPr>
          <p:cNvPr id="30" name="组合 29"/>
          <p:cNvGrpSpPr/>
          <p:nvPr/>
        </p:nvGrpSpPr>
        <p:grpSpPr>
          <a:xfrm>
            <a:off x="69850" y="134620"/>
            <a:ext cx="11892280" cy="590550"/>
            <a:chOff x="110" y="212"/>
            <a:chExt cx="18728" cy="930"/>
          </a:xfrm>
        </p:grpSpPr>
        <p:cxnSp>
          <p:nvCxnSpPr>
            <p:cNvPr id="2" name="直接连接符 1"/>
            <p:cNvCxnSpPr/>
            <p:nvPr/>
          </p:nvCxnSpPr>
          <p:spPr>
            <a:xfrm>
              <a:off x="296" y="1142"/>
              <a:ext cx="18542" cy="0"/>
            </a:xfrm>
            <a:prstGeom prst="line">
              <a:avLst/>
            </a:prstGeom>
          </p:spPr>
          <p:style>
            <a:lnRef idx="2">
              <a:schemeClr val="accent1"/>
            </a:lnRef>
            <a:fillRef idx="0">
              <a:srgbClr val="FFFFFF"/>
            </a:fillRef>
            <a:effectRef idx="0">
              <a:srgbClr val="FFFFFF"/>
            </a:effectRef>
            <a:fontRef idx="minor">
              <a:schemeClr val="tx1"/>
            </a:fontRef>
          </p:style>
        </p:cxnSp>
        <p:sp>
          <p:nvSpPr>
            <p:cNvPr id="7" name="矩形 6"/>
            <p:cNvSpPr/>
            <p:nvPr/>
          </p:nvSpPr>
          <p:spPr>
            <a:xfrm>
              <a:off x="110" y="212"/>
              <a:ext cx="341" cy="61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nvSpPr>
          <p:spPr>
            <a:xfrm>
              <a:off x="310" y="412"/>
              <a:ext cx="341" cy="611"/>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2" name="AutoShape 2">
            <a:extLst>
              <a:ext uri="{FF2B5EF4-FFF2-40B4-BE49-F238E27FC236}">
                <a16:creationId xmlns:a16="http://schemas.microsoft.com/office/drawing/2014/main" id="{28EEE113-C421-46DD-B021-2E33B7E3AC1F}"/>
              </a:ext>
            </a:extLst>
          </p:cNvPr>
          <p:cNvSpPr/>
          <p:nvPr/>
        </p:nvSpPr>
        <p:spPr>
          <a:xfrm>
            <a:off x="762000" y="1016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模型应用建议：外部渠道协同与动态管理</a:t>
            </a:r>
            <a:endParaRPr lang="en-US" sz="1100"/>
          </a:p>
        </p:txBody>
      </p:sp>
      <p:sp>
        <p:nvSpPr>
          <p:cNvPr id="33" name="AutoShape 3">
            <a:extLst>
              <a:ext uri="{FF2B5EF4-FFF2-40B4-BE49-F238E27FC236}">
                <a16:creationId xmlns:a16="http://schemas.microsoft.com/office/drawing/2014/main" id="{214A2CDA-1B26-4CBD-A82F-36DD270C589D}"/>
              </a:ext>
            </a:extLst>
          </p:cNvPr>
          <p:cNvSpPr/>
          <p:nvPr/>
        </p:nvSpPr>
        <p:spPr>
          <a:xfrm>
            <a:off x="762000" y="2032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34" name="Picture 4">
            <a:extLst>
              <a:ext uri="{FF2B5EF4-FFF2-40B4-BE49-F238E27FC236}">
                <a16:creationId xmlns:a16="http://schemas.microsoft.com/office/drawing/2014/main" id="{BB2D3917-75C1-42B7-9FCC-4D86166135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336800"/>
            <a:ext cx="406400" cy="406400"/>
          </a:xfrm>
          <a:prstGeom prst="rect">
            <a:avLst/>
          </a:prstGeom>
        </p:spPr>
      </p:pic>
      <p:sp>
        <p:nvSpPr>
          <p:cNvPr id="35" name="AutoShape 5">
            <a:extLst>
              <a:ext uri="{FF2B5EF4-FFF2-40B4-BE49-F238E27FC236}">
                <a16:creationId xmlns:a16="http://schemas.microsoft.com/office/drawing/2014/main" id="{61C80B9B-271C-4ED9-9294-7301F87D419D}"/>
              </a:ext>
            </a:extLst>
          </p:cNvPr>
          <p:cNvSpPr/>
          <p:nvPr/>
        </p:nvSpPr>
        <p:spPr>
          <a:xfrm>
            <a:off x="1066800" y="2844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渠道薪资评定</a:t>
            </a:r>
            <a:endParaRPr lang="en-US" sz="1100"/>
          </a:p>
        </p:txBody>
      </p:sp>
      <p:cxnSp>
        <p:nvCxnSpPr>
          <p:cNvPr id="36" name="Connector 6">
            <a:extLst>
              <a:ext uri="{FF2B5EF4-FFF2-40B4-BE49-F238E27FC236}">
                <a16:creationId xmlns:a16="http://schemas.microsoft.com/office/drawing/2014/main" id="{39C59142-2555-4945-B29D-03A13AAB4518}"/>
              </a:ext>
            </a:extLst>
          </p:cNvPr>
          <p:cNvCxnSpPr/>
          <p:nvPr/>
        </p:nvCxnSpPr>
        <p:spPr>
          <a:xfrm rot="-16215">
            <a:off x="1066815" y="3295650"/>
            <a:ext cx="2692400" cy="12700"/>
          </a:xfrm>
          <a:prstGeom prst="line">
            <a:avLst/>
          </a:prstGeom>
          <a:solidFill>
            <a:srgbClr val="DEE0E3">
              <a:alpha val="100000"/>
            </a:srgbClr>
          </a:solidFill>
          <a:ln w="12700" cap="flat" cmpd="sng">
            <a:solidFill>
              <a:srgbClr val="F0F0F0">
                <a:alpha val="100000"/>
              </a:srgbClr>
            </a:solidFill>
            <a:prstDash val="solid"/>
            <a:round/>
            <a:headEnd type="none" w="med" len="med"/>
            <a:tailEnd type="none" w="med" len="med"/>
          </a:ln>
        </p:spPr>
      </p:cxnSp>
      <p:sp>
        <p:nvSpPr>
          <p:cNvPr id="37" name="AutoShape 7">
            <a:extLst>
              <a:ext uri="{FF2B5EF4-FFF2-40B4-BE49-F238E27FC236}">
                <a16:creationId xmlns:a16="http://schemas.microsoft.com/office/drawing/2014/main" id="{9059BA6B-AB59-461E-B642-26568B62F52D}"/>
              </a:ext>
            </a:extLst>
          </p:cNvPr>
          <p:cNvSpPr/>
          <p:nvPr/>
        </p:nvSpPr>
        <p:spPr>
          <a:xfrm>
            <a:off x="1066800" y="3429000"/>
            <a:ext cx="26924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66666"/>
                </a:solidFill>
                <a:latin typeface="Noto Sans SC"/>
                <a:ea typeface="Noto Sans SC"/>
                <a:cs typeface="Noto Sans SC"/>
                <a:sym typeface="Noto Sans SC"/>
              </a:rPr>
              <a:t>为外部渠道人员的薪酬核定和激励方案设计提供量化参考，确保薪酬体系的公平性与竞争力</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38" name="AutoShape 8">
            <a:extLst>
              <a:ext uri="{FF2B5EF4-FFF2-40B4-BE49-F238E27FC236}">
                <a16:creationId xmlns:a16="http://schemas.microsoft.com/office/drawing/2014/main" id="{85B03908-10DC-4FE0-B20C-4D6631E6AE26}"/>
              </a:ext>
            </a:extLst>
          </p:cNvPr>
          <p:cNvSpPr/>
          <p:nvPr/>
        </p:nvSpPr>
        <p:spPr>
          <a:xfrm>
            <a:off x="4445000" y="2032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39" name="Picture 9">
            <a:extLst>
              <a:ext uri="{FF2B5EF4-FFF2-40B4-BE49-F238E27FC236}">
                <a16:creationId xmlns:a16="http://schemas.microsoft.com/office/drawing/2014/main" id="{2124C6A1-3A40-4D89-A917-054915BA1D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49800" y="2336800"/>
            <a:ext cx="406400" cy="406400"/>
          </a:xfrm>
          <a:prstGeom prst="rect">
            <a:avLst/>
          </a:prstGeom>
        </p:spPr>
      </p:pic>
      <p:sp>
        <p:nvSpPr>
          <p:cNvPr id="40" name="AutoShape 10">
            <a:extLst>
              <a:ext uri="{FF2B5EF4-FFF2-40B4-BE49-F238E27FC236}">
                <a16:creationId xmlns:a16="http://schemas.microsoft.com/office/drawing/2014/main" id="{A20C5DD9-2AC8-492A-BF65-68E74758BD55}"/>
              </a:ext>
            </a:extLst>
          </p:cNvPr>
          <p:cNvSpPr/>
          <p:nvPr/>
        </p:nvSpPr>
        <p:spPr>
          <a:xfrm>
            <a:off x="4749800" y="2844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渠道人员更替</a:t>
            </a:r>
            <a:endParaRPr lang="en-US" sz="1100"/>
          </a:p>
        </p:txBody>
      </p:sp>
      <p:cxnSp>
        <p:nvCxnSpPr>
          <p:cNvPr id="41" name="Connector 11">
            <a:extLst>
              <a:ext uri="{FF2B5EF4-FFF2-40B4-BE49-F238E27FC236}">
                <a16:creationId xmlns:a16="http://schemas.microsoft.com/office/drawing/2014/main" id="{16746C5F-94F5-40E7-925E-600402E37688}"/>
              </a:ext>
            </a:extLst>
          </p:cNvPr>
          <p:cNvCxnSpPr/>
          <p:nvPr/>
        </p:nvCxnSpPr>
        <p:spPr>
          <a:xfrm rot="-16215">
            <a:off x="4749815" y="3295650"/>
            <a:ext cx="2692400" cy="12700"/>
          </a:xfrm>
          <a:prstGeom prst="line">
            <a:avLst/>
          </a:prstGeom>
          <a:solidFill>
            <a:srgbClr val="DEE0E3">
              <a:alpha val="100000"/>
            </a:srgbClr>
          </a:solidFill>
          <a:ln w="12700" cap="flat" cmpd="sng">
            <a:solidFill>
              <a:srgbClr val="F0F0F0">
                <a:alpha val="100000"/>
              </a:srgbClr>
            </a:solidFill>
            <a:prstDash val="solid"/>
            <a:round/>
            <a:headEnd type="none" w="med" len="med"/>
            <a:tailEnd type="none" w="med" len="med"/>
          </a:ln>
        </p:spPr>
      </p:cxnSp>
      <p:sp>
        <p:nvSpPr>
          <p:cNvPr id="42" name="AutoShape 12">
            <a:extLst>
              <a:ext uri="{FF2B5EF4-FFF2-40B4-BE49-F238E27FC236}">
                <a16:creationId xmlns:a16="http://schemas.microsoft.com/office/drawing/2014/main" id="{7A117720-6390-40AB-BCCF-0468534633D4}"/>
              </a:ext>
            </a:extLst>
          </p:cNvPr>
          <p:cNvSpPr/>
          <p:nvPr/>
        </p:nvSpPr>
        <p:spPr>
          <a:xfrm>
            <a:off x="4749800" y="3429000"/>
            <a:ext cx="26924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66666"/>
                </a:solidFill>
                <a:latin typeface="Noto Sans SC"/>
                <a:ea typeface="Noto Sans SC"/>
                <a:cs typeface="Noto Sans SC"/>
                <a:sym typeface="Noto Sans SC"/>
              </a:rPr>
              <a:t>为外部渠道人员的筛选、调整和替换提供决策支撑，保障渠道团队的稳定性与高效性</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43" name="AutoShape 13">
            <a:extLst>
              <a:ext uri="{FF2B5EF4-FFF2-40B4-BE49-F238E27FC236}">
                <a16:creationId xmlns:a16="http://schemas.microsoft.com/office/drawing/2014/main" id="{595B3A2C-EA6B-455E-B804-FAFFD11409E6}"/>
              </a:ext>
            </a:extLst>
          </p:cNvPr>
          <p:cNvSpPr/>
          <p:nvPr/>
        </p:nvSpPr>
        <p:spPr>
          <a:xfrm>
            <a:off x="8128000" y="2032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44" name="Picture 14">
            <a:extLst>
              <a:ext uri="{FF2B5EF4-FFF2-40B4-BE49-F238E27FC236}">
                <a16:creationId xmlns:a16="http://schemas.microsoft.com/office/drawing/2014/main" id="{C74D0CCC-590D-441E-8429-F762FCD5097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32800" y="2336800"/>
            <a:ext cx="406400" cy="406400"/>
          </a:xfrm>
          <a:prstGeom prst="rect">
            <a:avLst/>
          </a:prstGeom>
        </p:spPr>
      </p:pic>
      <p:sp>
        <p:nvSpPr>
          <p:cNvPr id="45" name="AutoShape 15">
            <a:extLst>
              <a:ext uri="{FF2B5EF4-FFF2-40B4-BE49-F238E27FC236}">
                <a16:creationId xmlns:a16="http://schemas.microsoft.com/office/drawing/2014/main" id="{235A8E49-8792-4870-9890-82A6F21111F2}"/>
              </a:ext>
            </a:extLst>
          </p:cNvPr>
          <p:cNvSpPr/>
          <p:nvPr/>
        </p:nvSpPr>
        <p:spPr>
          <a:xfrm>
            <a:off x="8432800" y="2844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动态管理复核</a:t>
            </a:r>
            <a:endParaRPr lang="en-US" sz="1100"/>
          </a:p>
        </p:txBody>
      </p:sp>
      <p:cxnSp>
        <p:nvCxnSpPr>
          <p:cNvPr id="46" name="Connector 16">
            <a:extLst>
              <a:ext uri="{FF2B5EF4-FFF2-40B4-BE49-F238E27FC236}">
                <a16:creationId xmlns:a16="http://schemas.microsoft.com/office/drawing/2014/main" id="{512145A4-C2BF-435D-A0B9-5631FA831952}"/>
              </a:ext>
            </a:extLst>
          </p:cNvPr>
          <p:cNvCxnSpPr/>
          <p:nvPr/>
        </p:nvCxnSpPr>
        <p:spPr>
          <a:xfrm rot="-16215">
            <a:off x="8432815" y="3295650"/>
            <a:ext cx="2692400" cy="12700"/>
          </a:xfrm>
          <a:prstGeom prst="line">
            <a:avLst/>
          </a:prstGeom>
          <a:solidFill>
            <a:srgbClr val="DEE0E3">
              <a:alpha val="100000"/>
            </a:srgbClr>
          </a:solidFill>
          <a:ln w="12700" cap="flat" cmpd="sng">
            <a:solidFill>
              <a:srgbClr val="F0F0F0">
                <a:alpha val="100000"/>
              </a:srgbClr>
            </a:solidFill>
            <a:prstDash val="solid"/>
            <a:round/>
            <a:headEnd type="none" w="med" len="med"/>
            <a:tailEnd type="none" w="med" len="med"/>
          </a:ln>
        </p:spPr>
      </p:cxnSp>
      <p:sp>
        <p:nvSpPr>
          <p:cNvPr id="47" name="AutoShape 17">
            <a:extLst>
              <a:ext uri="{FF2B5EF4-FFF2-40B4-BE49-F238E27FC236}">
                <a16:creationId xmlns:a16="http://schemas.microsoft.com/office/drawing/2014/main" id="{0ED01F04-DA50-4E4D-AA96-D8C13A7C5884}"/>
              </a:ext>
            </a:extLst>
          </p:cNvPr>
          <p:cNvSpPr/>
          <p:nvPr/>
        </p:nvSpPr>
        <p:spPr>
          <a:xfrm>
            <a:off x="8432800" y="3429000"/>
            <a:ext cx="26924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66666"/>
                </a:solidFill>
                <a:latin typeface="Noto Sans SC"/>
                <a:ea typeface="Noto Sans SC"/>
                <a:cs typeface="Noto Sans SC"/>
                <a:sym typeface="Noto Sans SC"/>
              </a:rPr>
              <a:t>评估结论应每季度或每半年复核一次，跟踪人员等级变化，实现渠道</a:t>
            </a:r>
            <a:r>
              <a:rPr lang="zh-CN" altLang="en-US" sz="1400" b="0" i="0" u="none" strike="noStrike" dirty="0">
                <a:solidFill>
                  <a:srgbClr val="666666"/>
                </a:solidFill>
                <a:latin typeface="Noto Sans SC"/>
                <a:ea typeface="Noto Sans SC"/>
                <a:cs typeface="Noto Sans SC"/>
                <a:sym typeface="Noto Sans SC"/>
              </a:rPr>
              <a:t>对自身</a:t>
            </a:r>
            <a:r>
              <a:rPr lang="en-US" sz="1400" b="0" i="0" u="none" strike="noStrike" dirty="0" err="1">
                <a:solidFill>
                  <a:srgbClr val="666666"/>
                </a:solidFill>
                <a:latin typeface="Noto Sans SC"/>
                <a:ea typeface="Noto Sans SC"/>
                <a:cs typeface="Noto Sans SC"/>
                <a:sym typeface="Noto Sans SC"/>
              </a:rPr>
              <a:t>人员的动态管理和持续优化</a:t>
            </a:r>
            <a:r>
              <a:rPr lang="zh-CN" altLang="en-US" sz="1400" dirty="0">
                <a:solidFill>
                  <a:srgbClr val="666666"/>
                </a:solidFill>
                <a:latin typeface="Noto Sans SC"/>
                <a:ea typeface="Noto Sans SC"/>
                <a:cs typeface="Noto Sans SC"/>
                <a:sym typeface="Noto Sans SC"/>
              </a:rPr>
              <a:t>。</a:t>
            </a:r>
            <a:endParaRPr lang="en-US" sz="1100" dirty="0"/>
          </a:p>
        </p:txBody>
      </p:sp>
    </p:spTree>
    <p:extLst>
      <p:ext uri="{BB962C8B-B14F-4D97-AF65-F5344CB8AC3E}">
        <p14:creationId xmlns:p14="http://schemas.microsoft.com/office/powerpoint/2010/main" val="2890060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13093" y="103169"/>
            <a:ext cx="10491628" cy="640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219200">
              <a:defRPr/>
            </a:pPr>
            <a:r>
              <a:rPr lang="zh-CN" altLang="en-US"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部门重点工作</a:t>
            </a:r>
            <a:r>
              <a:rPr lang="en-US" altLang="zh-CN"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渠道能力评估模型应用示例</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南宁</a:t>
            </a:r>
          </a:p>
        </p:txBody>
      </p:sp>
      <p:grpSp>
        <p:nvGrpSpPr>
          <p:cNvPr id="30" name="组合 29"/>
          <p:cNvGrpSpPr/>
          <p:nvPr/>
        </p:nvGrpSpPr>
        <p:grpSpPr>
          <a:xfrm>
            <a:off x="69850" y="134620"/>
            <a:ext cx="11892280" cy="590550"/>
            <a:chOff x="110" y="212"/>
            <a:chExt cx="18728" cy="930"/>
          </a:xfrm>
        </p:grpSpPr>
        <p:cxnSp>
          <p:nvCxnSpPr>
            <p:cNvPr id="2" name="直接连接符 1"/>
            <p:cNvCxnSpPr/>
            <p:nvPr/>
          </p:nvCxnSpPr>
          <p:spPr>
            <a:xfrm>
              <a:off x="296" y="1142"/>
              <a:ext cx="18542" cy="0"/>
            </a:xfrm>
            <a:prstGeom prst="line">
              <a:avLst/>
            </a:prstGeom>
          </p:spPr>
          <p:style>
            <a:lnRef idx="2">
              <a:schemeClr val="accent1"/>
            </a:lnRef>
            <a:fillRef idx="0">
              <a:srgbClr val="FFFFFF"/>
            </a:fillRef>
            <a:effectRef idx="0">
              <a:srgbClr val="FFFFFF"/>
            </a:effectRef>
            <a:fontRef idx="minor">
              <a:schemeClr val="tx1"/>
            </a:fontRef>
          </p:style>
        </p:cxnSp>
        <p:sp>
          <p:nvSpPr>
            <p:cNvPr id="7" name="矩形 6"/>
            <p:cNvSpPr/>
            <p:nvPr/>
          </p:nvSpPr>
          <p:spPr>
            <a:xfrm>
              <a:off x="110" y="212"/>
              <a:ext cx="341" cy="61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nvSpPr>
          <p:spPr>
            <a:xfrm>
              <a:off x="310" y="412"/>
              <a:ext cx="341" cy="611"/>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cxnSp>
        <p:nvCxnSpPr>
          <p:cNvPr id="103" name="直接连接符 102">
            <a:extLst>
              <a:ext uri="{FF2B5EF4-FFF2-40B4-BE49-F238E27FC236}">
                <a16:creationId xmlns:a16="http://schemas.microsoft.com/office/drawing/2014/main" id="{00047670-C48D-49C5-AEDC-894F3500031A}"/>
              </a:ext>
            </a:extLst>
          </p:cNvPr>
          <p:cNvCxnSpPr/>
          <p:nvPr/>
        </p:nvCxnSpPr>
        <p:spPr>
          <a:xfrm>
            <a:off x="95885" y="770255"/>
            <a:ext cx="11970385"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pic>
        <p:nvPicPr>
          <p:cNvPr id="104" name="图片 103" descr="图片包含 日历&#10;&#10;AI 生成的内容可能不正确。">
            <a:extLst>
              <a:ext uri="{FF2B5EF4-FFF2-40B4-BE49-F238E27FC236}">
                <a16:creationId xmlns:a16="http://schemas.microsoft.com/office/drawing/2014/main" id="{9B663D14-D17B-4568-9C4A-817474BD29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507" y="966650"/>
            <a:ext cx="11679407" cy="2149467"/>
          </a:xfrm>
          <a:prstGeom prst="rect">
            <a:avLst/>
          </a:prstGeom>
        </p:spPr>
      </p:pic>
      <p:sp>
        <p:nvSpPr>
          <p:cNvPr id="105" name="矩形 104">
            <a:extLst>
              <a:ext uri="{FF2B5EF4-FFF2-40B4-BE49-F238E27FC236}">
                <a16:creationId xmlns:a16="http://schemas.microsoft.com/office/drawing/2014/main" id="{1FE23A76-27F7-4099-83DA-83B01BE09518}"/>
              </a:ext>
            </a:extLst>
          </p:cNvPr>
          <p:cNvSpPr/>
          <p:nvPr/>
        </p:nvSpPr>
        <p:spPr>
          <a:xfrm>
            <a:off x="337077" y="3352049"/>
            <a:ext cx="5322755" cy="2335694"/>
          </a:xfrm>
          <a:prstGeom prst="rect">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383535"/>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06" name="图表 105">
            <a:extLst>
              <a:ext uri="{FF2B5EF4-FFF2-40B4-BE49-F238E27FC236}">
                <a16:creationId xmlns:a16="http://schemas.microsoft.com/office/drawing/2014/main" id="{9EB44BA9-3B06-41BD-A5C4-469ADC8D1167}"/>
              </a:ext>
            </a:extLst>
          </p:cNvPr>
          <p:cNvGraphicFramePr/>
          <p:nvPr>
            <p:extLst>
              <p:ext uri="{D42A27DB-BD31-4B8C-83A1-F6EECF244321}">
                <p14:modId xmlns:p14="http://schemas.microsoft.com/office/powerpoint/2010/main" val="813742540"/>
              </p:ext>
            </p:extLst>
          </p:nvPr>
        </p:nvGraphicFramePr>
        <p:xfrm>
          <a:off x="362425" y="3301348"/>
          <a:ext cx="5322758" cy="2822714"/>
        </p:xfrm>
        <a:graphic>
          <a:graphicData uri="http://schemas.openxmlformats.org/drawingml/2006/chart">
            <c:chart xmlns:c="http://schemas.openxmlformats.org/drawingml/2006/chart" xmlns:r="http://schemas.openxmlformats.org/officeDocument/2006/relationships" r:id="rId4"/>
          </a:graphicData>
        </a:graphic>
      </p:graphicFrame>
      <p:sp>
        <p:nvSpPr>
          <p:cNvPr id="107" name="文本框 106">
            <a:extLst>
              <a:ext uri="{FF2B5EF4-FFF2-40B4-BE49-F238E27FC236}">
                <a16:creationId xmlns:a16="http://schemas.microsoft.com/office/drawing/2014/main" id="{FA26AC8A-BE03-41C1-8840-925E45DEA0BD}"/>
              </a:ext>
            </a:extLst>
          </p:cNvPr>
          <p:cNvSpPr txBox="1"/>
          <p:nvPr/>
        </p:nvSpPr>
        <p:spPr>
          <a:xfrm>
            <a:off x="148780" y="5809560"/>
            <a:ext cx="5693486" cy="549061"/>
          </a:xfrm>
          <a:prstGeom prst="rect">
            <a:avLst/>
          </a:prstGeom>
          <a:noFill/>
        </p:spPr>
        <p:txBody>
          <a:bodyPr wrap="square" rtlCol="0">
            <a:spAutoFit/>
          </a:bodyPr>
          <a:lstStyle/>
          <a:p>
            <a:pPr marL="171450" marR="0" lvl="0" indent="-171450" algn="l"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1200" b="0" i="0" u="none" strike="noStrike" kern="1200" cap="none" spc="0" normalizeH="0" baseline="0" noProof="0" dirty="0">
                <a:ln>
                  <a:noFill/>
                </a:ln>
                <a:solidFill>
                  <a:srgbClr val="383535"/>
                </a:solidFill>
                <a:effectLst/>
                <a:uLnTx/>
                <a:uFillTx/>
                <a:latin typeface="微软雅黑" panose="020B0503020204020204" pitchFamily="34" charset="-122"/>
                <a:ea typeface="微软雅黑" panose="020B0503020204020204" pitchFamily="34" charset="-122"/>
                <a:cs typeface="+mn-cs"/>
              </a:rPr>
              <a:t>结合不同产线开展人员能力全域评估，全面拆解能力短板与优势，精准定位</a:t>
            </a:r>
            <a:r>
              <a:rPr kumimoji="0" lang="zh-CN" altLang="en-US" sz="1200" b="1" i="0" u="none" strike="noStrike" kern="1200" cap="none" spc="0" normalizeH="0" baseline="0" noProof="0" dirty="0">
                <a:ln>
                  <a:noFill/>
                </a:ln>
                <a:solidFill>
                  <a:srgbClr val="383535"/>
                </a:solidFill>
                <a:effectLst/>
                <a:uLnTx/>
                <a:uFillTx/>
                <a:latin typeface="微软雅黑" panose="020B0503020204020204" pitchFamily="34" charset="-122"/>
                <a:ea typeface="微软雅黑" panose="020B0503020204020204" pitchFamily="34" charset="-122"/>
                <a:cs typeface="+mn-cs"/>
              </a:rPr>
              <a:t>（凝血、尿液、糖化）</a:t>
            </a:r>
            <a:r>
              <a:rPr kumimoji="0" lang="zh-CN" altLang="en-US" sz="1200" b="0" i="0" u="none" strike="noStrike" kern="1200" cap="none" spc="0" normalizeH="0" baseline="0" noProof="0" dirty="0">
                <a:ln>
                  <a:noFill/>
                </a:ln>
                <a:solidFill>
                  <a:srgbClr val="383535"/>
                </a:solidFill>
                <a:effectLst/>
                <a:uLnTx/>
                <a:uFillTx/>
                <a:latin typeface="微软雅黑" panose="020B0503020204020204" pitchFamily="34" charset="-122"/>
                <a:ea typeface="微软雅黑" panose="020B0503020204020204" pitchFamily="34" charset="-122"/>
                <a:cs typeface="+mn-cs"/>
              </a:rPr>
              <a:t>提升方向，为差异化培养、高效配置及人才发展提供数据支撑</a:t>
            </a:r>
          </a:p>
        </p:txBody>
      </p:sp>
      <p:sp>
        <p:nvSpPr>
          <p:cNvPr id="108" name="矩形 107">
            <a:extLst>
              <a:ext uri="{FF2B5EF4-FFF2-40B4-BE49-F238E27FC236}">
                <a16:creationId xmlns:a16="http://schemas.microsoft.com/office/drawing/2014/main" id="{C728A85B-370D-4865-AB03-E249D679DF38}"/>
              </a:ext>
            </a:extLst>
          </p:cNvPr>
          <p:cNvSpPr/>
          <p:nvPr/>
        </p:nvSpPr>
        <p:spPr>
          <a:xfrm>
            <a:off x="5870547" y="3352049"/>
            <a:ext cx="2939002" cy="50496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0" normalizeH="0" baseline="0" noProof="0" dirty="0">
                <a:ln>
                  <a:noFill/>
                </a:ln>
                <a:solidFill>
                  <a:srgbClr val="FEFFFF"/>
                </a:solidFill>
                <a:effectLst/>
                <a:uLnTx/>
                <a:uFillTx/>
                <a:latin typeface="微软雅黑" panose="020B0503020204020204" pitchFamily="34" charset="-122"/>
                <a:ea typeface="微软雅黑" panose="020B0503020204020204" pitchFamily="34" charset="-122"/>
                <a:cs typeface="Alibaba PuHuiTi M" pitchFamily="18" charset="-122"/>
              </a:rPr>
              <a:t>内部：渠道能力培育</a:t>
            </a:r>
          </a:p>
        </p:txBody>
      </p:sp>
      <p:sp>
        <p:nvSpPr>
          <p:cNvPr id="109" name="矩形 108">
            <a:extLst>
              <a:ext uri="{FF2B5EF4-FFF2-40B4-BE49-F238E27FC236}">
                <a16:creationId xmlns:a16="http://schemas.microsoft.com/office/drawing/2014/main" id="{8566DFC0-C64C-4B72-BE04-C83F7DBB8D2B}"/>
              </a:ext>
            </a:extLst>
          </p:cNvPr>
          <p:cNvSpPr/>
          <p:nvPr/>
        </p:nvSpPr>
        <p:spPr>
          <a:xfrm>
            <a:off x="8994913" y="3329166"/>
            <a:ext cx="2939001" cy="50496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0" normalizeH="0" baseline="0" noProof="0" dirty="0">
                <a:ln>
                  <a:noFill/>
                </a:ln>
                <a:solidFill>
                  <a:srgbClr val="FEFFFF"/>
                </a:solidFill>
                <a:effectLst/>
                <a:uLnTx/>
                <a:uFillTx/>
                <a:latin typeface="微软雅黑" panose="020B0503020204020204" pitchFamily="34" charset="-122"/>
                <a:ea typeface="微软雅黑" panose="020B0503020204020204" pitchFamily="34" charset="-122"/>
                <a:cs typeface="Alibaba PuHuiTi M" pitchFamily="18" charset="-122"/>
              </a:rPr>
              <a:t>外部：渠道机制优化</a:t>
            </a:r>
          </a:p>
        </p:txBody>
      </p:sp>
      <p:sp>
        <p:nvSpPr>
          <p:cNvPr id="110" name="矩形 109">
            <a:extLst>
              <a:ext uri="{FF2B5EF4-FFF2-40B4-BE49-F238E27FC236}">
                <a16:creationId xmlns:a16="http://schemas.microsoft.com/office/drawing/2014/main" id="{2CDBB1E4-16DF-4EB5-BAB3-428A72B86031}"/>
              </a:ext>
            </a:extLst>
          </p:cNvPr>
          <p:cNvSpPr/>
          <p:nvPr/>
        </p:nvSpPr>
        <p:spPr>
          <a:xfrm>
            <a:off x="5870547" y="3860698"/>
            <a:ext cx="2939002" cy="25120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marL="228600" marR="0" lvl="0" indent="-228600" algn="l" defTabSz="914400" rtl="0" eaLnBrk="1" fontAlgn="auto" latinLnBrk="0" hangingPunct="1">
              <a:lnSpc>
                <a:spcPct val="150000"/>
              </a:lnSpc>
              <a:spcBef>
                <a:spcPts val="0"/>
              </a:spcBef>
              <a:spcAft>
                <a:spcPts val="0"/>
              </a:spcAft>
              <a:buClrTx/>
              <a:buSzTx/>
              <a:buFont typeface="+mj-ea"/>
              <a:buAutoNum type="circleNumDbPlain"/>
              <a:tabLst/>
              <a:defRPr/>
            </a:pP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实现渠道人员能力精准画像，替代传统经验判断</a:t>
            </a:r>
          </a:p>
          <a:p>
            <a:pPr marL="228600" marR="0" lvl="0" indent="-228600" algn="l" defTabSz="914400" rtl="0" eaLnBrk="1" fontAlgn="auto" latinLnBrk="0" hangingPunct="1">
              <a:lnSpc>
                <a:spcPct val="150000"/>
              </a:lnSpc>
              <a:spcBef>
                <a:spcPts val="0"/>
              </a:spcBef>
              <a:spcAft>
                <a:spcPts val="0"/>
              </a:spcAft>
              <a:buClrTx/>
              <a:buSzTx/>
              <a:buFont typeface="+mj-ea"/>
              <a:buAutoNum type="circleNumDbPlain"/>
              <a:tabLst/>
              <a:defRPr/>
            </a:pP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建立分级培养体系，</a:t>
            </a:r>
            <a:r>
              <a:rPr kumimoji="1" lang="en-US" altLang="zh-CN"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C/D </a:t>
            </a: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级重点赋能，</a:t>
            </a:r>
            <a:r>
              <a:rPr kumimoji="1" lang="en-US" altLang="zh-CN"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A/B </a:t>
            </a: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级标杆复制</a:t>
            </a:r>
          </a:p>
          <a:p>
            <a:pPr marL="228600" marR="0" lvl="0" indent="-228600" algn="l" defTabSz="914400" rtl="0" eaLnBrk="1" fontAlgn="auto" latinLnBrk="0" hangingPunct="1">
              <a:lnSpc>
                <a:spcPct val="150000"/>
              </a:lnSpc>
              <a:spcBef>
                <a:spcPts val="0"/>
              </a:spcBef>
              <a:spcAft>
                <a:spcPts val="0"/>
              </a:spcAft>
              <a:buClrTx/>
              <a:buSzTx/>
              <a:buFont typeface="+mj-ea"/>
              <a:buAutoNum type="circleNumDbPlain"/>
              <a:tabLst/>
              <a:defRPr/>
            </a:pP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数据化管理闭环，动态跟踪，夯实人员管理、等级评审及差异化赋能</a:t>
            </a:r>
          </a:p>
        </p:txBody>
      </p:sp>
      <p:sp>
        <p:nvSpPr>
          <p:cNvPr id="111" name="矩形 110">
            <a:extLst>
              <a:ext uri="{FF2B5EF4-FFF2-40B4-BE49-F238E27FC236}">
                <a16:creationId xmlns:a16="http://schemas.microsoft.com/office/drawing/2014/main" id="{71E68D5B-7085-4D73-AF4C-3FF409184B9B}"/>
              </a:ext>
            </a:extLst>
          </p:cNvPr>
          <p:cNvSpPr/>
          <p:nvPr/>
        </p:nvSpPr>
        <p:spPr>
          <a:xfrm>
            <a:off x="8994913" y="3837815"/>
            <a:ext cx="2939001" cy="25435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marL="228600" marR="0" lvl="0" indent="-228600" algn="l" defTabSz="914400" rtl="0" eaLnBrk="1" fontAlgn="auto" latinLnBrk="0" hangingPunct="1">
              <a:lnSpc>
                <a:spcPct val="150000"/>
              </a:lnSpc>
              <a:spcBef>
                <a:spcPts val="0"/>
              </a:spcBef>
              <a:spcAft>
                <a:spcPts val="0"/>
              </a:spcAft>
              <a:buClrTx/>
              <a:buSzTx/>
              <a:buFont typeface="+mj-ea"/>
              <a:buAutoNum type="circleNumDbPlain"/>
              <a:tabLst/>
              <a:defRPr/>
            </a:pP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为渠道主管提供标准化管理工具，提升团队管理效率</a:t>
            </a:r>
          </a:p>
          <a:p>
            <a:pPr marL="228600" marR="0" lvl="0" indent="-228600" algn="l" defTabSz="914400" rtl="0" eaLnBrk="1" fontAlgn="auto" latinLnBrk="0" hangingPunct="1">
              <a:lnSpc>
                <a:spcPct val="150000"/>
              </a:lnSpc>
              <a:spcBef>
                <a:spcPts val="0"/>
              </a:spcBef>
              <a:spcAft>
                <a:spcPts val="0"/>
              </a:spcAft>
              <a:buClrTx/>
              <a:buSzTx/>
              <a:buFont typeface="+mj-ea"/>
              <a:buAutoNum type="circleNumDbPlain"/>
              <a:tabLst/>
              <a:defRPr/>
            </a:pP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建立公平客观的能力评价体系，支撑人员激励与优化</a:t>
            </a:r>
          </a:p>
          <a:p>
            <a:pPr marL="228600" marR="0" lvl="0" indent="-228600" algn="l" defTabSz="914400" rtl="0" eaLnBrk="1" fontAlgn="auto" latinLnBrk="0" hangingPunct="1">
              <a:lnSpc>
                <a:spcPct val="150000"/>
              </a:lnSpc>
              <a:spcBef>
                <a:spcPts val="0"/>
              </a:spcBef>
              <a:spcAft>
                <a:spcPts val="0"/>
              </a:spcAft>
              <a:buClrTx/>
              <a:buSzTx/>
              <a:buFont typeface="+mj-ea"/>
              <a:buAutoNum type="circleNumDbPlain"/>
              <a:tabLst/>
              <a:defRPr/>
            </a:pP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形成能力提升良性循环，从 </a:t>
            </a:r>
            <a:r>
              <a:rPr kumimoji="1" lang="en-US" altLang="zh-CN"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被动接受</a:t>
            </a:r>
            <a:r>
              <a:rPr kumimoji="1" lang="en-US" altLang="zh-CN"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 </a:t>
            </a: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转向 </a:t>
            </a:r>
            <a:r>
              <a:rPr kumimoji="1" lang="en-US" altLang="zh-CN"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主动提升</a:t>
            </a:r>
            <a:r>
              <a:rPr kumimoji="1" lang="en-US" altLang="zh-CN"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rPr>
              <a:t>"</a:t>
            </a:r>
            <a:endParaRPr kumimoji="1" lang="zh-CN" altLang="en-US" sz="1300" b="0" i="0" u="none" strike="noStrike" kern="1200" cap="none" spc="0" normalizeH="0" baseline="0" noProof="0" dirty="0">
              <a:ln>
                <a:noFill/>
              </a:ln>
              <a:solidFill>
                <a:srgbClr val="EFEFEF">
                  <a:lumMod val="10000"/>
                </a:srgb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672777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19">
            <a:extLst>
              <a:ext uri="{FF2B5EF4-FFF2-40B4-BE49-F238E27FC236}">
                <a16:creationId xmlns:a16="http://schemas.microsoft.com/office/drawing/2014/main" id="{559CAE71-3C0B-49A8-959F-AEFDD0CE441B}"/>
              </a:ext>
            </a:extLst>
          </p:cNvPr>
          <p:cNvSpPr/>
          <p:nvPr/>
        </p:nvSpPr>
        <p:spPr>
          <a:xfrm>
            <a:off x="32338" y="5256021"/>
            <a:ext cx="12153312" cy="508000"/>
          </a:xfrm>
          <a:prstGeom prst="roundRect">
            <a:avLst>
              <a:gd name="adj" fmla="val 16666"/>
            </a:avLst>
          </a:prstGeom>
          <a:solidFill>
            <a:srgbClr val="003366">
              <a:alpha val="5000"/>
            </a:srgbClr>
          </a:solidFill>
          <a:ln w="12700" cap="flat" cmpd="sng">
            <a:solidFill>
              <a:srgbClr val="003366">
                <a:alpha val="2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矩形 12"/>
          <p:cNvSpPr/>
          <p:nvPr/>
        </p:nvSpPr>
        <p:spPr>
          <a:xfrm>
            <a:off x="413093" y="103169"/>
            <a:ext cx="10491628" cy="640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219200">
              <a:defRPr/>
            </a:pPr>
            <a:r>
              <a:rPr lang="zh-CN" altLang="en-US"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部门重点工作</a:t>
            </a:r>
            <a:r>
              <a:rPr lang="en-US" altLang="zh-CN"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渠道能力评估模型应用示例</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青岛</a:t>
            </a:r>
          </a:p>
        </p:txBody>
      </p:sp>
      <p:grpSp>
        <p:nvGrpSpPr>
          <p:cNvPr id="30" name="组合 29"/>
          <p:cNvGrpSpPr/>
          <p:nvPr/>
        </p:nvGrpSpPr>
        <p:grpSpPr>
          <a:xfrm>
            <a:off x="69850" y="134620"/>
            <a:ext cx="11892280" cy="590550"/>
            <a:chOff x="110" y="212"/>
            <a:chExt cx="18728" cy="930"/>
          </a:xfrm>
        </p:grpSpPr>
        <p:cxnSp>
          <p:nvCxnSpPr>
            <p:cNvPr id="2" name="直接连接符 1"/>
            <p:cNvCxnSpPr/>
            <p:nvPr/>
          </p:nvCxnSpPr>
          <p:spPr>
            <a:xfrm>
              <a:off x="296" y="1142"/>
              <a:ext cx="18542" cy="0"/>
            </a:xfrm>
            <a:prstGeom prst="line">
              <a:avLst/>
            </a:prstGeom>
          </p:spPr>
          <p:style>
            <a:lnRef idx="2">
              <a:schemeClr val="accent1"/>
            </a:lnRef>
            <a:fillRef idx="0">
              <a:srgbClr val="FFFFFF"/>
            </a:fillRef>
            <a:effectRef idx="0">
              <a:srgbClr val="FFFFFF"/>
            </a:effectRef>
            <a:fontRef idx="minor">
              <a:schemeClr val="tx1"/>
            </a:fontRef>
          </p:style>
        </p:cxnSp>
        <p:sp>
          <p:nvSpPr>
            <p:cNvPr id="7" name="矩形 6"/>
            <p:cNvSpPr/>
            <p:nvPr/>
          </p:nvSpPr>
          <p:spPr>
            <a:xfrm>
              <a:off x="110" y="212"/>
              <a:ext cx="341" cy="61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nvSpPr>
          <p:spPr>
            <a:xfrm>
              <a:off x="310" y="412"/>
              <a:ext cx="341" cy="611"/>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6" name="AutoShape 5">
            <a:extLst>
              <a:ext uri="{FF2B5EF4-FFF2-40B4-BE49-F238E27FC236}">
                <a16:creationId xmlns:a16="http://schemas.microsoft.com/office/drawing/2014/main" id="{DA09A7DD-787D-4163-B1E0-0DDE8D2B7892}"/>
              </a:ext>
            </a:extLst>
          </p:cNvPr>
          <p:cNvSpPr/>
          <p:nvPr/>
        </p:nvSpPr>
        <p:spPr>
          <a:xfrm>
            <a:off x="286385" y="756285"/>
            <a:ext cx="11675110" cy="61722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评估范围：26</a:t>
            </a:r>
            <a:r>
              <a:rPr kumimoji="0" lang="zh-CN" altLang="en-US" sz="1600" b="0" i="0" u="none" strike="noStrike" kern="1200" cap="none" spc="0" normalizeH="0" baseline="0" noProof="0" dirty="0">
                <a:ln>
                  <a:noFill/>
                </a:ln>
                <a:solidFill>
                  <a:srgbClr val="666666"/>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年分公司签约</a:t>
            </a:r>
            <a:r>
              <a:rPr kumimoji="0" lang="en-US" altLang="zh-CN" sz="1600" b="0" i="0" u="none" strike="noStrike" kern="1200" cap="none" spc="0" normalizeH="0" baseline="0" noProof="0" dirty="0">
                <a:ln>
                  <a:noFill/>
                </a:ln>
                <a:solidFill>
                  <a:srgbClr val="666666"/>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9</a:t>
            </a:r>
            <a:r>
              <a:rPr lang="zh-CN" altLang="en-US" sz="1600" dirty="0">
                <a:solidFill>
                  <a:srgbClr val="666666"/>
                </a:solidFill>
                <a:latin typeface="微软雅黑" panose="020B0503020204020204" charset="-122"/>
                <a:ea typeface="微软雅黑" panose="020B0503020204020204" charset="-122"/>
                <a:sym typeface="Noto Sans SC" panose="020B0200000000000000" charset="-122"/>
              </a:rPr>
              <a:t>家服务渠道，本次评估</a:t>
            </a:r>
            <a:r>
              <a:rPr lang="en-US" altLang="zh-CN" sz="1600" dirty="0">
                <a:solidFill>
                  <a:srgbClr val="666666"/>
                </a:solidFill>
                <a:latin typeface="微软雅黑" panose="020B0503020204020204" charset="-122"/>
                <a:ea typeface="微软雅黑" panose="020B0503020204020204" charset="-122"/>
                <a:sym typeface="Noto Sans SC" panose="020B0200000000000000" charset="-122"/>
              </a:rPr>
              <a:t>7</a:t>
            </a:r>
            <a:r>
              <a:rPr lang="zh-CN" altLang="en-US" sz="1600" dirty="0">
                <a:solidFill>
                  <a:srgbClr val="666666"/>
                </a:solidFill>
                <a:latin typeface="微软雅黑" panose="020B0503020204020204" charset="-122"/>
                <a:ea typeface="微软雅黑" panose="020B0503020204020204" charset="-122"/>
                <a:sym typeface="Noto Sans SC" panose="020B0200000000000000" charset="-122"/>
              </a:rPr>
              <a:t>家核心渠道覆盖产线、基础、社办</a:t>
            </a:r>
            <a:r>
              <a:rPr lang="en-US" altLang="zh-CN" sz="1600" dirty="0">
                <a:solidFill>
                  <a:srgbClr val="666666"/>
                </a:solidFill>
                <a:latin typeface="微软雅黑" panose="020B0503020204020204" charset="-122"/>
                <a:ea typeface="微软雅黑" panose="020B0503020204020204" charset="-122"/>
                <a:sym typeface="Noto Sans SC" panose="020B0200000000000000" charset="-122"/>
              </a:rPr>
              <a:t>,</a:t>
            </a:r>
            <a:r>
              <a:rPr lang="zh-CN" altLang="en-US" sz="1600" dirty="0">
                <a:solidFill>
                  <a:srgbClr val="666666"/>
                </a:solidFill>
                <a:latin typeface="微软雅黑" panose="020B0503020204020204" charset="-122"/>
                <a:ea typeface="微软雅黑" panose="020B0503020204020204" charset="-122"/>
                <a:sym typeface="Noto Sans SC" panose="020B0200000000000000" charset="-122"/>
              </a:rPr>
              <a:t>渠道提交的人员能力评估结果与覆盖客户需求能力评估表现符合实际情况；可识别出现有人员能力及风险。总参与评估人员</a:t>
            </a:r>
            <a:r>
              <a:rPr lang="en-US" altLang="zh-CN" sz="1600" dirty="0">
                <a:solidFill>
                  <a:srgbClr val="666666"/>
                </a:solidFill>
                <a:latin typeface="微软雅黑" panose="020B0503020204020204" charset="-122"/>
                <a:ea typeface="微软雅黑" panose="020B0503020204020204" charset="-122"/>
                <a:sym typeface="Noto Sans SC" panose="020B0200000000000000" charset="-122"/>
              </a:rPr>
              <a:t>24</a:t>
            </a:r>
            <a:r>
              <a:rPr lang="zh-CN" altLang="en-US" sz="1600" dirty="0">
                <a:solidFill>
                  <a:srgbClr val="666666"/>
                </a:solidFill>
                <a:latin typeface="微软雅黑" panose="020B0503020204020204" charset="-122"/>
                <a:ea typeface="微软雅黑" panose="020B0503020204020204" charset="-122"/>
                <a:sym typeface="Noto Sans SC" panose="020B0200000000000000" charset="-122"/>
              </a:rPr>
              <a:t>人。</a:t>
            </a:r>
          </a:p>
        </p:txBody>
      </p:sp>
      <p:sp>
        <p:nvSpPr>
          <p:cNvPr id="17" name="AutoShape 7">
            <a:extLst>
              <a:ext uri="{FF2B5EF4-FFF2-40B4-BE49-F238E27FC236}">
                <a16:creationId xmlns:a16="http://schemas.microsoft.com/office/drawing/2014/main" id="{0DE54EB3-57AE-4058-B2D8-E0B2076D9E88}"/>
              </a:ext>
            </a:extLst>
          </p:cNvPr>
          <p:cNvSpPr/>
          <p:nvPr>
            <p:custDataLst>
              <p:tags r:id="rId1"/>
            </p:custDataLst>
          </p:nvPr>
        </p:nvSpPr>
        <p:spPr>
          <a:xfrm>
            <a:off x="69850" y="1429385"/>
            <a:ext cx="3220085"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8" name="Picture 8">
            <a:extLst>
              <a:ext uri="{FF2B5EF4-FFF2-40B4-BE49-F238E27FC236}">
                <a16:creationId xmlns:a16="http://schemas.microsoft.com/office/drawing/2014/main" id="{34B6261A-6B06-403E-8C0D-D9345FEC1109}"/>
              </a:ext>
            </a:extLst>
          </p:cNvPr>
          <p:cNvPicPr>
            <a:picLocks noChangeAspect="1"/>
          </p:cNvPicPr>
          <p:nvPr>
            <p:custDataLst>
              <p:tags r:id="rId2"/>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23850" y="1734185"/>
            <a:ext cx="406400" cy="406400"/>
          </a:xfrm>
          <a:prstGeom prst="rect">
            <a:avLst/>
          </a:prstGeom>
        </p:spPr>
      </p:pic>
      <p:sp>
        <p:nvSpPr>
          <p:cNvPr id="19" name="AutoShape 9">
            <a:extLst>
              <a:ext uri="{FF2B5EF4-FFF2-40B4-BE49-F238E27FC236}">
                <a16:creationId xmlns:a16="http://schemas.microsoft.com/office/drawing/2014/main" id="{AF80C3C2-6A62-4521-9FCD-521AA3E7E4F4}"/>
              </a:ext>
            </a:extLst>
          </p:cNvPr>
          <p:cNvSpPr/>
          <p:nvPr>
            <p:custDataLst>
              <p:tags r:id="rId3"/>
            </p:custDataLst>
          </p:nvPr>
        </p:nvSpPr>
        <p:spPr>
          <a:xfrm>
            <a:off x="831850" y="1556385"/>
            <a:ext cx="1905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336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C级 (待提升型)</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0" name="AutoShape 10">
            <a:extLst>
              <a:ext uri="{FF2B5EF4-FFF2-40B4-BE49-F238E27FC236}">
                <a16:creationId xmlns:a16="http://schemas.microsoft.com/office/drawing/2014/main" id="{7CEC46DB-0121-4926-A286-313978B0FE40}"/>
              </a:ext>
            </a:extLst>
          </p:cNvPr>
          <p:cNvSpPr/>
          <p:nvPr>
            <p:custDataLst>
              <p:tags r:id="rId4"/>
            </p:custDataLst>
          </p:nvPr>
        </p:nvSpPr>
        <p:spPr>
          <a:xfrm>
            <a:off x="831850" y="1958619"/>
            <a:ext cx="3810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6666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人数：10人 | 占比：41.67</a:t>
            </a:r>
            <a:r>
              <a:rPr kumimoji="0" lang="en-US" sz="1400" b="1" i="0" u="none" strike="noStrike" kern="1200" cap="none" spc="0" normalizeH="0" baseline="0" noProof="0" dirty="0">
                <a:ln>
                  <a:noFill/>
                </a:ln>
                <a:solidFill>
                  <a:srgbClr val="00336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kumimoji="0" lang="en-US" sz="11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 name="AutoShape 11">
            <a:extLst>
              <a:ext uri="{FF2B5EF4-FFF2-40B4-BE49-F238E27FC236}">
                <a16:creationId xmlns:a16="http://schemas.microsoft.com/office/drawing/2014/main" id="{5E05137D-7D11-4C03-ACA7-6522AE08AF26}"/>
              </a:ext>
            </a:extLst>
          </p:cNvPr>
          <p:cNvSpPr/>
          <p:nvPr>
            <p:custDataLst>
              <p:tags r:id="rId5"/>
            </p:custDataLst>
          </p:nvPr>
        </p:nvSpPr>
        <p:spPr>
          <a:xfrm>
            <a:off x="69850" y="2572385"/>
            <a:ext cx="3220085"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FF66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22" name="Picture 12">
            <a:extLst>
              <a:ext uri="{FF2B5EF4-FFF2-40B4-BE49-F238E27FC236}">
                <a16:creationId xmlns:a16="http://schemas.microsoft.com/office/drawing/2014/main" id="{BA3B0E42-2087-40BA-8D3F-C7CA83BEA824}"/>
              </a:ext>
            </a:extLst>
          </p:cNvPr>
          <p:cNvPicPr>
            <a:picLocks noChangeAspect="1"/>
          </p:cNvPicPr>
          <p:nvPr>
            <p:custDataLst>
              <p:tags r:id="rId6"/>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23850" y="2877185"/>
            <a:ext cx="406400" cy="406400"/>
          </a:xfrm>
          <a:prstGeom prst="rect">
            <a:avLst/>
          </a:prstGeom>
        </p:spPr>
      </p:pic>
      <p:sp>
        <p:nvSpPr>
          <p:cNvPr id="23" name="AutoShape 13">
            <a:extLst>
              <a:ext uri="{FF2B5EF4-FFF2-40B4-BE49-F238E27FC236}">
                <a16:creationId xmlns:a16="http://schemas.microsoft.com/office/drawing/2014/main" id="{8E6E14D2-5793-40B3-8F6F-E231108C2BFF}"/>
              </a:ext>
            </a:extLst>
          </p:cNvPr>
          <p:cNvSpPr/>
          <p:nvPr>
            <p:custDataLst>
              <p:tags r:id="rId7"/>
            </p:custDataLst>
          </p:nvPr>
        </p:nvSpPr>
        <p:spPr>
          <a:xfrm>
            <a:off x="831850" y="2699385"/>
            <a:ext cx="1905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660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D级 (风险型)</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4" name="AutoShape 14">
            <a:extLst>
              <a:ext uri="{FF2B5EF4-FFF2-40B4-BE49-F238E27FC236}">
                <a16:creationId xmlns:a16="http://schemas.microsoft.com/office/drawing/2014/main" id="{22EF937C-E610-451B-9B97-BB0664B8C779}"/>
              </a:ext>
            </a:extLst>
          </p:cNvPr>
          <p:cNvSpPr/>
          <p:nvPr>
            <p:custDataLst>
              <p:tags r:id="rId8"/>
            </p:custDataLst>
          </p:nvPr>
        </p:nvSpPr>
        <p:spPr>
          <a:xfrm>
            <a:off x="831850" y="3080385"/>
            <a:ext cx="3810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00" b="0" i="0" u="none" strike="noStrike" kern="1200" cap="none" spc="0" normalizeH="0" baseline="0" noProof="0">
                <a:ln>
                  <a:noFill/>
                </a:ln>
                <a:solidFill>
                  <a:srgbClr val="66666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人数：2人 | 占比：</a:t>
            </a:r>
            <a:r>
              <a:rPr kumimoji="0" lang="en-US" sz="1400" b="1" i="0" u="none" strike="noStrike" kern="1200" cap="none" spc="0" normalizeH="0" baseline="0" noProof="0">
                <a:ln>
                  <a:noFill/>
                </a:ln>
                <a:solidFill>
                  <a:srgbClr val="FF660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8.33%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5" name="AutoShape 15">
            <a:extLst>
              <a:ext uri="{FF2B5EF4-FFF2-40B4-BE49-F238E27FC236}">
                <a16:creationId xmlns:a16="http://schemas.microsoft.com/office/drawing/2014/main" id="{1F31C5EC-FC37-461C-9114-912258302A26}"/>
              </a:ext>
            </a:extLst>
          </p:cNvPr>
          <p:cNvSpPr/>
          <p:nvPr>
            <p:custDataLst>
              <p:tags r:id="rId9"/>
            </p:custDataLst>
          </p:nvPr>
        </p:nvSpPr>
        <p:spPr>
          <a:xfrm>
            <a:off x="69850" y="3715385"/>
            <a:ext cx="3220085"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666666">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26" name="Picture 16">
            <a:extLst>
              <a:ext uri="{FF2B5EF4-FFF2-40B4-BE49-F238E27FC236}">
                <a16:creationId xmlns:a16="http://schemas.microsoft.com/office/drawing/2014/main" id="{74418CF8-DD35-446F-AB2B-B134C7AC56AC}"/>
              </a:ext>
            </a:extLst>
          </p:cNvPr>
          <p:cNvPicPr>
            <a:picLocks noChangeAspect="1"/>
          </p:cNvPicPr>
          <p:nvPr>
            <p:custDataLst>
              <p:tags r:id="rId10"/>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23850" y="4020185"/>
            <a:ext cx="406400" cy="406400"/>
          </a:xfrm>
          <a:prstGeom prst="rect">
            <a:avLst/>
          </a:prstGeom>
        </p:spPr>
      </p:pic>
      <p:sp>
        <p:nvSpPr>
          <p:cNvPr id="27" name="AutoShape 17">
            <a:extLst>
              <a:ext uri="{FF2B5EF4-FFF2-40B4-BE49-F238E27FC236}">
                <a16:creationId xmlns:a16="http://schemas.microsoft.com/office/drawing/2014/main" id="{3B21D588-C9BF-4F02-95B4-36CA31BD49A1}"/>
              </a:ext>
            </a:extLst>
          </p:cNvPr>
          <p:cNvSpPr/>
          <p:nvPr>
            <p:custDataLst>
              <p:tags r:id="rId11"/>
            </p:custDataLst>
          </p:nvPr>
        </p:nvSpPr>
        <p:spPr>
          <a:xfrm>
            <a:off x="831850" y="3842385"/>
            <a:ext cx="2458085"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A级 / B级 (优秀/良好)</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AutoShape 18">
            <a:extLst>
              <a:ext uri="{FF2B5EF4-FFF2-40B4-BE49-F238E27FC236}">
                <a16:creationId xmlns:a16="http://schemas.microsoft.com/office/drawing/2014/main" id="{60465AC4-5DDA-4269-A95B-D5A6148231B4}"/>
              </a:ext>
            </a:extLst>
          </p:cNvPr>
          <p:cNvSpPr/>
          <p:nvPr>
            <p:custDataLst>
              <p:tags r:id="rId12"/>
            </p:custDataLst>
          </p:nvPr>
        </p:nvSpPr>
        <p:spPr>
          <a:xfrm>
            <a:off x="831850" y="4223385"/>
            <a:ext cx="2397125"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00" b="0" i="0" u="none" strike="noStrike" kern="1200" cap="none" spc="0" normalizeH="0" baseline="0" noProof="0">
                <a:ln>
                  <a:noFill/>
                </a:ln>
                <a:solidFill>
                  <a:srgbClr val="66666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人数：12人 | 占比：</a:t>
            </a:r>
            <a:r>
              <a:rPr kumimoji="0" lang="en-US" sz="1400" b="1" i="0" u="none" strike="noStrike" kern="1200" cap="none" spc="0" normalizeH="0" baseline="0" noProof="0">
                <a:ln>
                  <a:noFill/>
                </a:ln>
                <a:solidFill>
                  <a:srgbClr val="66666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50%</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9" name="AutoShape 19">
            <a:extLst>
              <a:ext uri="{FF2B5EF4-FFF2-40B4-BE49-F238E27FC236}">
                <a16:creationId xmlns:a16="http://schemas.microsoft.com/office/drawing/2014/main" id="{33923B16-D3B4-4AEC-BA7F-350595499A8F}"/>
              </a:ext>
            </a:extLst>
          </p:cNvPr>
          <p:cNvSpPr/>
          <p:nvPr/>
        </p:nvSpPr>
        <p:spPr>
          <a:xfrm>
            <a:off x="27537" y="4713516"/>
            <a:ext cx="12153312" cy="508000"/>
          </a:xfrm>
          <a:prstGeom prst="roundRect">
            <a:avLst>
              <a:gd name="adj" fmla="val 16666"/>
            </a:avLst>
          </a:prstGeom>
          <a:solidFill>
            <a:srgbClr val="003366">
              <a:alpha val="5000"/>
            </a:srgbClr>
          </a:solidFill>
          <a:ln w="12700" cap="flat" cmpd="sng">
            <a:solidFill>
              <a:srgbClr val="003366">
                <a:alpha val="2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AutoShape 20">
            <a:extLst>
              <a:ext uri="{FF2B5EF4-FFF2-40B4-BE49-F238E27FC236}">
                <a16:creationId xmlns:a16="http://schemas.microsoft.com/office/drawing/2014/main" id="{17F7DFE2-987C-47AF-8451-25A880BC2BF3}"/>
              </a:ext>
            </a:extLst>
          </p:cNvPr>
          <p:cNvSpPr/>
          <p:nvPr/>
        </p:nvSpPr>
        <p:spPr>
          <a:xfrm>
            <a:off x="144663" y="4716224"/>
            <a:ext cx="11887503" cy="458651"/>
          </a:xfrm>
          <a:prstGeom prst="rect">
            <a:avLst/>
          </a:prstGeom>
          <a:noFill/>
          <a:ln w="12700" cap="flat" cmpd="sng">
            <a:noFill/>
            <a:prstDash val="solid"/>
            <a:round/>
          </a:ln>
        </p:spPr>
        <p:txBody>
          <a:bodyPr vert="horz" wrap="square" lIns="0" tIns="0" rIns="0" bIns="0" rtlCol="0" anchor="ctr" anchorCtr="0"/>
          <a:lstStyle/>
          <a:p>
            <a:pPr marR="0" lvl="0" indent="0" fontAlgn="auto">
              <a:lnSpc>
                <a:spcPct val="125000"/>
              </a:lnSpc>
              <a:spcBef>
                <a:spcPts val="0"/>
              </a:spcBef>
              <a:spcAft>
                <a:spcPts val="0"/>
              </a:spcAft>
              <a:buClrTx/>
              <a:buSzTx/>
              <a:buFontTx/>
              <a:buNone/>
              <a:tabLst/>
              <a:defRPr/>
            </a:pPr>
            <a:r>
              <a:rPr lang="zh-CN" altLang="en-US" sz="1600" b="1" dirty="0">
                <a:solidFill>
                  <a:prstClr val="black"/>
                </a:solidFill>
                <a:latin typeface="Calibri"/>
                <a:sym typeface="Noto Sans SC" panose="020B0200000000000000" charset="-122"/>
              </a:rPr>
              <a:t>模型小结</a:t>
            </a:r>
            <a:r>
              <a:rPr lang="en-US" sz="1600" b="1" dirty="0">
                <a:solidFill>
                  <a:prstClr val="black"/>
                </a:solidFill>
                <a:latin typeface="Calibri"/>
                <a:sym typeface="Noto Sans SC" panose="020B0200000000000000" charset="-122"/>
              </a:rPr>
              <a:t>：</a:t>
            </a:r>
            <a:r>
              <a:rPr lang="en-US" altLang="zh-CN" sz="1600" dirty="0">
                <a:solidFill>
                  <a:prstClr val="black"/>
                </a:solidFill>
                <a:latin typeface="Calibri"/>
                <a:sym typeface="Noto Sans SC" panose="020B0200000000000000" charset="-122"/>
              </a:rPr>
              <a:t>25</a:t>
            </a:r>
            <a:r>
              <a:rPr lang="zh-CN" altLang="en-US" sz="1600" dirty="0">
                <a:solidFill>
                  <a:prstClr val="black"/>
                </a:solidFill>
                <a:latin typeface="Calibri"/>
                <a:sym typeface="Noto Sans SC" panose="020B0200000000000000" charset="-122"/>
              </a:rPr>
              <a:t>年已完成人员资质布局，满足基础交付；</a:t>
            </a:r>
            <a:r>
              <a:rPr lang="zh-CN" altLang="en-US" sz="1600" b="1" dirty="0">
                <a:solidFill>
                  <a:srgbClr val="C00000"/>
                </a:solidFill>
                <a:latin typeface="Calibri"/>
                <a:sym typeface="Noto Sans SC" panose="020B0200000000000000" charset="-122"/>
              </a:rPr>
              <a:t>重点提升</a:t>
            </a:r>
            <a:r>
              <a:rPr lang="en-US" altLang="zh-CN" sz="1600" b="1" dirty="0">
                <a:solidFill>
                  <a:srgbClr val="C00000"/>
                </a:solidFill>
                <a:latin typeface="Calibri"/>
                <a:sym typeface="Noto Sans SC" panose="020B0200000000000000" charset="-122"/>
              </a:rPr>
              <a:t>C</a:t>
            </a:r>
            <a:r>
              <a:rPr lang="zh-CN" altLang="en-US" sz="1600" b="1" dirty="0">
                <a:solidFill>
                  <a:srgbClr val="C00000"/>
                </a:solidFill>
                <a:latin typeface="Calibri"/>
                <a:sym typeface="Noto Sans SC" panose="020B0200000000000000" charset="-122"/>
              </a:rPr>
              <a:t>级能力，严控</a:t>
            </a:r>
            <a:r>
              <a:rPr lang="en-US" altLang="zh-CN" sz="1600" b="1" dirty="0">
                <a:solidFill>
                  <a:srgbClr val="C00000"/>
                </a:solidFill>
                <a:latin typeface="Calibri"/>
                <a:sym typeface="Noto Sans SC" panose="020B0200000000000000" charset="-122"/>
              </a:rPr>
              <a:t>D</a:t>
            </a:r>
            <a:r>
              <a:rPr lang="zh-CN" altLang="en-US" sz="1600" b="1" dirty="0">
                <a:solidFill>
                  <a:srgbClr val="C00000"/>
                </a:solidFill>
                <a:latin typeface="Calibri"/>
                <a:sym typeface="Noto Sans SC" panose="020B0200000000000000" charset="-122"/>
              </a:rPr>
              <a:t>级服务合规。</a:t>
            </a:r>
            <a:r>
              <a:rPr lang="en-US" altLang="zh-CN" sz="1600" dirty="0">
                <a:solidFill>
                  <a:prstClr val="black"/>
                </a:solidFill>
                <a:latin typeface="Calibri"/>
                <a:sym typeface="Noto Sans SC" panose="020B0200000000000000" charset="-122"/>
              </a:rPr>
              <a:t>26</a:t>
            </a:r>
            <a:r>
              <a:rPr lang="zh-CN" altLang="en-US" sz="1600" dirty="0">
                <a:solidFill>
                  <a:prstClr val="black"/>
                </a:solidFill>
                <a:latin typeface="Calibri"/>
                <a:sym typeface="Noto Sans SC" panose="020B0200000000000000" charset="-122"/>
              </a:rPr>
              <a:t>年稳核心团队，</a:t>
            </a:r>
            <a:r>
              <a:rPr lang="zh-CN" altLang="en-US" sz="1600" b="1" dirty="0">
                <a:solidFill>
                  <a:srgbClr val="C00000"/>
                </a:solidFill>
                <a:latin typeface="Calibri"/>
                <a:sym typeface="Noto Sans SC" panose="020B0200000000000000" charset="-122"/>
              </a:rPr>
              <a:t>促</a:t>
            </a:r>
            <a:r>
              <a:rPr lang="en-US" altLang="zh-CN" sz="1600" b="1" dirty="0">
                <a:solidFill>
                  <a:srgbClr val="C00000"/>
                </a:solidFill>
                <a:latin typeface="Calibri"/>
                <a:sym typeface="Noto Sans SC" panose="020B0200000000000000" charset="-122"/>
              </a:rPr>
              <a:t>B</a:t>
            </a:r>
            <a:r>
              <a:rPr lang="zh-CN" altLang="en-US" sz="1600" b="1" dirty="0">
                <a:solidFill>
                  <a:srgbClr val="C00000"/>
                </a:solidFill>
                <a:latin typeface="Calibri"/>
                <a:sym typeface="Noto Sans SC" panose="020B0200000000000000" charset="-122"/>
              </a:rPr>
              <a:t>、</a:t>
            </a:r>
            <a:r>
              <a:rPr lang="en-US" altLang="zh-CN" sz="1600" b="1" dirty="0">
                <a:solidFill>
                  <a:srgbClr val="C00000"/>
                </a:solidFill>
                <a:latin typeface="Calibri"/>
                <a:sym typeface="Noto Sans SC" panose="020B0200000000000000" charset="-122"/>
              </a:rPr>
              <a:t>C</a:t>
            </a:r>
            <a:r>
              <a:rPr lang="zh-CN" altLang="en-US" sz="1600" b="1" dirty="0">
                <a:solidFill>
                  <a:srgbClr val="C00000"/>
                </a:solidFill>
                <a:latin typeface="Calibri"/>
                <a:sym typeface="Noto Sans SC" panose="020B0200000000000000" charset="-122"/>
              </a:rPr>
              <a:t>级能力跃迁</a:t>
            </a:r>
            <a:r>
              <a:rPr lang="zh-CN" altLang="en-US" sz="1600" dirty="0">
                <a:solidFill>
                  <a:prstClr val="black"/>
                </a:solidFill>
                <a:latin typeface="Calibri"/>
                <a:sym typeface="Noto Sans SC" panose="020B0200000000000000" charset="-122"/>
              </a:rPr>
              <a:t>。</a:t>
            </a:r>
            <a:endParaRPr lang="en-US" altLang="zh-CN" sz="1600" dirty="0">
              <a:solidFill>
                <a:prstClr val="black"/>
              </a:solidFill>
              <a:latin typeface="Calibri"/>
              <a:sym typeface="Noto Sans SC" panose="020B0200000000000000" charset="-122"/>
            </a:endParaRPr>
          </a:p>
        </p:txBody>
      </p:sp>
      <p:graphicFrame>
        <p:nvGraphicFramePr>
          <p:cNvPr id="33" name="表格 32">
            <a:extLst>
              <a:ext uri="{FF2B5EF4-FFF2-40B4-BE49-F238E27FC236}">
                <a16:creationId xmlns:a16="http://schemas.microsoft.com/office/drawing/2014/main" id="{875638F8-8D96-4CD8-8D62-87D9A61A6B4C}"/>
              </a:ext>
            </a:extLst>
          </p:cNvPr>
          <p:cNvGraphicFramePr/>
          <p:nvPr>
            <p:custDataLst>
              <p:tags r:id="rId13"/>
            </p:custDataLst>
            <p:extLst>
              <p:ext uri="{D42A27DB-BD31-4B8C-83A1-F6EECF244321}">
                <p14:modId xmlns:p14="http://schemas.microsoft.com/office/powerpoint/2010/main" val="1433730478"/>
              </p:ext>
            </p:extLst>
          </p:nvPr>
        </p:nvGraphicFramePr>
        <p:xfrm>
          <a:off x="3317671" y="1404880"/>
          <a:ext cx="3947722" cy="3250568"/>
        </p:xfrm>
        <a:graphic>
          <a:graphicData uri="http://schemas.openxmlformats.org/drawingml/2006/table">
            <a:tbl>
              <a:tblPr firstRow="1" bandRow="1">
                <a:tableStyleId>{5C22544A-7EE6-4342-B048-85BDC9FD1C3A}</a:tableStyleId>
              </a:tblPr>
              <a:tblGrid>
                <a:gridCol w="1099317">
                  <a:extLst>
                    <a:ext uri="{9D8B030D-6E8A-4147-A177-3AD203B41FA5}">
                      <a16:colId xmlns:a16="http://schemas.microsoft.com/office/drawing/2014/main" val="20000"/>
                    </a:ext>
                  </a:extLst>
                </a:gridCol>
                <a:gridCol w="594721">
                  <a:extLst>
                    <a:ext uri="{9D8B030D-6E8A-4147-A177-3AD203B41FA5}">
                      <a16:colId xmlns:a16="http://schemas.microsoft.com/office/drawing/2014/main" val="20001"/>
                    </a:ext>
                  </a:extLst>
                </a:gridCol>
                <a:gridCol w="751228">
                  <a:extLst>
                    <a:ext uri="{9D8B030D-6E8A-4147-A177-3AD203B41FA5}">
                      <a16:colId xmlns:a16="http://schemas.microsoft.com/office/drawing/2014/main" val="20002"/>
                    </a:ext>
                  </a:extLst>
                </a:gridCol>
                <a:gridCol w="751228">
                  <a:extLst>
                    <a:ext uri="{9D8B030D-6E8A-4147-A177-3AD203B41FA5}">
                      <a16:colId xmlns:a16="http://schemas.microsoft.com/office/drawing/2014/main" val="20003"/>
                    </a:ext>
                  </a:extLst>
                </a:gridCol>
                <a:gridCol w="751228">
                  <a:extLst>
                    <a:ext uri="{9D8B030D-6E8A-4147-A177-3AD203B41FA5}">
                      <a16:colId xmlns:a16="http://schemas.microsoft.com/office/drawing/2014/main" val="20004"/>
                    </a:ext>
                  </a:extLst>
                </a:gridCol>
              </a:tblGrid>
              <a:tr h="406321">
                <a:tc>
                  <a:txBody>
                    <a:bodyPr/>
                    <a:lstStyle/>
                    <a:p>
                      <a:pPr algn="ctr">
                        <a:buNone/>
                      </a:pPr>
                      <a:r>
                        <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渠道</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A</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B</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C</a:t>
                      </a:r>
                    </a:p>
                  </a:txBody>
                  <a:tcPr/>
                </a:tc>
                <a:tc>
                  <a:txBody>
                    <a:bodyPr/>
                    <a:lstStyle/>
                    <a:p>
                      <a:pPr algn="ctr">
                        <a:buNone/>
                      </a:pPr>
                      <a:r>
                        <a:rPr kumimoji="0" lang="en-US" altLang="zh-CN" sz="1600" b="0" i="0" u="none" strike="noStrike" kern="1200" cap="none" spc="0" normalizeH="0" baseline="0" dirty="0">
                          <a:ln>
                            <a:noFill/>
                          </a:ln>
                          <a:solidFill>
                            <a:srgbClr val="666666"/>
                          </a:solidFill>
                          <a:effectLst/>
                          <a:uLnTx/>
                          <a:uFillTx/>
                          <a:latin typeface="微软雅黑" panose="020B0503020204020204" charset="-122"/>
                          <a:ea typeface="微软雅黑" panose="020B0503020204020204" charset="-122"/>
                        </a:rPr>
                        <a:t>D</a:t>
                      </a:r>
                    </a:p>
                  </a:txBody>
                  <a:tcPr/>
                </a:tc>
                <a:extLst>
                  <a:ext uri="{0D108BD9-81ED-4DB2-BD59-A6C34878D82A}">
                    <a16:rowId xmlns:a16="http://schemas.microsoft.com/office/drawing/2014/main" val="10000"/>
                  </a:ext>
                </a:extLst>
              </a:tr>
              <a:tr h="406321">
                <a:tc>
                  <a:txBody>
                    <a:bodyPr/>
                    <a:lstStyle/>
                    <a:p>
                      <a:pPr algn="ctr">
                        <a:buNone/>
                      </a:pPr>
                      <a:r>
                        <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立菲</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4</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1"/>
                  </a:ext>
                </a:extLst>
              </a:tr>
              <a:tr h="406321">
                <a:tc>
                  <a:txBody>
                    <a:bodyPr/>
                    <a:lstStyle/>
                    <a:p>
                      <a:pPr algn="ctr">
                        <a:buNone/>
                      </a:pPr>
                      <a:r>
                        <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新爱康</a:t>
                      </a:r>
                    </a:p>
                  </a:txBody>
                  <a:tcPr/>
                </a:tc>
                <a:tc>
                  <a:txBody>
                    <a:bodyPr/>
                    <a:lstStyle/>
                    <a:p>
                      <a:pPr algn="ctr">
                        <a:buNone/>
                      </a:pPr>
                      <a:endParaRPr kumimoji="0" lang="zh-CN" altLang="en-US" sz="1600" b="0" i="0" u="none" strike="noStrike" kern="1200" cap="none" spc="0" normalizeH="0" baseline="0" dirty="0">
                        <a:ln>
                          <a:noFill/>
                        </a:ln>
                        <a:solidFill>
                          <a:srgbClr val="666666"/>
                        </a:solidFill>
                        <a:effectLst/>
                        <a:uLnTx/>
                        <a:uFillTx/>
                        <a:latin typeface="微软雅黑" panose="020B0503020204020204" charset="-122"/>
                        <a:ea typeface="微软雅黑" panose="020B0503020204020204" charset="-122"/>
                      </a:endParaRP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3</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2"/>
                  </a:ext>
                </a:extLst>
              </a:tr>
              <a:tr h="406321">
                <a:tc>
                  <a:txBody>
                    <a:bodyPr/>
                    <a:lstStyle/>
                    <a:p>
                      <a:pPr algn="ctr">
                        <a:buNone/>
                      </a:pPr>
                      <a:r>
                        <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润达欣康</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2</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3"/>
                  </a:ext>
                </a:extLst>
              </a:tr>
              <a:tr h="406321">
                <a:tc>
                  <a:txBody>
                    <a:bodyPr/>
                    <a:lstStyle/>
                    <a:p>
                      <a:pPr algn="ctr">
                        <a:buNone/>
                      </a:pPr>
                      <a:r>
                        <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东营杰迈</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4"/>
                  </a:ext>
                </a:extLst>
              </a:tr>
              <a:tr h="406321">
                <a:tc>
                  <a:txBody>
                    <a:bodyPr/>
                    <a:lstStyle/>
                    <a:p>
                      <a:pPr algn="ctr">
                        <a:buNone/>
                      </a:pPr>
                      <a:r>
                        <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福瑞斯特</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2</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2</a:t>
                      </a:r>
                    </a:p>
                  </a:txBody>
                  <a:tcPr/>
                </a:tc>
                <a:extLst>
                  <a:ext uri="{0D108BD9-81ED-4DB2-BD59-A6C34878D82A}">
                    <a16:rowId xmlns:a16="http://schemas.microsoft.com/office/drawing/2014/main" val="10005"/>
                  </a:ext>
                </a:extLst>
              </a:tr>
              <a:tr h="406321">
                <a:tc>
                  <a:txBody>
                    <a:bodyPr/>
                    <a:lstStyle/>
                    <a:p>
                      <a:pPr algn="ctr">
                        <a:buNone/>
                      </a:pPr>
                      <a:r>
                        <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恒和</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endParaRPr kumimoji="0" lang="zh-CN" altLang="en-US" sz="1600" b="0" i="0" u="none" strike="noStrike" kern="1200" cap="none" spc="0" normalizeH="0" baseline="0" dirty="0">
                        <a:ln>
                          <a:noFill/>
                        </a:ln>
                        <a:solidFill>
                          <a:srgbClr val="666666"/>
                        </a:solidFill>
                        <a:effectLst/>
                        <a:uLnTx/>
                        <a:uFillTx/>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6"/>
                  </a:ext>
                </a:extLst>
              </a:tr>
              <a:tr h="406321">
                <a:tc>
                  <a:txBody>
                    <a:bodyPr/>
                    <a:lstStyle/>
                    <a:p>
                      <a:pPr algn="ctr">
                        <a:buNone/>
                      </a:pPr>
                      <a:r>
                        <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信荣康达</a:t>
                      </a:r>
                    </a:p>
                  </a:txBody>
                  <a:tcPr/>
                </a:tc>
                <a:tc>
                  <a:txBody>
                    <a:bodyPr/>
                    <a:lstStyle/>
                    <a:p>
                      <a:pPr algn="ctr">
                        <a:buNone/>
                      </a:pPr>
                      <a:endParaRPr kumimoji="0" lang="zh-CN" altLang="en-US"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endParaRP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r>
                        <a:rPr kumimoji="0" lang="en-US" altLang="zh-CN" sz="1600" b="0" i="0" u="none" strike="noStrike" kern="1200" cap="none" spc="0" normalizeH="0" baseline="0">
                          <a:ln>
                            <a:noFill/>
                          </a:ln>
                          <a:solidFill>
                            <a:srgbClr val="666666"/>
                          </a:solidFill>
                          <a:effectLst/>
                          <a:uLnTx/>
                          <a:uFillTx/>
                          <a:latin typeface="微软雅黑" panose="020B0503020204020204" charset="-122"/>
                          <a:ea typeface="微软雅黑" panose="020B0503020204020204" charset="-122"/>
                        </a:rPr>
                        <a:t>1</a:t>
                      </a:r>
                    </a:p>
                  </a:txBody>
                  <a:tcPr/>
                </a:tc>
                <a:tc>
                  <a:txBody>
                    <a:bodyPr/>
                    <a:lstStyle/>
                    <a:p>
                      <a:pPr algn="ctr">
                        <a:buNone/>
                      </a:pPr>
                      <a:endParaRPr kumimoji="0" lang="zh-CN" altLang="en-US" sz="1600" b="0" i="0" u="none" strike="noStrike" kern="1200" cap="none" spc="0" normalizeH="0" baseline="0" dirty="0">
                        <a:ln>
                          <a:noFill/>
                        </a:ln>
                        <a:solidFill>
                          <a:srgbClr val="666666"/>
                        </a:solidFill>
                        <a:effectLst/>
                        <a:uLnTx/>
                        <a:uFillTx/>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7"/>
                  </a:ext>
                </a:extLst>
              </a:tr>
            </a:tbl>
          </a:graphicData>
        </a:graphic>
      </p:graphicFrame>
      <p:pic>
        <p:nvPicPr>
          <p:cNvPr id="3" name="图片 2">
            <a:extLst>
              <a:ext uri="{FF2B5EF4-FFF2-40B4-BE49-F238E27FC236}">
                <a16:creationId xmlns:a16="http://schemas.microsoft.com/office/drawing/2014/main" id="{95294767-238C-4347-894E-8AFC7C2F3EC7}"/>
              </a:ext>
            </a:extLst>
          </p:cNvPr>
          <p:cNvPicPr>
            <a:picLocks noChangeAspect="1"/>
          </p:cNvPicPr>
          <p:nvPr/>
        </p:nvPicPr>
        <p:blipFill>
          <a:blip r:embed="rId22"/>
          <a:stretch>
            <a:fillRect/>
          </a:stretch>
        </p:blipFill>
        <p:spPr>
          <a:xfrm>
            <a:off x="7254242" y="1373505"/>
            <a:ext cx="4950102" cy="3395766"/>
          </a:xfrm>
          <a:prstGeom prst="rect">
            <a:avLst/>
          </a:prstGeom>
        </p:spPr>
      </p:pic>
      <p:sp>
        <p:nvSpPr>
          <p:cNvPr id="34" name="右箭头 150">
            <a:extLst>
              <a:ext uri="{FF2B5EF4-FFF2-40B4-BE49-F238E27FC236}">
                <a16:creationId xmlns:a16="http://schemas.microsoft.com/office/drawing/2014/main" id="{6AC46048-5FE1-4A01-8673-64D0D73A45E5}"/>
              </a:ext>
            </a:extLst>
          </p:cNvPr>
          <p:cNvSpPr/>
          <p:nvPr/>
        </p:nvSpPr>
        <p:spPr>
          <a:xfrm>
            <a:off x="7296461" y="2000428"/>
            <a:ext cx="861623" cy="384849"/>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EFFFF"/>
              </a:solidFill>
              <a:effectLst/>
              <a:uLnTx/>
              <a:uFillTx/>
              <a:latin typeface="微软雅黑" panose="020B0503020204020204" pitchFamily="34" charset="-122"/>
              <a:ea typeface="微软雅黑" panose="020B0503020204020204" pitchFamily="34" charset="-122"/>
              <a:cs typeface="Alibaba PuHuiTi" pitchFamily="18" charset="-122"/>
            </a:endParaRPr>
          </a:p>
        </p:txBody>
      </p:sp>
      <p:sp>
        <p:nvSpPr>
          <p:cNvPr id="35" name="AutoShape 19">
            <a:extLst>
              <a:ext uri="{FF2B5EF4-FFF2-40B4-BE49-F238E27FC236}">
                <a16:creationId xmlns:a16="http://schemas.microsoft.com/office/drawing/2014/main" id="{65652CB1-21EF-4E08-83DF-BF0784E1A507}"/>
              </a:ext>
            </a:extLst>
          </p:cNvPr>
          <p:cNvSpPr/>
          <p:nvPr/>
        </p:nvSpPr>
        <p:spPr>
          <a:xfrm>
            <a:off x="27536" y="5797473"/>
            <a:ext cx="12165657" cy="987691"/>
          </a:xfrm>
          <a:prstGeom prst="roundRect">
            <a:avLst>
              <a:gd name="adj" fmla="val 16666"/>
            </a:avLst>
          </a:prstGeom>
          <a:solidFill>
            <a:srgbClr val="003366">
              <a:alpha val="5000"/>
            </a:srgbClr>
          </a:solidFill>
          <a:ln w="12700" cap="flat" cmpd="sng">
            <a:solidFill>
              <a:srgbClr val="003366">
                <a:alpha val="20000"/>
              </a:srgbClr>
            </a:solidFill>
            <a:prstDash val="solid"/>
            <a:round/>
          </a:ln>
        </p:spPr>
        <p:txBody>
          <a:bodyPr vert="horz" wrap="square" lIns="63500" tIns="63500" rIns="63500" bIns="63500" rtlCol="0" anchor="ctr"/>
          <a:lstStyle/>
          <a:p>
            <a:pPr>
              <a:defRPr/>
            </a:pPr>
            <a:r>
              <a:rPr lang="zh-CN" altLang="en-US" sz="1600" b="1" dirty="0">
                <a:solidFill>
                  <a:prstClr val="black"/>
                </a:solidFill>
                <a:latin typeface="Calibri"/>
              </a:rPr>
              <a:t>重点关注：</a:t>
            </a:r>
          </a:p>
          <a:p>
            <a:pPr>
              <a:defRPr/>
            </a:pPr>
            <a:r>
              <a:rPr lang="en-US" altLang="zh-CN" sz="1600" dirty="0">
                <a:solidFill>
                  <a:prstClr val="black"/>
                </a:solidFill>
                <a:latin typeface="Calibri"/>
              </a:rPr>
              <a:t>1</a:t>
            </a:r>
            <a:r>
              <a:rPr lang="zh-CN" altLang="en-US" sz="1600" dirty="0">
                <a:solidFill>
                  <a:prstClr val="black"/>
                </a:solidFill>
                <a:latin typeface="Calibri"/>
              </a:rPr>
              <a:t>、</a:t>
            </a:r>
            <a:r>
              <a:rPr lang="en-US" sz="1600" dirty="0">
                <a:solidFill>
                  <a:prstClr val="black"/>
                </a:solidFill>
                <a:latin typeface="Calibri"/>
              </a:rPr>
              <a:t>TLA</a:t>
            </a:r>
            <a:r>
              <a:rPr lang="zh-CN" altLang="en-US" sz="1600" dirty="0">
                <a:solidFill>
                  <a:prstClr val="black"/>
                </a:solidFill>
                <a:latin typeface="Calibri"/>
              </a:rPr>
              <a:t>交付队伍：青岛立菲、青岛新爱康</a:t>
            </a:r>
            <a:r>
              <a:rPr lang="zh-CN" altLang="en-US" sz="1600" b="1" dirty="0">
                <a:solidFill>
                  <a:srgbClr val="C00000"/>
                </a:solidFill>
                <a:latin typeface="Calibri"/>
              </a:rPr>
              <a:t>培养</a:t>
            </a:r>
            <a:r>
              <a:rPr lang="en-US" altLang="zh-CN" sz="1600" b="1" dirty="0">
                <a:solidFill>
                  <a:srgbClr val="C00000"/>
                </a:solidFill>
                <a:latin typeface="Calibri"/>
              </a:rPr>
              <a:t>4-6</a:t>
            </a:r>
            <a:r>
              <a:rPr lang="zh-CN" altLang="en-US" sz="1600" b="1" dirty="0">
                <a:solidFill>
                  <a:srgbClr val="C00000"/>
                </a:solidFill>
                <a:latin typeface="Calibri"/>
              </a:rPr>
              <a:t>人交付临床团队</a:t>
            </a:r>
            <a:r>
              <a:rPr lang="zh-CN" altLang="en-US" sz="1600" dirty="0">
                <a:solidFill>
                  <a:prstClr val="black"/>
                </a:solidFill>
                <a:latin typeface="Calibri"/>
              </a:rPr>
              <a:t>，应对大项目交付中的无忧切换、风险识别能力、案例软文书写能力；</a:t>
            </a:r>
          </a:p>
          <a:p>
            <a:pPr>
              <a:defRPr/>
            </a:pPr>
            <a:r>
              <a:rPr lang="en-US" altLang="zh-CN" sz="1600" dirty="0">
                <a:solidFill>
                  <a:prstClr val="black"/>
                </a:solidFill>
                <a:latin typeface="Calibri"/>
              </a:rPr>
              <a:t>2</a:t>
            </a:r>
            <a:r>
              <a:rPr lang="zh-CN" altLang="en-US" sz="1600" dirty="0">
                <a:solidFill>
                  <a:prstClr val="black"/>
                </a:solidFill>
                <a:latin typeface="Calibri"/>
              </a:rPr>
              <a:t>、常规渠道：润达欣康、东营杰迈、福瑞斯特为核心能力提升渠道，重点规划输出人员提升计划。</a:t>
            </a:r>
          </a:p>
          <a:p>
            <a:pPr>
              <a:defRPr/>
            </a:pPr>
            <a:r>
              <a:rPr lang="en-US" altLang="zh-CN" sz="1600" dirty="0">
                <a:solidFill>
                  <a:prstClr val="black"/>
                </a:solidFill>
                <a:latin typeface="Calibri"/>
              </a:rPr>
              <a:t>3</a:t>
            </a:r>
            <a:r>
              <a:rPr lang="zh-CN" altLang="en-US" sz="1600" dirty="0">
                <a:solidFill>
                  <a:prstClr val="black"/>
                </a:solidFill>
                <a:latin typeface="Calibri"/>
              </a:rPr>
              <a:t>、风险渠道：信荣康达、青岛恒合，人员配置及服务客户能力有风险，重点关注人员成长和客户满意度。</a:t>
            </a:r>
          </a:p>
        </p:txBody>
      </p:sp>
      <p:sp>
        <p:nvSpPr>
          <p:cNvPr id="36" name="AutoShape 20">
            <a:extLst>
              <a:ext uri="{FF2B5EF4-FFF2-40B4-BE49-F238E27FC236}">
                <a16:creationId xmlns:a16="http://schemas.microsoft.com/office/drawing/2014/main" id="{3DF37D41-F1E8-479A-8C78-173B54396477}"/>
              </a:ext>
            </a:extLst>
          </p:cNvPr>
          <p:cNvSpPr/>
          <p:nvPr/>
        </p:nvSpPr>
        <p:spPr>
          <a:xfrm>
            <a:off x="131293" y="5242557"/>
            <a:ext cx="11887503" cy="442067"/>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1600" b="1" dirty="0">
                <a:solidFill>
                  <a:prstClr val="black"/>
                </a:solidFill>
                <a:latin typeface="Calibri"/>
              </a:rPr>
              <a:t>改善</a:t>
            </a:r>
            <a:r>
              <a:rPr lang="zh-CN" altLang="zh-CN" sz="1600" b="1" dirty="0">
                <a:solidFill>
                  <a:prstClr val="black"/>
                </a:solidFill>
                <a:latin typeface="Calibri"/>
              </a:rPr>
              <a:t>目标：</a:t>
            </a:r>
            <a:r>
              <a:rPr lang="zh-CN" altLang="zh-CN" sz="1600" dirty="0">
                <a:solidFill>
                  <a:prstClr val="black"/>
                </a:solidFill>
                <a:latin typeface="Calibri"/>
              </a:rPr>
              <a:t>通过全年</a:t>
            </a:r>
            <a:r>
              <a:rPr lang="zh-CN" altLang="en-US" sz="1600" dirty="0">
                <a:solidFill>
                  <a:prstClr val="black"/>
                </a:solidFill>
                <a:latin typeface="Calibri"/>
              </a:rPr>
              <a:t>定制化服年</a:t>
            </a:r>
            <a:r>
              <a:rPr lang="zh-CN" altLang="zh-CN" sz="1600" dirty="0">
                <a:solidFill>
                  <a:prstClr val="black"/>
                </a:solidFill>
                <a:latin typeface="Calibri"/>
              </a:rPr>
              <a:t>，</a:t>
            </a:r>
            <a:r>
              <a:rPr lang="en-US" altLang="zh-CN" sz="1600" b="1" dirty="0">
                <a:solidFill>
                  <a:srgbClr val="C00000"/>
                </a:solidFill>
                <a:latin typeface="Calibri"/>
              </a:rPr>
              <a:t>B</a:t>
            </a:r>
            <a:r>
              <a:rPr lang="zh-CN" altLang="en-US" sz="1600" b="1" dirty="0">
                <a:solidFill>
                  <a:srgbClr val="C00000"/>
                </a:solidFill>
                <a:latin typeface="Calibri"/>
              </a:rPr>
              <a:t>级人员转化为</a:t>
            </a:r>
            <a:r>
              <a:rPr lang="en-US" altLang="zh-CN" sz="1600" b="1" dirty="0">
                <a:solidFill>
                  <a:srgbClr val="C00000"/>
                </a:solidFill>
                <a:latin typeface="Calibri"/>
              </a:rPr>
              <a:t>A</a:t>
            </a:r>
            <a:r>
              <a:rPr lang="zh-CN" altLang="en-US" sz="1600" b="1" dirty="0">
                <a:solidFill>
                  <a:srgbClr val="C00000"/>
                </a:solidFill>
                <a:latin typeface="Calibri"/>
              </a:rPr>
              <a:t>级＞</a:t>
            </a:r>
            <a:r>
              <a:rPr lang="en-US" altLang="zh-CN" sz="1600" b="1" dirty="0">
                <a:solidFill>
                  <a:srgbClr val="C00000"/>
                </a:solidFill>
                <a:latin typeface="Calibri"/>
              </a:rPr>
              <a:t>2</a:t>
            </a:r>
            <a:r>
              <a:rPr lang="zh-CN" altLang="en-US" sz="1600" b="1" dirty="0">
                <a:solidFill>
                  <a:srgbClr val="C00000"/>
                </a:solidFill>
                <a:latin typeface="Calibri"/>
              </a:rPr>
              <a:t>人，</a:t>
            </a:r>
            <a:r>
              <a:rPr lang="en-US" altLang="zh-CN" sz="1600" b="1" dirty="0">
                <a:solidFill>
                  <a:srgbClr val="C00000"/>
                </a:solidFill>
                <a:latin typeface="Calibri"/>
              </a:rPr>
              <a:t>C</a:t>
            </a:r>
            <a:r>
              <a:rPr lang="zh-CN" altLang="en-US" sz="1600" b="1" dirty="0">
                <a:solidFill>
                  <a:srgbClr val="C00000"/>
                </a:solidFill>
                <a:latin typeface="Calibri"/>
              </a:rPr>
              <a:t>转</a:t>
            </a:r>
            <a:r>
              <a:rPr lang="en-US" altLang="zh-CN" sz="1600" b="1" dirty="0">
                <a:solidFill>
                  <a:srgbClr val="C00000"/>
                </a:solidFill>
                <a:latin typeface="Calibri"/>
              </a:rPr>
              <a:t>B</a:t>
            </a:r>
            <a:r>
              <a:rPr lang="zh-CN" altLang="en-US" sz="1600" b="1" dirty="0">
                <a:solidFill>
                  <a:srgbClr val="C00000"/>
                </a:solidFill>
                <a:latin typeface="Calibri"/>
              </a:rPr>
              <a:t>＞</a:t>
            </a:r>
            <a:r>
              <a:rPr lang="en-US" altLang="zh-CN" sz="1600" b="1" dirty="0">
                <a:solidFill>
                  <a:srgbClr val="C00000"/>
                </a:solidFill>
                <a:latin typeface="Calibri"/>
              </a:rPr>
              <a:t>5</a:t>
            </a:r>
            <a:r>
              <a:rPr lang="zh-CN" altLang="en-US" sz="1600" b="1" dirty="0">
                <a:solidFill>
                  <a:srgbClr val="C00000"/>
                </a:solidFill>
                <a:latin typeface="Calibri"/>
              </a:rPr>
              <a:t>人</a:t>
            </a:r>
            <a:r>
              <a:rPr lang="zh-CN" altLang="en-US" sz="1600" dirty="0">
                <a:solidFill>
                  <a:prstClr val="black"/>
                </a:solidFill>
                <a:latin typeface="Calibri"/>
              </a:rPr>
              <a:t>；渠道能力评估纳入人员评级</a:t>
            </a:r>
            <a:r>
              <a:rPr lang="en-US" altLang="zh-CN" sz="1600" dirty="0">
                <a:solidFill>
                  <a:prstClr val="black"/>
                </a:solidFill>
                <a:latin typeface="Calibri"/>
              </a:rPr>
              <a:t>/</a:t>
            </a:r>
            <a:r>
              <a:rPr lang="zh-CN" altLang="en-US" sz="1600" dirty="0">
                <a:solidFill>
                  <a:prstClr val="black"/>
                </a:solidFill>
                <a:latin typeface="Calibri"/>
              </a:rPr>
              <a:t>晋升评分项，</a:t>
            </a:r>
            <a:r>
              <a:rPr lang="zh-CN" altLang="en-US" sz="1600" dirty="0">
                <a:solidFill>
                  <a:prstClr val="black"/>
                </a:solidFill>
                <a:latin typeface="Calibri"/>
                <a:sym typeface="+mn-ea"/>
              </a:rPr>
              <a:t>提供数据支撑。</a:t>
            </a:r>
          </a:p>
        </p:txBody>
      </p:sp>
    </p:spTree>
    <p:extLst>
      <p:ext uri="{BB962C8B-B14F-4D97-AF65-F5344CB8AC3E}">
        <p14:creationId xmlns:p14="http://schemas.microsoft.com/office/powerpoint/2010/main" val="2107468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13093" y="103169"/>
            <a:ext cx="10491628" cy="640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219200">
              <a:defRPr/>
            </a:pPr>
            <a:r>
              <a:rPr lang="zh-CN" altLang="en-US"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部门重点工作</a:t>
            </a:r>
            <a:r>
              <a:rPr lang="en-US" altLang="zh-CN" sz="2400" b="1" dirty="0">
                <a:solidFill>
                  <a:srgbClr val="1F1F1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渠道能力评估模型</a:t>
            </a:r>
          </a:p>
        </p:txBody>
      </p:sp>
      <p:grpSp>
        <p:nvGrpSpPr>
          <p:cNvPr id="30" name="组合 29"/>
          <p:cNvGrpSpPr/>
          <p:nvPr/>
        </p:nvGrpSpPr>
        <p:grpSpPr>
          <a:xfrm>
            <a:off x="69850" y="134620"/>
            <a:ext cx="11892280" cy="590550"/>
            <a:chOff x="110" y="212"/>
            <a:chExt cx="18728" cy="930"/>
          </a:xfrm>
        </p:grpSpPr>
        <p:cxnSp>
          <p:nvCxnSpPr>
            <p:cNvPr id="2" name="直接连接符 1"/>
            <p:cNvCxnSpPr/>
            <p:nvPr/>
          </p:nvCxnSpPr>
          <p:spPr>
            <a:xfrm>
              <a:off x="296" y="1142"/>
              <a:ext cx="18542" cy="0"/>
            </a:xfrm>
            <a:prstGeom prst="line">
              <a:avLst/>
            </a:prstGeom>
          </p:spPr>
          <p:style>
            <a:lnRef idx="2">
              <a:schemeClr val="accent1"/>
            </a:lnRef>
            <a:fillRef idx="0">
              <a:srgbClr val="FFFFFF"/>
            </a:fillRef>
            <a:effectRef idx="0">
              <a:srgbClr val="FFFFFF"/>
            </a:effectRef>
            <a:fontRef idx="minor">
              <a:schemeClr val="tx1"/>
            </a:fontRef>
          </p:style>
        </p:cxnSp>
        <p:sp>
          <p:nvSpPr>
            <p:cNvPr id="7" name="矩形 6"/>
            <p:cNvSpPr/>
            <p:nvPr/>
          </p:nvSpPr>
          <p:spPr>
            <a:xfrm>
              <a:off x="110" y="212"/>
              <a:ext cx="341" cy="61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nvSpPr>
          <p:spPr>
            <a:xfrm>
              <a:off x="310" y="412"/>
              <a:ext cx="341" cy="611"/>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4" name="AutoShape 3">
            <a:extLst>
              <a:ext uri="{FF2B5EF4-FFF2-40B4-BE49-F238E27FC236}">
                <a16:creationId xmlns:a16="http://schemas.microsoft.com/office/drawing/2014/main" id="{540F2F41-B2DE-4326-9A4A-8A4D8B306256}"/>
              </a:ext>
            </a:extLst>
          </p:cNvPr>
          <p:cNvSpPr/>
          <p:nvPr/>
        </p:nvSpPr>
        <p:spPr>
          <a:xfrm>
            <a:off x="628186" y="1184506"/>
            <a:ext cx="5143500" cy="2852231"/>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5" name="AutoShape 4">
            <a:extLst>
              <a:ext uri="{FF2B5EF4-FFF2-40B4-BE49-F238E27FC236}">
                <a16:creationId xmlns:a16="http://schemas.microsoft.com/office/drawing/2014/main" id="{0787F28E-A47F-4CF1-BFD8-0910A762FF6E}"/>
              </a:ext>
            </a:extLst>
          </p:cNvPr>
          <p:cNvSpPr/>
          <p:nvPr/>
        </p:nvSpPr>
        <p:spPr>
          <a:xfrm>
            <a:off x="628186" y="1184506"/>
            <a:ext cx="5143500" cy="76200"/>
          </a:xfrm>
          <a:prstGeom prst="roundRect">
            <a:avLst>
              <a:gd name="adj" fmla="val 166666"/>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5">
            <a:extLst>
              <a:ext uri="{FF2B5EF4-FFF2-40B4-BE49-F238E27FC236}">
                <a16:creationId xmlns:a16="http://schemas.microsoft.com/office/drawing/2014/main" id="{173A5887-ABB8-490F-A545-07C95C4A1ED9}"/>
              </a:ext>
            </a:extLst>
          </p:cNvPr>
          <p:cNvSpPr/>
          <p:nvPr/>
        </p:nvSpPr>
        <p:spPr>
          <a:xfrm>
            <a:off x="1009186" y="1565506"/>
            <a:ext cx="609600" cy="609600"/>
          </a:xfrm>
          <a:prstGeom prst="ellipse">
            <a:avLst/>
          </a:prstGeom>
          <a:solidFill>
            <a:srgbClr val="0052FF">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6">
            <a:extLst>
              <a:ext uri="{FF2B5EF4-FFF2-40B4-BE49-F238E27FC236}">
                <a16:creationId xmlns:a16="http://schemas.microsoft.com/office/drawing/2014/main" id="{6F3AF333-B07B-4585-9A68-AA3EC5DE3A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0786" y="1667106"/>
            <a:ext cx="406400" cy="406400"/>
          </a:xfrm>
          <a:prstGeom prst="rect">
            <a:avLst/>
          </a:prstGeom>
        </p:spPr>
      </p:pic>
      <p:sp>
        <p:nvSpPr>
          <p:cNvPr id="28" name="AutoShape 7">
            <a:extLst>
              <a:ext uri="{FF2B5EF4-FFF2-40B4-BE49-F238E27FC236}">
                <a16:creationId xmlns:a16="http://schemas.microsoft.com/office/drawing/2014/main" id="{983C1965-5EFB-4D69-ADD9-88F84D0F7D8D}"/>
              </a:ext>
            </a:extLst>
          </p:cNvPr>
          <p:cNvSpPr/>
          <p:nvPr/>
        </p:nvSpPr>
        <p:spPr>
          <a:xfrm>
            <a:off x="1771186" y="1590906"/>
            <a:ext cx="3683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FF"/>
                </a:solidFill>
                <a:latin typeface="Noto Sans SC"/>
                <a:ea typeface="Noto Sans SC"/>
                <a:cs typeface="Noto Sans SC"/>
                <a:sym typeface="Noto Sans SC"/>
              </a:rPr>
              <a:t>阶段总结</a:t>
            </a:r>
            <a:endParaRPr lang="en-US" sz="1100"/>
          </a:p>
        </p:txBody>
      </p:sp>
      <p:sp>
        <p:nvSpPr>
          <p:cNvPr id="29" name="AutoShape 8">
            <a:extLst>
              <a:ext uri="{FF2B5EF4-FFF2-40B4-BE49-F238E27FC236}">
                <a16:creationId xmlns:a16="http://schemas.microsoft.com/office/drawing/2014/main" id="{7B3C14AE-28BF-4A9C-852A-ACB933CE6710}"/>
              </a:ext>
            </a:extLst>
          </p:cNvPr>
          <p:cNvSpPr/>
          <p:nvPr/>
        </p:nvSpPr>
        <p:spPr>
          <a:xfrm>
            <a:off x="1009186" y="1962924"/>
            <a:ext cx="4381500" cy="215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555555"/>
                </a:solidFill>
                <a:latin typeface="Noto Sans SC"/>
                <a:ea typeface="Noto Sans SC"/>
                <a:cs typeface="Noto Sans SC"/>
                <a:sym typeface="Noto Sans SC"/>
              </a:rPr>
              <a:t>CSA 2.0模型通过系统化的能力评估，为渠道</a:t>
            </a:r>
            <a:r>
              <a:rPr lang="zh-CN" altLang="en-US" sz="1600" dirty="0">
                <a:solidFill>
                  <a:srgbClr val="555555"/>
                </a:solidFill>
                <a:latin typeface="Noto Sans SC"/>
                <a:ea typeface="Noto Sans SC"/>
                <a:cs typeface="Noto Sans SC"/>
                <a:sym typeface="Noto Sans SC"/>
              </a:rPr>
              <a:t>人员</a:t>
            </a:r>
            <a:r>
              <a:rPr lang="en-US" sz="1600" b="0" i="0" u="none" strike="noStrike" dirty="0" err="1">
                <a:solidFill>
                  <a:srgbClr val="555555"/>
                </a:solidFill>
                <a:latin typeface="Noto Sans SC"/>
                <a:ea typeface="Noto Sans SC"/>
                <a:cs typeface="Noto Sans SC"/>
                <a:sym typeface="Noto Sans SC"/>
              </a:rPr>
              <a:t>管理提供了清晰的框架和数据支持，有助于提升团队整体战斗力和服务质量</a:t>
            </a:r>
            <a:r>
              <a:rPr lang="en-US" sz="1600" b="0" i="0" u="none" strike="noStrike" dirty="0">
                <a:solidFill>
                  <a:srgbClr val="555555"/>
                </a:solidFill>
                <a:latin typeface="Noto Sans SC"/>
                <a:ea typeface="Noto Sans SC"/>
                <a:cs typeface="Noto Sans SC"/>
                <a:sym typeface="Noto Sans SC"/>
              </a:rPr>
              <a:t>。</a:t>
            </a:r>
            <a:endParaRPr lang="en-US" sz="1100" dirty="0"/>
          </a:p>
        </p:txBody>
      </p:sp>
      <p:sp>
        <p:nvSpPr>
          <p:cNvPr id="31" name="AutoShape 9">
            <a:extLst>
              <a:ext uri="{FF2B5EF4-FFF2-40B4-BE49-F238E27FC236}">
                <a16:creationId xmlns:a16="http://schemas.microsoft.com/office/drawing/2014/main" id="{30E14AC7-D9E4-467C-AC46-193EE8B96315}"/>
              </a:ext>
            </a:extLst>
          </p:cNvPr>
          <p:cNvSpPr/>
          <p:nvPr/>
        </p:nvSpPr>
        <p:spPr>
          <a:xfrm>
            <a:off x="6152686" y="1184506"/>
            <a:ext cx="5143500" cy="2852229"/>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48" name="AutoShape 10">
            <a:extLst>
              <a:ext uri="{FF2B5EF4-FFF2-40B4-BE49-F238E27FC236}">
                <a16:creationId xmlns:a16="http://schemas.microsoft.com/office/drawing/2014/main" id="{C5295AEA-7041-4514-83F7-867DFD85D0EB}"/>
              </a:ext>
            </a:extLst>
          </p:cNvPr>
          <p:cNvSpPr/>
          <p:nvPr/>
        </p:nvSpPr>
        <p:spPr>
          <a:xfrm>
            <a:off x="6152686" y="1184506"/>
            <a:ext cx="5143500" cy="76200"/>
          </a:xfrm>
          <a:prstGeom prst="roundRect">
            <a:avLst>
              <a:gd name="adj" fmla="val 166666"/>
            </a:avLst>
          </a:prstGeom>
          <a:solidFill>
            <a:srgbClr val="FF6B3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11">
            <a:extLst>
              <a:ext uri="{FF2B5EF4-FFF2-40B4-BE49-F238E27FC236}">
                <a16:creationId xmlns:a16="http://schemas.microsoft.com/office/drawing/2014/main" id="{038C38F9-C124-49C6-9DFD-20A7F7F0A28B}"/>
              </a:ext>
            </a:extLst>
          </p:cNvPr>
          <p:cNvSpPr/>
          <p:nvPr/>
        </p:nvSpPr>
        <p:spPr>
          <a:xfrm>
            <a:off x="6533686" y="1565506"/>
            <a:ext cx="609600" cy="609600"/>
          </a:xfrm>
          <a:prstGeom prst="ellipse">
            <a:avLst/>
          </a:prstGeom>
          <a:solidFill>
            <a:srgbClr val="FF6B35">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0" name="Picture 12">
            <a:extLst>
              <a:ext uri="{FF2B5EF4-FFF2-40B4-BE49-F238E27FC236}">
                <a16:creationId xmlns:a16="http://schemas.microsoft.com/office/drawing/2014/main" id="{748CAD03-6023-474B-82D9-B42CE80D83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35286" y="1667106"/>
            <a:ext cx="406400" cy="406400"/>
          </a:xfrm>
          <a:prstGeom prst="rect">
            <a:avLst/>
          </a:prstGeom>
        </p:spPr>
      </p:pic>
      <p:sp>
        <p:nvSpPr>
          <p:cNvPr id="51" name="AutoShape 13">
            <a:extLst>
              <a:ext uri="{FF2B5EF4-FFF2-40B4-BE49-F238E27FC236}">
                <a16:creationId xmlns:a16="http://schemas.microsoft.com/office/drawing/2014/main" id="{EB96761F-13D8-4741-8614-EA1944E3985F}"/>
              </a:ext>
            </a:extLst>
          </p:cNvPr>
          <p:cNvSpPr/>
          <p:nvPr/>
        </p:nvSpPr>
        <p:spPr>
          <a:xfrm>
            <a:off x="7295686" y="1590906"/>
            <a:ext cx="3683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6B35"/>
                </a:solidFill>
                <a:latin typeface="Noto Sans SC"/>
                <a:ea typeface="Noto Sans SC"/>
                <a:cs typeface="Noto Sans SC"/>
                <a:sym typeface="Noto Sans SC"/>
              </a:rPr>
              <a:t>未来展望</a:t>
            </a:r>
            <a:endParaRPr lang="en-US" sz="1100"/>
          </a:p>
        </p:txBody>
      </p:sp>
      <p:sp>
        <p:nvSpPr>
          <p:cNvPr id="52" name="AutoShape 14">
            <a:extLst>
              <a:ext uri="{FF2B5EF4-FFF2-40B4-BE49-F238E27FC236}">
                <a16:creationId xmlns:a16="http://schemas.microsoft.com/office/drawing/2014/main" id="{13486543-9FF4-460E-9DF0-18BD3DFAE860}"/>
              </a:ext>
            </a:extLst>
          </p:cNvPr>
          <p:cNvSpPr/>
          <p:nvPr/>
        </p:nvSpPr>
        <p:spPr>
          <a:xfrm>
            <a:off x="6533686" y="2074437"/>
            <a:ext cx="4381500" cy="2159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600" b="0" i="0" u="none" strike="noStrike" dirty="0" err="1">
                <a:solidFill>
                  <a:srgbClr val="555555"/>
                </a:solidFill>
                <a:latin typeface="Noto Sans SC"/>
                <a:ea typeface="Noto Sans SC"/>
                <a:cs typeface="Noto Sans SC"/>
                <a:sym typeface="Noto Sans SC"/>
              </a:rPr>
              <a:t>未来，我们将持续优化模型，结合实际应用反馈，使其更加精准和高效，为公司的渠道发展提供更有力的支撑</a:t>
            </a:r>
            <a:r>
              <a:rPr lang="zh-CN" altLang="en-US" sz="1600" b="0" i="0" u="none" strike="noStrike" dirty="0">
                <a:solidFill>
                  <a:srgbClr val="555555"/>
                </a:solidFill>
                <a:latin typeface="Noto Sans SC"/>
                <a:ea typeface="Noto Sans SC"/>
                <a:cs typeface="Noto Sans SC"/>
                <a:sym typeface="Noto Sans SC"/>
              </a:rPr>
              <a:t>；</a:t>
            </a:r>
            <a:r>
              <a:rPr lang="zh-CN" altLang="en-US" sz="1600" b="1" dirty="0">
                <a:solidFill>
                  <a:srgbClr val="555555"/>
                </a:solidFill>
                <a:latin typeface="Noto Sans SC"/>
                <a:ea typeface="Noto Sans SC"/>
              </a:rPr>
              <a:t>第二阶段应用探讨，核心能力维度输出赋能体系，</a:t>
            </a:r>
            <a:r>
              <a:rPr lang="zh-CN" altLang="en-US" sz="1600" b="1" dirty="0">
                <a:solidFill>
                  <a:srgbClr val="FF0000"/>
                </a:solidFill>
                <a:latin typeface="Noto Sans SC"/>
                <a:ea typeface="Noto Sans SC"/>
              </a:rPr>
              <a:t>智能化平台</a:t>
            </a:r>
            <a:endParaRPr lang="en-US" sz="1600" b="1" dirty="0">
              <a:solidFill>
                <a:srgbClr val="FF0000"/>
              </a:solidFill>
              <a:latin typeface="Noto Sans SC"/>
              <a:ea typeface="Noto Sans SC"/>
            </a:endParaRPr>
          </a:p>
        </p:txBody>
      </p:sp>
      <p:sp>
        <p:nvSpPr>
          <p:cNvPr id="3" name="文本框 2">
            <a:extLst>
              <a:ext uri="{FF2B5EF4-FFF2-40B4-BE49-F238E27FC236}">
                <a16:creationId xmlns:a16="http://schemas.microsoft.com/office/drawing/2014/main" id="{DBE6EFA5-D0C7-4F6C-9E34-00546D3BA648}"/>
              </a:ext>
            </a:extLst>
          </p:cNvPr>
          <p:cNvSpPr txBox="1"/>
          <p:nvPr/>
        </p:nvSpPr>
        <p:spPr>
          <a:xfrm>
            <a:off x="655135" y="4255425"/>
            <a:ext cx="11098250" cy="1526315"/>
          </a:xfrm>
          <a:prstGeom prst="rect">
            <a:avLst/>
          </a:prstGeom>
          <a:noFill/>
        </p:spPr>
        <p:txBody>
          <a:bodyPr wrap="square" rtlCol="0">
            <a:spAutoFit/>
          </a:bodyPr>
          <a:lstStyle/>
          <a:p>
            <a:pPr>
              <a:lnSpc>
                <a:spcPct val="150000"/>
              </a:lnSpc>
            </a:pPr>
            <a:r>
              <a:rPr lang="zh-CN" altLang="en-US" sz="1600" b="1" dirty="0">
                <a:solidFill>
                  <a:srgbClr val="555555"/>
                </a:solidFill>
                <a:latin typeface="Noto Sans SC"/>
                <a:ea typeface="Noto Sans SC"/>
              </a:rPr>
              <a:t>无忧切换：</a:t>
            </a:r>
            <a:r>
              <a:rPr lang="zh-CN" altLang="en-US" sz="1600" dirty="0">
                <a:solidFill>
                  <a:srgbClr val="555555"/>
                </a:solidFill>
                <a:latin typeface="Noto Sans SC"/>
                <a:ea typeface="Noto Sans SC"/>
              </a:rPr>
              <a:t>县域</a:t>
            </a:r>
            <a:r>
              <a:rPr lang="en-US" altLang="zh-CN" sz="1600" dirty="0">
                <a:solidFill>
                  <a:srgbClr val="555555"/>
                </a:solidFill>
                <a:latin typeface="Noto Sans SC"/>
                <a:ea typeface="Noto Sans SC"/>
              </a:rPr>
              <a:t>TLA</a:t>
            </a:r>
            <a:r>
              <a:rPr lang="zh-CN" altLang="en-US" sz="1600" dirty="0">
                <a:solidFill>
                  <a:srgbClr val="555555"/>
                </a:solidFill>
                <a:latin typeface="Noto Sans SC"/>
                <a:ea typeface="Noto Sans SC"/>
              </a:rPr>
              <a:t>交付、</a:t>
            </a:r>
            <a:r>
              <a:rPr lang="en-US" altLang="zh-CN" sz="1600" dirty="0">
                <a:solidFill>
                  <a:srgbClr val="555555"/>
                </a:solidFill>
                <a:latin typeface="Noto Sans SC"/>
                <a:ea typeface="Noto Sans SC"/>
              </a:rPr>
              <a:t>VIP2</a:t>
            </a:r>
            <a:r>
              <a:rPr lang="zh-CN" altLang="en-US" sz="1600" dirty="0">
                <a:solidFill>
                  <a:srgbClr val="555555"/>
                </a:solidFill>
                <a:latin typeface="Noto Sans SC"/>
                <a:ea typeface="Noto Sans SC"/>
              </a:rPr>
              <a:t>及以下单机可渠道交付，不过无忧切换策略流程没有渠道承接场景</a:t>
            </a:r>
            <a:endParaRPr lang="en-US" altLang="zh-CN" sz="1600" dirty="0">
              <a:solidFill>
                <a:srgbClr val="555555"/>
              </a:solidFill>
              <a:latin typeface="Noto Sans SC"/>
              <a:ea typeface="Noto Sans SC"/>
            </a:endParaRPr>
          </a:p>
          <a:p>
            <a:pPr>
              <a:lnSpc>
                <a:spcPct val="150000"/>
              </a:lnSpc>
            </a:pPr>
            <a:r>
              <a:rPr lang="zh-CN" altLang="en-US" sz="1600" b="1" dirty="0">
                <a:solidFill>
                  <a:srgbClr val="555555"/>
                </a:solidFill>
                <a:latin typeface="Noto Sans SC"/>
                <a:ea typeface="Noto Sans SC"/>
              </a:rPr>
              <a:t>风险管理：</a:t>
            </a:r>
            <a:r>
              <a:rPr lang="zh-CN" altLang="en-US" sz="1600" dirty="0">
                <a:solidFill>
                  <a:srgbClr val="555555"/>
                </a:solidFill>
                <a:latin typeface="Noto Sans SC"/>
                <a:ea typeface="Noto Sans SC"/>
              </a:rPr>
              <a:t>基础能力（风险意识）：聚焦</a:t>
            </a:r>
            <a:r>
              <a:rPr lang="en-US" altLang="zh-CN" sz="1600" dirty="0">
                <a:solidFill>
                  <a:srgbClr val="555555"/>
                </a:solidFill>
                <a:latin typeface="Noto Sans SC"/>
                <a:ea typeface="Noto Sans SC"/>
              </a:rPr>
              <a:t>V1</a:t>
            </a:r>
            <a:r>
              <a:rPr lang="zh-CN" altLang="en-US" sz="1600" dirty="0">
                <a:solidFill>
                  <a:srgbClr val="555555"/>
                </a:solidFill>
                <a:latin typeface="Noto Sans SC"/>
                <a:ea typeface="Noto Sans SC"/>
              </a:rPr>
              <a:t>客户，具备基础风险敏感度，精准识别潜在风险点；</a:t>
            </a:r>
          </a:p>
          <a:p>
            <a:pPr>
              <a:lnSpc>
                <a:spcPct val="150000"/>
              </a:lnSpc>
            </a:pPr>
            <a:r>
              <a:rPr lang="zh-CN" altLang="en-US" sz="1600" dirty="0">
                <a:solidFill>
                  <a:srgbClr val="555555"/>
                </a:solidFill>
                <a:latin typeface="Noto Sans SC"/>
                <a:ea typeface="Noto Sans SC"/>
              </a:rPr>
              <a:t>                      进阶能力（管控落地）：针对识别的风险，制定可落地的专项管控方案，实现风险闭环管理</a:t>
            </a:r>
            <a:endParaRPr lang="en-US" altLang="zh-CN" sz="1600" dirty="0">
              <a:solidFill>
                <a:srgbClr val="555555"/>
              </a:solidFill>
              <a:latin typeface="Noto Sans SC"/>
              <a:ea typeface="Noto Sans SC"/>
            </a:endParaRPr>
          </a:p>
          <a:p>
            <a:pPr>
              <a:lnSpc>
                <a:spcPct val="150000"/>
              </a:lnSpc>
            </a:pPr>
            <a:r>
              <a:rPr lang="zh-CN" altLang="en-US" sz="1600" b="1" dirty="0">
                <a:solidFill>
                  <a:srgbClr val="555555"/>
                </a:solidFill>
                <a:latin typeface="Noto Sans SC"/>
                <a:ea typeface="Noto Sans SC"/>
              </a:rPr>
              <a:t>产品价值传递：</a:t>
            </a:r>
            <a:r>
              <a:rPr lang="zh-CN" altLang="en-US" sz="1600" dirty="0">
                <a:solidFill>
                  <a:srgbClr val="555555"/>
                </a:solidFill>
                <a:latin typeface="Noto Sans SC"/>
                <a:ea typeface="Noto Sans SC"/>
              </a:rPr>
              <a:t>①</a:t>
            </a:r>
            <a:r>
              <a:rPr lang="en-US" altLang="zh-CN" sz="1600" dirty="0">
                <a:solidFill>
                  <a:srgbClr val="555555"/>
                </a:solidFill>
                <a:latin typeface="Noto Sans SC"/>
                <a:ea typeface="Noto Sans SC"/>
              </a:rPr>
              <a:t>E</a:t>
            </a:r>
            <a:r>
              <a:rPr lang="zh-CN" altLang="en-US" sz="1600" dirty="0">
                <a:solidFill>
                  <a:srgbClr val="555555"/>
                </a:solidFill>
                <a:latin typeface="Noto Sans SC"/>
                <a:ea typeface="Noto Sans SC"/>
              </a:rPr>
              <a:t>课堂推送产品优势线上课程；②分公司线下带教核心课程；③课后组织渠道考核、复盘</a:t>
            </a:r>
          </a:p>
        </p:txBody>
      </p:sp>
    </p:spTree>
    <p:extLst>
      <p:ext uri="{BB962C8B-B14F-4D97-AF65-F5344CB8AC3E}">
        <p14:creationId xmlns:p14="http://schemas.microsoft.com/office/powerpoint/2010/main" val="2007467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4D0DB561-F917-49B9-A0FD-C762126B8DF6}"/>
              </a:ext>
            </a:extLst>
          </p:cNvPr>
          <p:cNvPicPr>
            <a:picLocks noChangeAspect="1"/>
          </p:cNvPicPr>
          <p:nvPr/>
        </p:nvPicPr>
        <p:blipFill rotWithShape="1">
          <a:blip r:embed="rId2"/>
          <a:srcRect l="6293" r="6293"/>
          <a:stretch/>
        </p:blipFill>
        <p:spPr>
          <a:xfrm>
            <a:off x="0" y="0"/>
            <a:ext cx="12192000" cy="6953227"/>
          </a:xfrm>
          <a:prstGeom prst="rect">
            <a:avLst/>
          </a:prstGeom>
        </p:spPr>
      </p:pic>
      <p:sp>
        <p:nvSpPr>
          <p:cNvPr id="4" name="标题 1">
            <a:extLst>
              <a:ext uri="{FF2B5EF4-FFF2-40B4-BE49-F238E27FC236}">
                <a16:creationId xmlns:a16="http://schemas.microsoft.com/office/drawing/2014/main" id="{21EDF43A-57FA-4329-87AC-29A07E4360D9}"/>
              </a:ext>
            </a:extLst>
          </p:cNvPr>
          <p:cNvSpPr txBox="1">
            <a:spLocks/>
          </p:cNvSpPr>
          <p:nvPr/>
        </p:nvSpPr>
        <p:spPr>
          <a:xfrm>
            <a:off x="0" y="2404962"/>
            <a:ext cx="12192000" cy="20480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pPr algn="ctr" defTabSz="914377">
              <a:defRPr/>
            </a:pPr>
            <a:r>
              <a:rPr lang="zh-CN" altLang="en-US" sz="6600" b="1" kern="100" dirty="0">
                <a:solidFill>
                  <a:prstClr val="white"/>
                </a:solidFill>
                <a:latin typeface="Arial" panose="020F0502020204030204"/>
                <a:ea typeface="微软雅黑"/>
                <a:cs typeface="+mn-ea"/>
                <a:sym typeface="+mn-lt"/>
              </a:rPr>
              <a:t>谢谢</a:t>
            </a:r>
            <a:endParaRPr lang="zh-CN" altLang="en-US" sz="6600" dirty="0">
              <a:solidFill>
                <a:prstClr val="white"/>
              </a:solidFill>
              <a:latin typeface="Arial" panose="020F0502020204030204"/>
              <a:ea typeface="微软雅黑"/>
              <a:cs typeface="+mn-ea"/>
              <a:sym typeface="+mn-lt"/>
            </a:endParaRPr>
          </a:p>
        </p:txBody>
      </p:sp>
    </p:spTree>
    <p:extLst>
      <p:ext uri="{BB962C8B-B14F-4D97-AF65-F5344CB8AC3E}">
        <p14:creationId xmlns:p14="http://schemas.microsoft.com/office/powerpoint/2010/main" val="1202867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297.45,&quot;left&quot;:5.5,&quot;top&quot;:112.55,&quot;width&quot;:864.5}"/>
</p:tagLst>
</file>

<file path=ppt/tags/tag137.xml><?xml version="1.0" encoding="utf-8"?>
<p:tagLst xmlns:a="http://schemas.openxmlformats.org/drawingml/2006/main" xmlns:r="http://schemas.openxmlformats.org/officeDocument/2006/relationships" xmlns:p="http://schemas.openxmlformats.org/presentationml/2006/main">
  <p:tag name="TABLE_ENDDRAG_ORIGIN_RECT" val="365*248"/>
  <p:tag name="TABLE_ENDDRAG_RECT" val="594*118*365*24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pPr>
      <a:bodyPr rtlCol="0" anchor="ctr"/>
      <a:lstStyle>
        <a:defPPr algn="ctr">
          <a:defRPr sz="1100" dirty="0">
            <a:latin typeface="微软雅黑" panose="020B0503020204020204" charset="-122"/>
            <a:ea typeface="微软雅黑" panose="020B0503020204020204" charset="-122"/>
            <a:cs typeface="微软雅黑" panose="020B0503020204020204" charset="-122"/>
          </a:defRPr>
        </a:defPPr>
      </a:lstStyle>
      <a:style>
        <a:lnRef idx="3">
          <a:schemeClr val="lt1"/>
        </a:lnRef>
        <a:fillRef idx="1">
          <a:schemeClr val="accent3"/>
        </a:fillRef>
        <a:effectRef idx="1">
          <a:schemeClr val="accent3"/>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1_自定义设计方案">
  <a:themeElements>
    <a:clrScheme name="Office">
      <a:dk1>
        <a:srgbClr val="000000"/>
      </a:dk1>
      <a:lt1>
        <a:srgbClr val="FFFFFF"/>
      </a:lt1>
      <a:dk2>
        <a:srgbClr val="778495"/>
      </a:dk2>
      <a:lt2>
        <a:srgbClr val="F0F0F0"/>
      </a:lt2>
      <a:accent1>
        <a:srgbClr val="BD374A"/>
      </a:accent1>
      <a:accent2>
        <a:srgbClr val="6A868F"/>
      </a:accent2>
      <a:accent3>
        <a:srgbClr val="31778E"/>
      </a:accent3>
      <a:accent4>
        <a:srgbClr val="D6C88B"/>
      </a:accent4>
      <a:accent5>
        <a:srgbClr val="D66E49"/>
      </a:accent5>
      <a:accent6>
        <a:srgbClr val="649EB2"/>
      </a:accent6>
      <a:hlink>
        <a:srgbClr val="BD374A"/>
      </a:hlink>
      <a:folHlink>
        <a:srgbClr val="BFBFBF"/>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Office">
      <a:dk1>
        <a:srgbClr val="000000"/>
      </a:dk1>
      <a:lt1>
        <a:srgbClr val="FFFFFF"/>
      </a:lt1>
      <a:dk2>
        <a:srgbClr val="778495"/>
      </a:dk2>
      <a:lt2>
        <a:srgbClr val="F0F0F0"/>
      </a:lt2>
      <a:accent1>
        <a:srgbClr val="BD374A"/>
      </a:accent1>
      <a:accent2>
        <a:srgbClr val="6A868F"/>
      </a:accent2>
      <a:accent3>
        <a:srgbClr val="31778E"/>
      </a:accent3>
      <a:accent4>
        <a:srgbClr val="D6C88B"/>
      </a:accent4>
      <a:accent5>
        <a:srgbClr val="D66E49"/>
      </a:accent5>
      <a:accent6>
        <a:srgbClr val="649EB2"/>
      </a:accent6>
      <a:hlink>
        <a:srgbClr val="BD374A"/>
      </a:hlink>
      <a:folHlink>
        <a:srgbClr val="BFBFBF"/>
      </a:folHlink>
    </a:clrScheme>
    <a:fontScheme name="f77fb121-bfda-4273-ab66-ec95a2e3004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8_WPS">
  <a:themeElements>
    <a:clrScheme name="">
      <a:dk1>
        <a:srgbClr val="000000"/>
      </a:dk1>
      <a:lt1>
        <a:srgbClr val="FFFFFF"/>
      </a:lt1>
      <a:dk2>
        <a:srgbClr val="3B260B"/>
      </a:dk2>
      <a:lt2>
        <a:srgbClr val="FFFFFF"/>
      </a:lt2>
      <a:accent1>
        <a:srgbClr val="37536D"/>
      </a:accent1>
      <a:accent2>
        <a:srgbClr val="E7B56B"/>
      </a:accent2>
      <a:accent3>
        <a:srgbClr val="A3BBD1"/>
      </a:accent3>
      <a:accent4>
        <a:srgbClr val="D1DDE8"/>
      </a:accent4>
      <a:accent5>
        <a:srgbClr val="335574"/>
      </a:accent5>
      <a:accent6>
        <a:srgbClr val="BCCBD6"/>
      </a:accent6>
      <a:hlink>
        <a:srgbClr val="0026E5"/>
      </a:hlink>
      <a:folHlink>
        <a:srgbClr val="7E1FAD"/>
      </a:folHlink>
    </a:clrScheme>
    <a:fontScheme name="">
      <a:majorFont>
        <a:latin typeface="阿里巴巴普惠体 B"/>
        <a:ea typeface="阿里巴巴普惠体 B"/>
        <a:cs typeface=""/>
      </a:majorFont>
      <a:minorFont>
        <a:latin typeface="阿里巴巴普惠体 B"/>
        <a:ea typeface="阿里巴巴普惠体 B"/>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自定义设计方案">
  <a:themeElements>
    <a:clrScheme name="Office">
      <a:dk1>
        <a:srgbClr val="000000"/>
      </a:dk1>
      <a:lt1>
        <a:srgbClr val="FFFFFF"/>
      </a:lt1>
      <a:dk2>
        <a:srgbClr val="778495"/>
      </a:dk2>
      <a:lt2>
        <a:srgbClr val="F0F0F0"/>
      </a:lt2>
      <a:accent1>
        <a:srgbClr val="BD374A"/>
      </a:accent1>
      <a:accent2>
        <a:srgbClr val="6A868F"/>
      </a:accent2>
      <a:accent3>
        <a:srgbClr val="31778E"/>
      </a:accent3>
      <a:accent4>
        <a:srgbClr val="D6C88B"/>
      </a:accent4>
      <a:accent5>
        <a:srgbClr val="D66E49"/>
      </a:accent5>
      <a:accent6>
        <a:srgbClr val="649EB2"/>
      </a:accent6>
      <a:hlink>
        <a:srgbClr val="BD374A"/>
      </a:hlink>
      <a:folHlink>
        <a:srgbClr val="BFBFBF"/>
      </a:folHlink>
    </a:clrScheme>
    <a:fontScheme name="usfa2p5x">
      <a:majorFont>
        <a:latin typeface="Myriad Pro"/>
        <a:ea typeface="方正兰亭准黑简体"/>
        <a:cs typeface=""/>
      </a:majorFont>
      <a:minorFont>
        <a:latin typeface="Myriad Pro"/>
        <a:ea typeface="方正兰亭准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smtClean="0">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自定义设计方案">
  <a:themeElements>
    <a:clrScheme name="mindray">
      <a:dk1>
        <a:srgbClr val="1F1F1F"/>
      </a:dk1>
      <a:lt1>
        <a:srgbClr val="FFFFFF"/>
      </a:lt1>
      <a:dk2>
        <a:srgbClr val="2F2F2F"/>
      </a:dk2>
      <a:lt2>
        <a:srgbClr val="D8D8D8"/>
      </a:lt2>
      <a:accent1>
        <a:srgbClr val="C7000B"/>
      </a:accent1>
      <a:accent2>
        <a:srgbClr val="900000"/>
      </a:accent2>
      <a:accent3>
        <a:srgbClr val="5F5F5F"/>
      </a:accent3>
      <a:accent4>
        <a:srgbClr val="B2B2B2"/>
      </a:accent4>
      <a:accent5>
        <a:srgbClr val="CBCBCB"/>
      </a:accent5>
      <a:accent6>
        <a:srgbClr val="FFFFFF"/>
      </a:accent6>
      <a:hlink>
        <a:srgbClr val="FFFFFF"/>
      </a:hlink>
      <a:folHlink>
        <a:srgbClr val="FFFFFF"/>
      </a:folHlink>
    </a:clrScheme>
    <a:fontScheme name="feyue1z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a:spAutoFit/>
      </a:bodyPr>
      <a:lstStyle>
        <a:defPPr algn="l">
          <a:defRPr sz="1400" b="1" dirty="0">
            <a:latin typeface="微软雅黑" panose="020B0503020204020204" pitchFamily="34" charset="-122"/>
            <a:ea typeface="微软雅黑" panose="020B0503020204020204" pitchFamily="34" charset="-122"/>
          </a:defRPr>
        </a:defPPr>
      </a:lstStyle>
    </a:tx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12142</TotalTime>
  <Words>1117</Words>
  <Application>Microsoft Office PowerPoint</Application>
  <PresentationFormat>宽屏</PresentationFormat>
  <Paragraphs>152</Paragraphs>
  <Slides>10</Slides>
  <Notes>9</Notes>
  <HiddenSlides>0</HiddenSlides>
  <MMClips>0</MMClips>
  <ScaleCrop>false</ScaleCrop>
  <HeadingPairs>
    <vt:vector size="6" baseType="variant">
      <vt:variant>
        <vt:lpstr>已用的字体</vt:lpstr>
      </vt:variant>
      <vt:variant>
        <vt:i4>13</vt:i4>
      </vt:variant>
      <vt:variant>
        <vt:lpstr>主题</vt:lpstr>
      </vt:variant>
      <vt:variant>
        <vt:i4>8</vt:i4>
      </vt:variant>
      <vt:variant>
        <vt:lpstr>幻灯片标题</vt:lpstr>
      </vt:variant>
      <vt:variant>
        <vt:i4>10</vt:i4>
      </vt:variant>
    </vt:vector>
  </HeadingPairs>
  <TitlesOfParts>
    <vt:vector size="31" baseType="lpstr">
      <vt:lpstr>Alibaba PuHuiTi</vt:lpstr>
      <vt:lpstr>Alibaba PuHuiTi M</vt:lpstr>
      <vt:lpstr>Myriad Pro</vt:lpstr>
      <vt:lpstr>Noto Sans SC</vt:lpstr>
      <vt:lpstr>阿里巴巴普惠体 R</vt:lpstr>
      <vt:lpstr>等线</vt:lpstr>
      <vt:lpstr>等线 Light</vt:lpstr>
      <vt:lpstr>方正兰亭黑6_GBK</vt:lpstr>
      <vt:lpstr>宋体</vt:lpstr>
      <vt:lpstr>微软雅黑</vt:lpstr>
      <vt:lpstr>Arial</vt:lpstr>
      <vt:lpstr>Calibri</vt:lpstr>
      <vt:lpstr>Wingdings</vt:lpstr>
      <vt:lpstr>Office 主题​​</vt:lpstr>
      <vt:lpstr>11_自定义设计方案</vt:lpstr>
      <vt:lpstr>2_自定义设计方案</vt:lpstr>
      <vt:lpstr>WPS</vt:lpstr>
      <vt:lpstr>8_WPS</vt:lpstr>
      <vt:lpstr>自定义设计方案</vt:lpstr>
      <vt:lpstr>5_自定义设计方案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曹锡亮 Cao Xiliang</dc:creator>
  <cp:lastModifiedBy>张刚 Zhang Gang</cp:lastModifiedBy>
  <cp:revision>1210</cp:revision>
  <dcterms:created xsi:type="dcterms:W3CDTF">2025-07-04T13:18:22Z</dcterms:created>
  <dcterms:modified xsi:type="dcterms:W3CDTF">2026-04-14T03:15:09Z</dcterms:modified>
</cp:coreProperties>
</file>